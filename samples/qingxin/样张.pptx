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运维成本</c:v>
                </c:pt>
              </c:strCache>
            </c:strRef>
          </c:tx>
          <c:spPr>
            <a:solidFill>
              <a:srgbClr val="D5DEE8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5DE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5DE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5DE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5DE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2350</c:v>
                </c:pt>
                <c:pt idx="1">
                  <c:v>2210</c:v>
                </c:pt>
                <c:pt idx="2">
                  <c:v>1960</c:v>
                </c:pt>
                <c:pt idx="3">
                  <c:v>1660</c:v>
                </c:pt>
                <c:pt idx="4">
                  <c:v>1280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9F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B8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B82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3175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470" y="-2190720"/>
            <a:ext cx="4953030" cy="49530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0250" y="4381530"/>
            <a:ext cx="4572000" cy="457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762470"/>
            <a:ext cx="3047970" cy="304797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619220" y="1428750"/>
            <a:ext cx="247620" cy="247620"/>
          </a:xfrm>
          <a:prstGeom prst="ellipse">
            <a:avLst/>
          </a:prstGeom>
          <a:solidFill>
            <a:srgbClr val="FF9F2E"/>
          </a:solidFill>
          <a:ln/>
        </p:spPr>
      </p:sp>
      <p:sp>
        <p:nvSpPr>
          <p:cNvPr id="6" name="Shape 1"/>
          <p:cNvSpPr/>
          <p:nvPr/>
        </p:nvSpPr>
        <p:spPr>
          <a:xfrm rot="1080000">
            <a:off x="10096530" y="4476720"/>
            <a:ext cx="323880" cy="323880"/>
          </a:xfrm>
          <a:prstGeom prst="roundRect">
            <a:avLst>
              <a:gd name="adj" fmla="val 26482"/>
            </a:avLst>
          </a:prstGeom>
          <a:solidFill>
            <a:srgbClr val="5B7CFF"/>
          </a:solidFill>
          <a:ln/>
        </p:spPr>
      </p:sp>
      <p:sp>
        <p:nvSpPr>
          <p:cNvPr id="7" name="Shape 2"/>
          <p:cNvSpPr/>
          <p:nvPr/>
        </p:nvSpPr>
        <p:spPr>
          <a:xfrm>
            <a:off x="9277320" y="1619220"/>
            <a:ext cx="685800" cy="590520"/>
          </a:xfrm>
          <a:custGeom>
            <a:avLst/>
            <a:gdLst/>
            <a:ahLst/>
            <a:cxnLst/>
            <a:rect l="l" t="t" r="r" b="b"/>
            <a:pathLst>
              <a:path w="685800" h="590520">
                <a:moveTo>
                  <a:pt x="342900" y="0"/>
                </a:moveTo>
                <a:lnTo>
                  <a:pt x="685800" y="590520"/>
                </a:lnTo>
                <a:lnTo>
                  <a:pt x="0" y="590520"/>
                </a:lnTo>
                <a:close/>
              </a:path>
            </a:pathLst>
          </a:custGeom>
          <a:solidFill>
            <a:srgbClr val="FF6B8A"/>
          </a:solidFill>
          <a:ln/>
        </p:spPr>
      </p:sp>
      <p:sp>
        <p:nvSpPr>
          <p:cNvPr id="8" name="Shape 3"/>
          <p:cNvSpPr/>
          <p:nvPr/>
        </p:nvSpPr>
        <p:spPr>
          <a:xfrm>
            <a:off x="2286000" y="4953030"/>
            <a:ext cx="133320" cy="133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Shape 4"/>
          <p:cNvSpPr/>
          <p:nvPr/>
        </p:nvSpPr>
        <p:spPr>
          <a:xfrm>
            <a:off x="10953780" y="1333470"/>
            <a:ext cx="571500" cy="571500"/>
          </a:xfrm>
          <a:prstGeom prst="ellipse">
            <a:avLst/>
          </a:prstGeom>
          <a:ln w="50800">
            <a:solidFill>
              <a:srgbClr val="14B8A6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390845" y="1809780"/>
            <a:ext cx="1410188" cy="342900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/>
        </p:spPr>
      </p:sp>
      <p:sp>
        <p:nvSpPr>
          <p:cNvPr id="11" name="Text 6"/>
          <p:cNvSpPr/>
          <p:nvPr/>
        </p:nvSpPr>
        <p:spPr>
          <a:xfrm>
            <a:off x="5390845" y="1809780"/>
            <a:ext cx="1410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2026年10月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524030" y="2381280"/>
            <a:ext cx="9144000" cy="152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5000" dirty="0"/>
          </a:p>
        </p:txBody>
      </p:sp>
      <p:sp>
        <p:nvSpPr>
          <p:cNvPr id="13" name="Text 8"/>
          <p:cNvSpPr/>
          <p:nvPr/>
        </p:nvSpPr>
        <p:spPr>
          <a:xfrm>
            <a:off x="1904970" y="4000500"/>
            <a:ext cx="8382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以数据驱动管理提效，推动业务全面上云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904970" y="5333970"/>
            <a:ext cx="8382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  ·  汇报人：张三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20" y="-1333470"/>
            <a:ext cx="3238530" cy="3238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523878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953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85800" y="1066830"/>
            <a:ext cx="419070" cy="76170"/>
          </a:xfrm>
          <a:prstGeom prst="roundRect">
            <a:avLst>
              <a:gd name="adj" fmla="val 50060"/>
            </a:avLst>
          </a:prstGeom>
          <a:solidFill>
            <a:srgbClr val="14B8A6"/>
          </a:solidFill>
          <a:ln/>
        </p:spPr>
      </p:sp>
      <p:sp>
        <p:nvSpPr>
          <p:cNvPr id="6" name="Shape 2"/>
          <p:cNvSpPr/>
          <p:nvPr/>
        </p:nvSpPr>
        <p:spPr>
          <a:xfrm>
            <a:off x="1181130" y="1066830"/>
            <a:ext cx="114300" cy="76170"/>
          </a:xfrm>
          <a:prstGeom prst="roundRect">
            <a:avLst>
              <a:gd name="adj" fmla="val 50060"/>
            </a:avLst>
          </a:prstGeom>
          <a:solidFill>
            <a:srgbClr val="FF9F2E"/>
          </a:solidFill>
          <a:ln/>
        </p:spPr>
      </p:sp>
      <p:sp>
        <p:nvSpPr>
          <p:cNvPr id="7" name="Shape 3"/>
          <p:cNvSpPr/>
          <p:nvPr/>
        </p:nvSpPr>
        <p:spPr>
          <a:xfrm>
            <a:off x="1371600" y="1066830"/>
            <a:ext cx="76170" cy="76170"/>
          </a:xfrm>
          <a:prstGeom prst="roundRect">
            <a:avLst>
              <a:gd name="adj" fmla="val 50060"/>
            </a:avLst>
          </a:prstGeom>
          <a:solidFill>
            <a:srgbClr val="FF6B8A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2609880"/>
            <a:ext cx="5295930" cy="2476470"/>
          </a:xfrm>
          <a:prstGeom prst="roundRect">
            <a:avLst>
              <a:gd name="adj" fmla="val 7691"/>
            </a:avLst>
          </a:prstGeom>
          <a:solidFill>
            <a:srgbClr val="E3F7F4"/>
          </a:solidFill>
          <a:ln/>
        </p:spPr>
      </p:sp>
      <p:sp>
        <p:nvSpPr>
          <p:cNvPr id="9" name="Text 5"/>
          <p:cNvSpPr/>
          <p:nvPr/>
        </p:nvSpPr>
        <p:spPr>
          <a:xfrm>
            <a:off x="952530" y="283848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952530" y="3962370"/>
            <a:ext cx="476247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52530" y="4610130"/>
            <a:ext cx="476247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10330" y="2609880"/>
            <a:ext cx="5295930" cy="2476470"/>
          </a:xfrm>
          <a:prstGeom prst="roundRect">
            <a:avLst>
              <a:gd name="adj" fmla="val 7691"/>
            </a:avLst>
          </a:prstGeom>
          <a:solidFill>
            <a:srgbClr val="FFF1DE"/>
          </a:solidFill>
          <a:ln/>
        </p:spPr>
      </p:sp>
      <p:sp>
        <p:nvSpPr>
          <p:cNvPr id="13" name="Text 9"/>
          <p:cNvSpPr/>
          <p:nvPr/>
        </p:nvSpPr>
        <p:spPr>
          <a:xfrm>
            <a:off x="6476970" y="283848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9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6476970" y="3962370"/>
            <a:ext cx="476247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476970" y="4610130"/>
            <a:ext cx="476247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从「能用」走向「好用」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1087100" y="6419820"/>
            <a:ext cx="419070" cy="2286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</p:sp>
      <p:sp>
        <p:nvSpPr>
          <p:cNvPr id="17" name="Text 13"/>
          <p:cNvSpPr/>
          <p:nvPr/>
        </p:nvSpPr>
        <p:spPr>
          <a:xfrm>
            <a:off x="11087100" y="6419820"/>
            <a:ext cx="419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" y="64579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E3F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70" y="571500"/>
            <a:ext cx="5715000" cy="571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19220" y="2000250"/>
            <a:ext cx="2857500" cy="28575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2"/>
          <p:cNvSpPr/>
          <p:nvPr/>
        </p:nvSpPr>
        <p:spPr>
          <a:xfrm>
            <a:off x="1619220" y="2000250"/>
            <a:ext cx="285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6" name="Shape 3"/>
          <p:cNvSpPr/>
          <p:nvPr/>
        </p:nvSpPr>
        <p:spPr>
          <a:xfrm>
            <a:off x="4095780" y="1809780"/>
            <a:ext cx="381030" cy="38103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524530" y="2667030"/>
            <a:ext cx="3810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24530" y="2971800"/>
            <a:ext cx="5981730" cy="104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524530" y="4095780"/>
            <a:ext cx="59817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20" y="-1333470"/>
            <a:ext cx="3238530" cy="3238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523878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953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四项核心指标全部超额完成年度目标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85800" y="1066830"/>
            <a:ext cx="419070" cy="76170"/>
          </a:xfrm>
          <a:prstGeom prst="roundRect">
            <a:avLst>
              <a:gd name="adj" fmla="val 50060"/>
            </a:avLst>
          </a:prstGeom>
          <a:solidFill>
            <a:srgbClr val="14B8A6"/>
          </a:solidFill>
          <a:ln/>
        </p:spPr>
      </p:sp>
      <p:sp>
        <p:nvSpPr>
          <p:cNvPr id="6" name="Shape 2"/>
          <p:cNvSpPr/>
          <p:nvPr/>
        </p:nvSpPr>
        <p:spPr>
          <a:xfrm>
            <a:off x="1181130" y="1066830"/>
            <a:ext cx="114300" cy="76170"/>
          </a:xfrm>
          <a:prstGeom prst="roundRect">
            <a:avLst>
              <a:gd name="adj" fmla="val 50060"/>
            </a:avLst>
          </a:prstGeom>
          <a:solidFill>
            <a:srgbClr val="FF9F2E"/>
          </a:solidFill>
          <a:ln/>
        </p:spPr>
      </p:sp>
      <p:sp>
        <p:nvSpPr>
          <p:cNvPr id="7" name="Shape 3"/>
          <p:cNvSpPr/>
          <p:nvPr/>
        </p:nvSpPr>
        <p:spPr>
          <a:xfrm>
            <a:off x="1371600" y="1066830"/>
            <a:ext cx="76170" cy="76170"/>
          </a:xfrm>
          <a:prstGeom prst="roundRect">
            <a:avLst>
              <a:gd name="adj" fmla="val 50060"/>
            </a:avLst>
          </a:prstGeom>
          <a:solidFill>
            <a:srgbClr val="FF6B8A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2419320"/>
            <a:ext cx="2562240" cy="2857500"/>
          </a:xfrm>
          <a:prstGeom prst="roundRect">
            <a:avLst>
              <a:gd name="adj" fmla="val 8922"/>
            </a:avLst>
          </a:prstGeom>
          <a:solidFill>
            <a:srgbClr val="E3F7F4"/>
          </a:solidFill>
          <a:ln/>
        </p:spPr>
      </p:sp>
      <p:sp>
        <p:nvSpPr>
          <p:cNvPr id="9" name="Shape 5"/>
          <p:cNvSpPr/>
          <p:nvPr/>
        </p:nvSpPr>
        <p:spPr>
          <a:xfrm>
            <a:off x="2581260" y="2286000"/>
            <a:ext cx="533370" cy="533370"/>
          </a:xfrm>
          <a:prstGeom prst="ellipse">
            <a:avLst/>
          </a:prstGeom>
          <a:solidFill>
            <a:srgbClr val="14B8A6">
              <a:alpha val="9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933420" y="3086100"/>
            <a:ext cx="2066910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2141250" y="3367735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33420" y="3813780"/>
            <a:ext cx="20669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业务系统上云率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933420" y="4156680"/>
            <a:ext cx="2066910" cy="929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年初目标 90%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438510" y="2419320"/>
            <a:ext cx="2562240" cy="2857500"/>
          </a:xfrm>
          <a:prstGeom prst="roundRect">
            <a:avLst>
              <a:gd name="adj" fmla="val 8922"/>
            </a:avLst>
          </a:prstGeom>
          <a:solidFill>
            <a:srgbClr val="FFF1DE"/>
          </a:solidFill>
          <a:ln/>
        </p:spPr>
      </p:sp>
      <p:sp>
        <p:nvSpPr>
          <p:cNvPr id="15" name="Shape 11"/>
          <p:cNvSpPr/>
          <p:nvPr/>
        </p:nvSpPr>
        <p:spPr>
          <a:xfrm>
            <a:off x="5333970" y="2286000"/>
            <a:ext cx="533370" cy="533370"/>
          </a:xfrm>
          <a:prstGeom prst="ellipse">
            <a:avLst/>
          </a:prstGeom>
          <a:solidFill>
            <a:srgbClr val="FF9F2E">
              <a:alpha val="9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3686221" y="3086100"/>
            <a:ext cx="2066910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9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1,280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5219487" y="3367735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9F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万元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686221" y="3813780"/>
            <a:ext cx="20669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年度节约运维成本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686221" y="4156680"/>
            <a:ext cx="2066910" cy="929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同比下降 23%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191220" y="2419320"/>
            <a:ext cx="2562240" cy="2857500"/>
          </a:xfrm>
          <a:prstGeom prst="roundRect">
            <a:avLst>
              <a:gd name="adj" fmla="val 8922"/>
            </a:avLst>
          </a:prstGeom>
          <a:solidFill>
            <a:srgbClr val="FFE8EE"/>
          </a:solidFill>
          <a:ln/>
        </p:spPr>
      </p:sp>
      <p:sp>
        <p:nvSpPr>
          <p:cNvPr id="21" name="Shape 17"/>
          <p:cNvSpPr/>
          <p:nvPr/>
        </p:nvSpPr>
        <p:spPr>
          <a:xfrm>
            <a:off x="8086771" y="2286000"/>
            <a:ext cx="533370" cy="533370"/>
          </a:xfrm>
          <a:prstGeom prst="ellipse">
            <a:avLst/>
          </a:prstGeom>
          <a:solidFill>
            <a:srgbClr val="FF6B8A">
              <a:alpha val="9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6438930" y="3086100"/>
            <a:ext cx="2066910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4400" dirty="0"/>
          </a:p>
        </p:txBody>
      </p:sp>
      <p:sp>
        <p:nvSpPr>
          <p:cNvPr id="23" name="Text 19"/>
          <p:cNvSpPr/>
          <p:nvPr/>
        </p:nvSpPr>
        <p:spPr>
          <a:xfrm>
            <a:off x="7146950" y="3367735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6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438930" y="3813780"/>
            <a:ext cx="20669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上线数字化场景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6438930" y="4156680"/>
            <a:ext cx="2066910" cy="929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9 个业务部门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944021" y="2419320"/>
            <a:ext cx="2562240" cy="2857500"/>
          </a:xfrm>
          <a:prstGeom prst="roundRect">
            <a:avLst>
              <a:gd name="adj" fmla="val 8922"/>
            </a:avLst>
          </a:prstGeom>
          <a:solidFill>
            <a:srgbClr val="E8EDFF"/>
          </a:solidFill>
          <a:ln/>
        </p:spPr>
      </p:sp>
      <p:sp>
        <p:nvSpPr>
          <p:cNvPr id="27" name="Shape 23"/>
          <p:cNvSpPr/>
          <p:nvPr/>
        </p:nvSpPr>
        <p:spPr>
          <a:xfrm>
            <a:off x="10839480" y="2286000"/>
            <a:ext cx="533370" cy="533370"/>
          </a:xfrm>
          <a:prstGeom prst="ellipse">
            <a:avLst/>
          </a:prstGeom>
          <a:solidFill>
            <a:srgbClr val="5B7CFF">
              <a:alpha val="9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9191640" y="3086100"/>
            <a:ext cx="2066910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5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4400" dirty="0"/>
          </a:p>
        </p:txBody>
      </p:sp>
      <p:sp>
        <p:nvSpPr>
          <p:cNvPr id="29" name="Text 25"/>
          <p:cNvSpPr/>
          <p:nvPr/>
        </p:nvSpPr>
        <p:spPr>
          <a:xfrm>
            <a:off x="10074036" y="3367735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B7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9191640" y="3813780"/>
            <a:ext cx="20669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审批平均时长</a:t>
            </a:r>
            <a:endParaRPr lang="en-US" sz="1700" dirty="0"/>
          </a:p>
        </p:txBody>
      </p:sp>
      <p:sp>
        <p:nvSpPr>
          <p:cNvPr id="31" name="Text 27"/>
          <p:cNvSpPr/>
          <p:nvPr/>
        </p:nvSpPr>
        <p:spPr>
          <a:xfrm>
            <a:off x="9191640" y="4156680"/>
            <a:ext cx="2066910" cy="929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去年同期 11.2 天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11087100" y="6419820"/>
            <a:ext cx="419070" cy="2286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</p:sp>
      <p:sp>
        <p:nvSpPr>
          <p:cNvPr id="33" name="Text 29"/>
          <p:cNvSpPr/>
          <p:nvPr/>
        </p:nvSpPr>
        <p:spPr>
          <a:xfrm>
            <a:off x="11087100" y="6419820"/>
            <a:ext cx="419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85800" y="64579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20" y="-1333470"/>
            <a:ext cx="3238530" cy="3238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523878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953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运维成本连续三年下降，今年降幅最大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85800" y="1066830"/>
            <a:ext cx="419070" cy="76170"/>
          </a:xfrm>
          <a:prstGeom prst="roundRect">
            <a:avLst>
              <a:gd name="adj" fmla="val 50060"/>
            </a:avLst>
          </a:prstGeom>
          <a:solidFill>
            <a:srgbClr val="14B8A6"/>
          </a:solidFill>
          <a:ln/>
        </p:spPr>
      </p:sp>
      <p:sp>
        <p:nvSpPr>
          <p:cNvPr id="6" name="Shape 2"/>
          <p:cNvSpPr/>
          <p:nvPr/>
        </p:nvSpPr>
        <p:spPr>
          <a:xfrm>
            <a:off x="1181130" y="1066830"/>
            <a:ext cx="114300" cy="76170"/>
          </a:xfrm>
          <a:prstGeom prst="roundRect">
            <a:avLst>
              <a:gd name="adj" fmla="val 50060"/>
            </a:avLst>
          </a:prstGeom>
          <a:solidFill>
            <a:srgbClr val="FF9F2E"/>
          </a:solidFill>
          <a:ln/>
        </p:spPr>
      </p:sp>
      <p:sp>
        <p:nvSpPr>
          <p:cNvPr id="7" name="Shape 3"/>
          <p:cNvSpPr/>
          <p:nvPr/>
        </p:nvSpPr>
        <p:spPr>
          <a:xfrm>
            <a:off x="1371600" y="1066830"/>
            <a:ext cx="76170" cy="76170"/>
          </a:xfrm>
          <a:prstGeom prst="roundRect">
            <a:avLst>
              <a:gd name="adj" fmla="val 50060"/>
            </a:avLst>
          </a:prstGeom>
          <a:solidFill>
            <a:srgbClr val="FF6B8A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685800" y="1466880"/>
          <a:ext cx="6206490" cy="45529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685800" y="603888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单位：万元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7273320" y="1543050"/>
            <a:ext cx="38130" cy="133347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6"/>
          <p:cNvSpPr/>
          <p:nvPr/>
        </p:nvSpPr>
        <p:spPr>
          <a:xfrm>
            <a:off x="7482810" y="1504920"/>
            <a:ext cx="4023360" cy="140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年运维成本 1280 万元，比 2022 年少了近一半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7273320" y="3105120"/>
            <a:ext cx="38130" cy="133347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3" name="Text 8"/>
          <p:cNvSpPr/>
          <p:nvPr/>
        </p:nvSpPr>
        <p:spPr>
          <a:xfrm>
            <a:off x="7482810" y="3067080"/>
            <a:ext cx="4023360" cy="140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主要来自服务器整合和老旧系统下线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273320" y="4667280"/>
            <a:ext cx="38130" cy="133347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5" name="Text 10"/>
          <p:cNvSpPr/>
          <p:nvPr/>
        </p:nvSpPr>
        <p:spPr>
          <a:xfrm>
            <a:off x="7482810" y="4629150"/>
            <a:ext cx="4023360" cy="140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明年预计还能再降 10% 左右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11087100" y="6419820"/>
            <a:ext cx="419070" cy="2286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</p:sp>
      <p:sp>
        <p:nvSpPr>
          <p:cNvPr id="17" name="Text 12"/>
          <p:cNvSpPr/>
          <p:nvPr/>
        </p:nvSpPr>
        <p:spPr>
          <a:xfrm>
            <a:off x="11087100" y="6419820"/>
            <a:ext cx="419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85800" y="64579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20" y="-1333470"/>
            <a:ext cx="3238530" cy="3238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523878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953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今年做对了四件事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85800" y="1066830"/>
            <a:ext cx="419070" cy="76170"/>
          </a:xfrm>
          <a:prstGeom prst="roundRect">
            <a:avLst>
              <a:gd name="adj" fmla="val 50060"/>
            </a:avLst>
          </a:prstGeom>
          <a:solidFill>
            <a:srgbClr val="14B8A6"/>
          </a:solidFill>
          <a:ln/>
        </p:spPr>
      </p:sp>
      <p:sp>
        <p:nvSpPr>
          <p:cNvPr id="6" name="Shape 2"/>
          <p:cNvSpPr/>
          <p:nvPr/>
        </p:nvSpPr>
        <p:spPr>
          <a:xfrm>
            <a:off x="1181130" y="1066830"/>
            <a:ext cx="114300" cy="76170"/>
          </a:xfrm>
          <a:prstGeom prst="roundRect">
            <a:avLst>
              <a:gd name="adj" fmla="val 50060"/>
            </a:avLst>
          </a:prstGeom>
          <a:solidFill>
            <a:srgbClr val="FF9F2E"/>
          </a:solidFill>
          <a:ln/>
        </p:spPr>
      </p:sp>
      <p:sp>
        <p:nvSpPr>
          <p:cNvPr id="7" name="Shape 3"/>
          <p:cNvSpPr/>
          <p:nvPr/>
        </p:nvSpPr>
        <p:spPr>
          <a:xfrm>
            <a:off x="1371600" y="1066830"/>
            <a:ext cx="76170" cy="76170"/>
          </a:xfrm>
          <a:prstGeom prst="roundRect">
            <a:avLst>
              <a:gd name="adj" fmla="val 50060"/>
            </a:avLst>
          </a:prstGeom>
          <a:solidFill>
            <a:srgbClr val="FF6B8A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1469166"/>
            <a:ext cx="5295930" cy="2264694"/>
          </a:xfrm>
          <a:prstGeom prst="roundRect">
            <a:avLst>
              <a:gd name="adj" fmla="val 8410"/>
            </a:avLst>
          </a:prstGeom>
          <a:solidFill>
            <a:srgbClr val="E3F7F4"/>
          </a:solidFill>
          <a:ln/>
        </p:spPr>
      </p:sp>
      <p:sp>
        <p:nvSpPr>
          <p:cNvPr id="9" name="Shape 5"/>
          <p:cNvSpPr/>
          <p:nvPr/>
        </p:nvSpPr>
        <p:spPr>
          <a:xfrm>
            <a:off x="952530" y="1716786"/>
            <a:ext cx="438180" cy="4381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6"/>
          <p:cNvSpPr/>
          <p:nvPr/>
        </p:nvSpPr>
        <p:spPr>
          <a:xfrm>
            <a:off x="952530" y="1716786"/>
            <a:ext cx="43818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52530" y="2231136"/>
            <a:ext cx="476247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先打通数据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52530" y="2640056"/>
            <a:ext cx="4762470" cy="86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建成集团统一数据平台，34 个系统的数据第一次能在一张表里查到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330" y="1469166"/>
            <a:ext cx="5295930" cy="2264694"/>
          </a:xfrm>
          <a:prstGeom prst="roundRect">
            <a:avLst>
              <a:gd name="adj" fmla="val 8410"/>
            </a:avLst>
          </a:prstGeom>
          <a:solidFill>
            <a:srgbClr val="FFF1DE"/>
          </a:solidFill>
          <a:ln/>
        </p:spPr>
      </p:sp>
      <p:sp>
        <p:nvSpPr>
          <p:cNvPr id="14" name="Shape 10"/>
          <p:cNvSpPr/>
          <p:nvPr/>
        </p:nvSpPr>
        <p:spPr>
          <a:xfrm>
            <a:off x="6476970" y="1716786"/>
            <a:ext cx="438180" cy="438180"/>
          </a:xfrm>
          <a:prstGeom prst="ellipse">
            <a:avLst/>
          </a:prstGeom>
          <a:solidFill>
            <a:srgbClr val="FF9F2E"/>
          </a:solidFill>
          <a:ln/>
        </p:spPr>
      </p:sp>
      <p:sp>
        <p:nvSpPr>
          <p:cNvPr id="15" name="Text 11"/>
          <p:cNvSpPr/>
          <p:nvPr/>
        </p:nvSpPr>
        <p:spPr>
          <a:xfrm>
            <a:off x="6476970" y="1716786"/>
            <a:ext cx="43818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76970" y="2231136"/>
            <a:ext cx="476247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小步快跑上场景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476970" y="2640056"/>
            <a:ext cx="4762470" cy="86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每个场景先在一个部门试 30 天，跑通了再推广，失败成本可控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85800" y="3962370"/>
            <a:ext cx="5295930" cy="2264694"/>
          </a:xfrm>
          <a:prstGeom prst="roundRect">
            <a:avLst>
              <a:gd name="adj" fmla="val 8410"/>
            </a:avLst>
          </a:prstGeom>
          <a:solidFill>
            <a:srgbClr val="FFE8EE"/>
          </a:solidFill>
          <a:ln/>
        </p:spPr>
      </p:sp>
      <p:sp>
        <p:nvSpPr>
          <p:cNvPr id="19" name="Shape 15"/>
          <p:cNvSpPr/>
          <p:nvPr/>
        </p:nvSpPr>
        <p:spPr>
          <a:xfrm>
            <a:off x="952530" y="4210080"/>
            <a:ext cx="438180" cy="438180"/>
          </a:xfrm>
          <a:prstGeom prst="ellipse">
            <a:avLst/>
          </a:prstGeom>
          <a:solidFill>
            <a:srgbClr val="FF6B8A"/>
          </a:solidFill>
          <a:ln/>
        </p:spPr>
      </p:sp>
      <p:sp>
        <p:nvSpPr>
          <p:cNvPr id="20" name="Text 16"/>
          <p:cNvSpPr/>
          <p:nvPr/>
        </p:nvSpPr>
        <p:spPr>
          <a:xfrm>
            <a:off x="952530" y="4210080"/>
            <a:ext cx="43818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952530" y="4724430"/>
            <a:ext cx="476247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让业务部门出题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952530" y="5133350"/>
            <a:ext cx="4762470" cy="86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场景需求全部由业务部门提出，信息中心负责实现，避免建了没人用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210330" y="3962370"/>
            <a:ext cx="5295930" cy="2264694"/>
          </a:xfrm>
          <a:prstGeom prst="roundRect">
            <a:avLst>
              <a:gd name="adj" fmla="val 8410"/>
            </a:avLst>
          </a:prstGeom>
          <a:solidFill>
            <a:srgbClr val="E8ED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476970" y="4210080"/>
            <a:ext cx="438180" cy="438180"/>
          </a:xfrm>
          <a:prstGeom prst="ellipse">
            <a:avLst/>
          </a:prstGeom>
          <a:solidFill>
            <a:srgbClr val="5B7CFF"/>
          </a:solidFill>
          <a:ln/>
        </p:spPr>
      </p:sp>
      <p:sp>
        <p:nvSpPr>
          <p:cNvPr id="25" name="Text 21"/>
          <p:cNvSpPr/>
          <p:nvPr/>
        </p:nvSpPr>
        <p:spPr>
          <a:xfrm>
            <a:off x="6476970" y="4210080"/>
            <a:ext cx="43818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6476970" y="4724430"/>
            <a:ext cx="476247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用数字考核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6476970" y="5133350"/>
            <a:ext cx="4762470" cy="86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每个场景上线前先定好衡量指标，季度复盘不达标就下线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11087100" y="6419820"/>
            <a:ext cx="419070" cy="2286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</p:sp>
      <p:sp>
        <p:nvSpPr>
          <p:cNvPr id="29" name="Text 25"/>
          <p:cNvSpPr/>
          <p:nvPr/>
        </p:nvSpPr>
        <p:spPr>
          <a:xfrm>
            <a:off x="11087100" y="6419820"/>
            <a:ext cx="419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85800" y="64579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1D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70" y="571500"/>
            <a:ext cx="5715000" cy="571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19220" y="2000250"/>
            <a:ext cx="2857500" cy="2857500"/>
          </a:xfrm>
          <a:prstGeom prst="ellipse">
            <a:avLst/>
          </a:prstGeom>
          <a:solidFill>
            <a:srgbClr val="FF9F2E"/>
          </a:solidFill>
          <a:ln/>
        </p:spPr>
      </p:sp>
      <p:sp>
        <p:nvSpPr>
          <p:cNvPr id="5" name="Text 2"/>
          <p:cNvSpPr/>
          <p:nvPr/>
        </p:nvSpPr>
        <p:spPr>
          <a:xfrm>
            <a:off x="1619220" y="2000250"/>
            <a:ext cx="285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6" name="Shape 3"/>
          <p:cNvSpPr/>
          <p:nvPr/>
        </p:nvSpPr>
        <p:spPr>
          <a:xfrm>
            <a:off x="4095780" y="1809780"/>
            <a:ext cx="381030" cy="38103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524530" y="2667030"/>
            <a:ext cx="3810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300" kern="0" dirty="0">
                <a:solidFill>
                  <a:srgbClr val="FF9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24530" y="2971800"/>
            <a:ext cx="5981730" cy="104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524530" y="4095780"/>
            <a:ext cx="59817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从「能用」走向「好用」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20" y="-1333470"/>
            <a:ext cx="3238530" cy="3238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523878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953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年分四个阶段推进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85800" y="1066830"/>
            <a:ext cx="419070" cy="76170"/>
          </a:xfrm>
          <a:prstGeom prst="roundRect">
            <a:avLst>
              <a:gd name="adj" fmla="val 50060"/>
            </a:avLst>
          </a:prstGeom>
          <a:solidFill>
            <a:srgbClr val="14B8A6"/>
          </a:solidFill>
          <a:ln/>
        </p:spPr>
      </p:sp>
      <p:sp>
        <p:nvSpPr>
          <p:cNvPr id="6" name="Shape 2"/>
          <p:cNvSpPr/>
          <p:nvPr/>
        </p:nvSpPr>
        <p:spPr>
          <a:xfrm>
            <a:off x="1181130" y="1066830"/>
            <a:ext cx="114300" cy="76170"/>
          </a:xfrm>
          <a:prstGeom prst="roundRect">
            <a:avLst>
              <a:gd name="adj" fmla="val 50060"/>
            </a:avLst>
          </a:prstGeom>
          <a:solidFill>
            <a:srgbClr val="FF9F2E"/>
          </a:solidFill>
          <a:ln/>
        </p:spPr>
      </p:sp>
      <p:sp>
        <p:nvSpPr>
          <p:cNvPr id="7" name="Shape 3"/>
          <p:cNvSpPr/>
          <p:nvPr/>
        </p:nvSpPr>
        <p:spPr>
          <a:xfrm>
            <a:off x="1371600" y="1066830"/>
            <a:ext cx="76170" cy="76170"/>
          </a:xfrm>
          <a:prstGeom prst="roundRect">
            <a:avLst>
              <a:gd name="adj" fmla="val 50060"/>
            </a:avLst>
          </a:prstGeom>
          <a:solidFill>
            <a:srgbClr val="FF6B8A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3467130"/>
            <a:ext cx="10820370" cy="0"/>
          </a:xfrm>
          <a:prstGeom prst="line">
            <a:avLst/>
          </a:prstGeom>
          <a:noFill/>
          <a:ln w="25400">
            <a:solidFill>
              <a:srgbClr val="E4E9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52610" y="3381360"/>
            <a:ext cx="171450" cy="1714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6"/>
          <p:cNvSpPr/>
          <p:nvPr/>
        </p:nvSpPr>
        <p:spPr>
          <a:xfrm>
            <a:off x="761970" y="280035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761970" y="371475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摸底与规划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00100" y="432438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梳理全部业务流程，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确定第二批场景清单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657771" y="3381360"/>
            <a:ext cx="171450" cy="1714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0"/>
          <p:cNvSpPr/>
          <p:nvPr/>
        </p:nvSpPr>
        <p:spPr>
          <a:xfrm>
            <a:off x="3467130" y="280035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3467130" y="371475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平台升级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505170" y="432438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数据平台扩容，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接入生产一线设备数据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7362840" y="3381360"/>
            <a:ext cx="171450" cy="1714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4"/>
          <p:cNvSpPr/>
          <p:nvPr/>
        </p:nvSpPr>
        <p:spPr>
          <a:xfrm>
            <a:off x="6172200" y="280035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300" dirty="0"/>
          </a:p>
        </p:txBody>
      </p:sp>
      <p:sp>
        <p:nvSpPr>
          <p:cNvPr id="19" name="Text 15"/>
          <p:cNvSpPr/>
          <p:nvPr/>
        </p:nvSpPr>
        <p:spPr>
          <a:xfrm>
            <a:off x="6172200" y="371475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智能化试点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210330" y="432438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在财务和采购两个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部门试点 AI 助手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10067910" y="3381360"/>
            <a:ext cx="171450" cy="1714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18"/>
          <p:cNvSpPr/>
          <p:nvPr/>
        </p:nvSpPr>
        <p:spPr>
          <a:xfrm>
            <a:off x="8877270" y="280035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8877270" y="371475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915400" y="432438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试点成功的场景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推广到全集团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11087100" y="6419820"/>
            <a:ext cx="419070" cy="2286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</p:sp>
      <p:sp>
        <p:nvSpPr>
          <p:cNvPr id="26" name="Text 22"/>
          <p:cNvSpPr/>
          <p:nvPr/>
        </p:nvSpPr>
        <p:spPr>
          <a:xfrm>
            <a:off x="11087100" y="6419820"/>
            <a:ext cx="419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85800" y="64579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20" y="-1333470"/>
            <a:ext cx="3238530" cy="3238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523878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953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新场景上线统一走五步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85800" y="1066830"/>
            <a:ext cx="419070" cy="76170"/>
          </a:xfrm>
          <a:prstGeom prst="roundRect">
            <a:avLst>
              <a:gd name="adj" fmla="val 50060"/>
            </a:avLst>
          </a:prstGeom>
          <a:solidFill>
            <a:srgbClr val="14B8A6"/>
          </a:solidFill>
          <a:ln/>
        </p:spPr>
      </p:sp>
      <p:sp>
        <p:nvSpPr>
          <p:cNvPr id="6" name="Shape 2"/>
          <p:cNvSpPr/>
          <p:nvPr/>
        </p:nvSpPr>
        <p:spPr>
          <a:xfrm>
            <a:off x="1181130" y="1066830"/>
            <a:ext cx="114300" cy="76170"/>
          </a:xfrm>
          <a:prstGeom prst="roundRect">
            <a:avLst>
              <a:gd name="adj" fmla="val 50060"/>
            </a:avLst>
          </a:prstGeom>
          <a:solidFill>
            <a:srgbClr val="FF9F2E"/>
          </a:solidFill>
          <a:ln/>
        </p:spPr>
      </p:sp>
      <p:sp>
        <p:nvSpPr>
          <p:cNvPr id="7" name="Shape 3"/>
          <p:cNvSpPr/>
          <p:nvPr/>
        </p:nvSpPr>
        <p:spPr>
          <a:xfrm>
            <a:off x="1371600" y="1066830"/>
            <a:ext cx="76170" cy="76170"/>
          </a:xfrm>
          <a:prstGeom prst="roundRect">
            <a:avLst>
              <a:gd name="adj" fmla="val 50060"/>
            </a:avLst>
          </a:prstGeom>
          <a:solidFill>
            <a:srgbClr val="FF6B8A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241932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0" y="342900"/>
                </a:lnTo>
                <a:close/>
              </a:path>
            </a:pathLst>
          </a:custGeom>
          <a:solidFill>
            <a:srgbClr val="F4F7FA"/>
          </a:solidFill>
          <a:ln/>
        </p:spPr>
      </p:sp>
      <p:sp>
        <p:nvSpPr>
          <p:cNvPr id="9" name="Text 5"/>
          <p:cNvSpPr/>
          <p:nvPr/>
        </p:nvSpPr>
        <p:spPr>
          <a:xfrm>
            <a:off x="895380" y="255273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业务出题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85800" y="333372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" y="363858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业务部门写清楚要解决什么问题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2903220" y="241932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F4F7FA"/>
          </a:solidFill>
          <a:ln/>
        </p:spPr>
      </p:sp>
      <p:sp>
        <p:nvSpPr>
          <p:cNvPr id="13" name="Text 9"/>
          <p:cNvSpPr/>
          <p:nvPr/>
        </p:nvSpPr>
        <p:spPr>
          <a:xfrm>
            <a:off x="3112800" y="255273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评估立项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903220" y="333372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03220" y="363858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信息中心评估投入产出，两周内答复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120640" y="241932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F4F7FA"/>
          </a:solidFill>
          <a:ln/>
        </p:spPr>
      </p:sp>
      <p:sp>
        <p:nvSpPr>
          <p:cNvPr id="17" name="Text 13"/>
          <p:cNvSpPr/>
          <p:nvPr/>
        </p:nvSpPr>
        <p:spPr>
          <a:xfrm>
            <a:off x="5330220" y="255273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 30 天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120640" y="333372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120640" y="363858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在一个部门小范围试用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7338060" y="241932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F4F7FA"/>
          </a:solidFill>
          <a:ln/>
        </p:spPr>
      </p:sp>
      <p:sp>
        <p:nvSpPr>
          <p:cNvPr id="21" name="Text 17"/>
          <p:cNvSpPr/>
          <p:nvPr/>
        </p:nvSpPr>
        <p:spPr>
          <a:xfrm>
            <a:off x="7547640" y="255273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复盘定夺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338060" y="333372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338060" y="363858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看指标决定推广、调整还是下线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555480" y="241932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5" name="Text 21"/>
          <p:cNvSpPr/>
          <p:nvPr/>
        </p:nvSpPr>
        <p:spPr>
          <a:xfrm>
            <a:off x="9765060" y="255273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9555480" y="333372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9555480" y="363858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形成操作手册，全集团铺开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11087100" y="6419820"/>
            <a:ext cx="419070" cy="2286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</p:sp>
      <p:sp>
        <p:nvSpPr>
          <p:cNvPr id="29" name="Text 25"/>
          <p:cNvSpPr/>
          <p:nvPr/>
        </p:nvSpPr>
        <p:spPr>
          <a:xfrm>
            <a:off x="11087100" y="6419820"/>
            <a:ext cx="419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85800" y="64579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20" y="-1333470"/>
            <a:ext cx="3238530" cy="3238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523878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953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从「能用」到「好用」，要补三块短板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85800" y="1066830"/>
            <a:ext cx="419070" cy="76170"/>
          </a:xfrm>
          <a:prstGeom prst="roundRect">
            <a:avLst>
              <a:gd name="adj" fmla="val 50060"/>
            </a:avLst>
          </a:prstGeom>
          <a:solidFill>
            <a:srgbClr val="14B8A6"/>
          </a:solidFill>
          <a:ln/>
        </p:spPr>
      </p:sp>
      <p:sp>
        <p:nvSpPr>
          <p:cNvPr id="6" name="Shape 2"/>
          <p:cNvSpPr/>
          <p:nvPr/>
        </p:nvSpPr>
        <p:spPr>
          <a:xfrm>
            <a:off x="1181130" y="1066830"/>
            <a:ext cx="114300" cy="76170"/>
          </a:xfrm>
          <a:prstGeom prst="roundRect">
            <a:avLst>
              <a:gd name="adj" fmla="val 50060"/>
            </a:avLst>
          </a:prstGeom>
          <a:solidFill>
            <a:srgbClr val="FF9F2E"/>
          </a:solidFill>
          <a:ln/>
        </p:spPr>
      </p:sp>
      <p:sp>
        <p:nvSpPr>
          <p:cNvPr id="7" name="Shape 3"/>
          <p:cNvSpPr/>
          <p:nvPr/>
        </p:nvSpPr>
        <p:spPr>
          <a:xfrm>
            <a:off x="1371600" y="1066830"/>
            <a:ext cx="76170" cy="76170"/>
          </a:xfrm>
          <a:prstGeom prst="roundRect">
            <a:avLst>
              <a:gd name="adj" fmla="val 50060"/>
            </a:avLst>
          </a:prstGeom>
          <a:solidFill>
            <a:srgbClr val="FF6B8A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2305020"/>
            <a:ext cx="5219670" cy="3086100"/>
          </a:xfrm>
          <a:prstGeom prst="roundRect">
            <a:avLst>
              <a:gd name="adj" fmla="val 1852"/>
            </a:avLst>
          </a:prstGeom>
          <a:solidFill>
            <a:srgbClr val="F4F7FA">
              <a:alpha val="6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85800" y="2305020"/>
            <a:ext cx="5219670" cy="533370"/>
          </a:xfrm>
          <a:prstGeom prst="roundRect">
            <a:avLst>
              <a:gd name="adj" fmla="val 10715"/>
            </a:avLst>
          </a:prstGeom>
          <a:solidFill>
            <a:srgbClr val="D5DEE8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2400300"/>
            <a:ext cx="47624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现在：能用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952530" y="3219420"/>
            <a:ext cx="85771" cy="85771"/>
          </a:xfrm>
          <a:prstGeom prst="ellipse">
            <a:avLst/>
          </a:prstGeom>
          <a:solidFill>
            <a:srgbClr val="5D6B82"/>
          </a:solidFill>
          <a:ln/>
        </p:spPr>
      </p:sp>
      <p:sp>
        <p:nvSpPr>
          <p:cNvPr id="12" name="Text 8"/>
          <p:cNvSpPr/>
          <p:nvPr/>
        </p:nvSpPr>
        <p:spPr>
          <a:xfrm>
            <a:off x="1162020" y="310512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系统上了，但很多人还是习惯线下填表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52530" y="3943350"/>
            <a:ext cx="85771" cy="85771"/>
          </a:xfrm>
          <a:prstGeom prst="ellipse">
            <a:avLst/>
          </a:prstGeom>
          <a:solidFill>
            <a:srgbClr val="5D6B82"/>
          </a:solidFill>
          <a:ln/>
        </p:spPr>
      </p:sp>
      <p:sp>
        <p:nvSpPr>
          <p:cNvPr id="14" name="Text 10"/>
          <p:cNvSpPr/>
          <p:nvPr/>
        </p:nvSpPr>
        <p:spPr>
          <a:xfrm>
            <a:off x="1162020" y="382905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数据能查，但要找信息中心导出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952530" y="4667280"/>
            <a:ext cx="85771" cy="85771"/>
          </a:xfrm>
          <a:prstGeom prst="ellipse">
            <a:avLst/>
          </a:prstGeom>
          <a:solidFill>
            <a:srgbClr val="5D6B82"/>
          </a:solidFill>
          <a:ln/>
        </p:spPr>
      </p:sp>
      <p:sp>
        <p:nvSpPr>
          <p:cNvPr id="16" name="Text 12"/>
          <p:cNvSpPr/>
          <p:nvPr/>
        </p:nvSpPr>
        <p:spPr>
          <a:xfrm>
            <a:off x="1162020" y="455298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每个系统一套账号密码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286500" y="2305020"/>
            <a:ext cx="5219670" cy="3086100"/>
          </a:xfrm>
          <a:prstGeom prst="roundRect">
            <a:avLst>
              <a:gd name="adj" fmla="val 1852"/>
            </a:avLst>
          </a:prstGeom>
          <a:solidFill>
            <a:srgbClr val="F4F7FA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6500" y="2305020"/>
            <a:ext cx="5219670" cy="533370"/>
          </a:xfrm>
          <a:prstGeom prst="roundRect">
            <a:avLst>
              <a:gd name="adj" fmla="val 10715"/>
            </a:avLst>
          </a:prstGeom>
          <a:solidFill>
            <a:srgbClr val="14B8A6"/>
          </a:solidFill>
          <a:ln/>
        </p:spPr>
      </p:sp>
      <p:sp>
        <p:nvSpPr>
          <p:cNvPr id="19" name="Text 15"/>
          <p:cNvSpPr/>
          <p:nvPr/>
        </p:nvSpPr>
        <p:spPr>
          <a:xfrm>
            <a:off x="6515100" y="2400300"/>
            <a:ext cx="47624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明年：好用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553230" y="3219420"/>
            <a:ext cx="85771" cy="85771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7"/>
          <p:cNvSpPr/>
          <p:nvPr/>
        </p:nvSpPr>
        <p:spPr>
          <a:xfrm>
            <a:off x="6762720" y="310512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手机上就能办完 80% 的日常审批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553230" y="3943350"/>
            <a:ext cx="85771" cy="85771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19"/>
          <p:cNvSpPr/>
          <p:nvPr/>
        </p:nvSpPr>
        <p:spPr>
          <a:xfrm>
            <a:off x="6762720" y="382905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业务人员自己拖拽出报表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553230" y="4667280"/>
            <a:ext cx="85771" cy="85771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1"/>
          <p:cNvSpPr/>
          <p:nvPr/>
        </p:nvSpPr>
        <p:spPr>
          <a:xfrm>
            <a:off x="6762720" y="455298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一个账号登录所有系统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11087100" y="6419820"/>
            <a:ext cx="419070" cy="2286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</p:sp>
      <p:sp>
        <p:nvSpPr>
          <p:cNvPr id="27" name="Text 23"/>
          <p:cNvSpPr/>
          <p:nvPr/>
        </p:nvSpPr>
        <p:spPr>
          <a:xfrm>
            <a:off x="11087100" y="6419820"/>
            <a:ext cx="419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85800" y="64579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20" y="-1333470"/>
            <a:ext cx="3238530" cy="3238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523878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953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年重点项目与预算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85800" y="1066830"/>
            <a:ext cx="419070" cy="76170"/>
          </a:xfrm>
          <a:prstGeom prst="roundRect">
            <a:avLst>
              <a:gd name="adj" fmla="val 50060"/>
            </a:avLst>
          </a:prstGeom>
          <a:solidFill>
            <a:srgbClr val="14B8A6"/>
          </a:solidFill>
          <a:ln/>
        </p:spPr>
      </p:sp>
      <p:sp>
        <p:nvSpPr>
          <p:cNvPr id="6" name="Shape 2"/>
          <p:cNvSpPr/>
          <p:nvPr/>
        </p:nvSpPr>
        <p:spPr>
          <a:xfrm>
            <a:off x="1181130" y="1066830"/>
            <a:ext cx="114300" cy="76170"/>
          </a:xfrm>
          <a:prstGeom prst="roundRect">
            <a:avLst>
              <a:gd name="adj" fmla="val 50060"/>
            </a:avLst>
          </a:prstGeom>
          <a:solidFill>
            <a:srgbClr val="FF9F2E"/>
          </a:solidFill>
          <a:ln/>
        </p:spPr>
      </p:sp>
      <p:sp>
        <p:nvSpPr>
          <p:cNvPr id="7" name="Shape 3"/>
          <p:cNvSpPr/>
          <p:nvPr/>
        </p:nvSpPr>
        <p:spPr>
          <a:xfrm>
            <a:off x="1371600" y="1066830"/>
            <a:ext cx="76170" cy="76170"/>
          </a:xfrm>
          <a:prstGeom prst="roundRect">
            <a:avLst>
              <a:gd name="adj" fmla="val 50060"/>
            </a:avLst>
          </a:prstGeom>
          <a:solidFill>
            <a:srgbClr val="FF6B8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09730"/>
          <a:ext cx="10820370" cy="914400"/>
        </p:xfrm>
        <a:graphic>
          <a:graphicData uri="http://schemas.openxmlformats.org/drawingml/2006/table">
            <a:tbl>
              <a:tblPr/>
              <a:tblGrid>
                <a:gridCol w="2705070"/>
                <a:gridCol w="2705070"/>
                <a:gridCol w="2705070"/>
                <a:gridCol w="2705070"/>
              </a:tblGrid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牵头部门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完成时间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预算（万元）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数据平台扩容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2027年6月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移动办公升级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办公室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2027年4月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财务AI助手试点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2027年9月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统一身份认证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2027年3月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设备数据接入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生产部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2027年10月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11087100" y="6419820"/>
            <a:ext cx="419070" cy="2286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</p:sp>
      <p:sp>
        <p:nvSpPr>
          <p:cNvPr id="10" name="Text 5"/>
          <p:cNvSpPr/>
          <p:nvPr/>
        </p:nvSpPr>
        <p:spPr>
          <a:xfrm>
            <a:off x="11087100" y="6419820"/>
            <a:ext cx="419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85800" y="64579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20" y="-1333470"/>
            <a:ext cx="3238530" cy="3238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523878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470" y="-2190720"/>
            <a:ext cx="4953030" cy="49530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00250" y="4381530"/>
            <a:ext cx="4572000" cy="4572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762470"/>
            <a:ext cx="3047970" cy="304797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524030" y="1619220"/>
            <a:ext cx="9144000" cy="3619470"/>
          </a:xfrm>
          <a:prstGeom prst="roundRect">
            <a:avLst>
              <a:gd name="adj" fmla="val 842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5772150" y="1295430"/>
            <a:ext cx="647670" cy="64767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2"/>
          <p:cNvSpPr/>
          <p:nvPr/>
        </p:nvSpPr>
        <p:spPr>
          <a:xfrm>
            <a:off x="5772150" y="1295430"/>
            <a:ext cx="64767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3"/>
          <p:cNvSpPr/>
          <p:nvPr/>
        </p:nvSpPr>
        <p:spPr>
          <a:xfrm>
            <a:off x="2190720" y="2190720"/>
            <a:ext cx="7810530" cy="2095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数字化不是买系统，</a:t>
            </a:r>
            <a:endParaRPr lang="en-US" sz="3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而是让每个人每天少做一件重复的事。</a:t>
            </a:r>
            <a:endParaRPr lang="en-US" sz="3200" dirty="0"/>
          </a:p>
        </p:txBody>
      </p:sp>
      <p:sp>
        <p:nvSpPr>
          <p:cNvPr id="11" name="Text 4"/>
          <p:cNvSpPr/>
          <p:nvPr/>
        </p:nvSpPr>
        <p:spPr>
          <a:xfrm>
            <a:off x="2190720" y="4476720"/>
            <a:ext cx="7810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B8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集团数字化工作会议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470" y="-2190720"/>
            <a:ext cx="4953030" cy="49530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0250" y="4381530"/>
            <a:ext cx="4572000" cy="457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762470"/>
            <a:ext cx="3047970" cy="304797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476470" y="1904970"/>
            <a:ext cx="209580" cy="209580"/>
          </a:xfrm>
          <a:prstGeom prst="ellipse">
            <a:avLst/>
          </a:prstGeom>
          <a:solidFill>
            <a:srgbClr val="FF9F2E"/>
          </a:solidFill>
          <a:ln/>
        </p:spPr>
      </p:sp>
      <p:sp>
        <p:nvSpPr>
          <p:cNvPr id="6" name="Shape 1"/>
          <p:cNvSpPr/>
          <p:nvPr/>
        </p:nvSpPr>
        <p:spPr>
          <a:xfrm rot="1200000">
            <a:off x="9429750" y="4572000"/>
            <a:ext cx="285750" cy="285750"/>
          </a:xfrm>
          <a:prstGeom prst="roundRect">
            <a:avLst>
              <a:gd name="adj" fmla="val 26656"/>
            </a:avLst>
          </a:prstGeom>
          <a:solidFill>
            <a:srgbClr val="5B7CFF"/>
          </a:solidFill>
          <a:ln/>
        </p:spPr>
      </p:sp>
      <p:sp>
        <p:nvSpPr>
          <p:cNvPr id="7" name="Text 2"/>
          <p:cNvSpPr/>
          <p:nvPr/>
        </p:nvSpPr>
        <p:spPr>
          <a:xfrm>
            <a:off x="1143000" y="2571750"/>
            <a:ext cx="9905970" cy="104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6300" dirty="0"/>
          </a:p>
        </p:txBody>
      </p:sp>
      <p:sp>
        <p:nvSpPr>
          <p:cNvPr id="8" name="Shape 3"/>
          <p:cNvSpPr/>
          <p:nvPr/>
        </p:nvSpPr>
        <p:spPr>
          <a:xfrm>
            <a:off x="5715000" y="3733770"/>
            <a:ext cx="761970" cy="76170"/>
          </a:xfrm>
          <a:prstGeom prst="roundRect">
            <a:avLst>
              <a:gd name="adj" fmla="val 50060"/>
            </a:avLst>
          </a:prstGeom>
          <a:solidFill>
            <a:srgbClr val="14B8A6"/>
          </a:solidFill>
          <a:ln/>
        </p:spPr>
      </p:sp>
      <p:sp>
        <p:nvSpPr>
          <p:cNvPr id="9" name="Text 4"/>
          <p:cNvSpPr/>
          <p:nvPr/>
        </p:nvSpPr>
        <p:spPr>
          <a:xfrm>
            <a:off x="1143000" y="4000500"/>
            <a:ext cx="9905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D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敬请各位领导批评指正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2026年数字化转型工作汇报</dc:title>
  <dc:subject>PptxGenJS Presentation</dc:subject>
  <dc:creator>汇报人：张三</dc:creator>
  <cp:lastModifiedBy>汇报人：张三</cp:lastModifiedBy>
  <cp:revision>1</cp:revision>
  <dcterms:created xsi:type="dcterms:W3CDTF">2026-10-14T15:27:56Z</dcterms:created>
  <dcterms:modified xsi:type="dcterms:W3CDTF">2026-10-14T15:27:56Z</dcterms:modified>
</cp:coreProperties>
</file>