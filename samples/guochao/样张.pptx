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运维成本</c:v>
                </c:pt>
              </c:strCache>
            </c:strRef>
          </c:tx>
          <c:spPr>
            <a:solidFill>
              <a:srgbClr val="D3C6AE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2420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3C6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3C6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3C6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3C6A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322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2350</c:v>
                </c:pt>
                <c:pt idx="1">
                  <c:v>2210</c:v>
                </c:pt>
                <c:pt idx="2">
                  <c:v>1960</c:v>
                </c:pt>
                <c:pt idx="3">
                  <c:v>1660</c:v>
                </c:pt>
                <c:pt idx="4">
                  <c:v>1280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2A2420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CDB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E52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CDB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E52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EEE1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4EEE1">
        <a:alpha val="0"/>
      </a:srgbClr>
    </a:solidFill>
    <a:ln w="3175" cap="flat">
      <a:solidFill>
        <a:srgbClr val="F4EEE1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30" y="266730"/>
            <a:ext cx="11658600" cy="6324630"/>
          </a:xfrm>
          <a:prstGeom prst="rect">
            <a:avLst/>
          </a:prstGeom>
          <a:ln w="19050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900" y="342900"/>
            <a:ext cx="11506170" cy="6172200"/>
          </a:xfrm>
          <a:prstGeom prst="rect">
            <a:avLst/>
          </a:prstGeom>
          <a:ln w="6350">
            <a:solidFill>
              <a:srgbClr val="B08D5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67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5" name="Shape 3"/>
          <p:cNvSpPr/>
          <p:nvPr/>
        </p:nvSpPr>
        <p:spPr>
          <a:xfrm>
            <a:off x="118110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6" name="Shape 4"/>
          <p:cNvSpPr/>
          <p:nvPr/>
        </p:nvSpPr>
        <p:spPr>
          <a:xfrm>
            <a:off x="2667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7" name="Shape 5"/>
          <p:cNvSpPr/>
          <p:nvPr/>
        </p:nvSpPr>
        <p:spPr>
          <a:xfrm>
            <a:off x="118110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" y="4870917"/>
            <a:ext cx="11506170" cy="1644183"/>
          </a:xfrm>
          <a:custGeom>
            <a:avLst/>
            <a:gdLst/>
            <a:ahLst/>
            <a:cxnLst/>
            <a:rect l="l" t="t" r="r" b="b"/>
            <a:pathLst>
              <a:path w="11506170" h="1644183">
                <a:moveTo>
                  <a:pt x="0" y="1644183"/>
                </a:moveTo>
                <a:lnTo>
                  <a:pt x="0" y="115123"/>
                </a:lnTo>
                <a:lnTo>
                  <a:pt x="381030" y="0"/>
                </a:lnTo>
                <a:lnTo>
                  <a:pt x="761970" y="13807"/>
                </a:lnTo>
                <a:lnTo>
                  <a:pt x="1143000" y="154899"/>
                </a:lnTo>
                <a:lnTo>
                  <a:pt x="1524030" y="377190"/>
                </a:lnTo>
                <a:lnTo>
                  <a:pt x="1904970" y="608076"/>
                </a:lnTo>
                <a:lnTo>
                  <a:pt x="2286000" y="777331"/>
                </a:lnTo>
                <a:lnTo>
                  <a:pt x="2667030" y="843808"/>
                </a:lnTo>
                <a:lnTo>
                  <a:pt x="3047970" y="810341"/>
                </a:lnTo>
                <a:lnTo>
                  <a:pt x="3429000" y="719816"/>
                </a:lnTo>
                <a:lnTo>
                  <a:pt x="3810030" y="634594"/>
                </a:lnTo>
                <a:lnTo>
                  <a:pt x="4190970" y="608808"/>
                </a:lnTo>
                <a:lnTo>
                  <a:pt x="4572000" y="663854"/>
                </a:lnTo>
                <a:lnTo>
                  <a:pt x="4953030" y="778520"/>
                </a:lnTo>
                <a:lnTo>
                  <a:pt x="5333970" y="897941"/>
                </a:lnTo>
                <a:lnTo>
                  <a:pt x="5715000" y="956828"/>
                </a:lnTo>
                <a:lnTo>
                  <a:pt x="6096030" y="908274"/>
                </a:lnTo>
                <a:lnTo>
                  <a:pt x="6476970" y="744962"/>
                </a:lnTo>
                <a:lnTo>
                  <a:pt x="6858000" y="504932"/>
                </a:lnTo>
                <a:lnTo>
                  <a:pt x="7239030" y="258135"/>
                </a:lnTo>
                <a:lnTo>
                  <a:pt x="7619970" y="79736"/>
                </a:lnTo>
                <a:lnTo>
                  <a:pt x="8001000" y="21306"/>
                </a:lnTo>
                <a:lnTo>
                  <a:pt x="8382030" y="91257"/>
                </a:lnTo>
                <a:lnTo>
                  <a:pt x="8762970" y="252649"/>
                </a:lnTo>
                <a:lnTo>
                  <a:pt x="9144000" y="439278"/>
                </a:lnTo>
                <a:lnTo>
                  <a:pt x="9525030" y="583296"/>
                </a:lnTo>
                <a:lnTo>
                  <a:pt x="9905970" y="642366"/>
                </a:lnTo>
                <a:lnTo>
                  <a:pt x="10287000" y="616397"/>
                </a:lnTo>
                <a:lnTo>
                  <a:pt x="10668030" y="544708"/>
                </a:lnTo>
                <a:lnTo>
                  <a:pt x="11048970" y="487741"/>
                </a:lnTo>
                <a:lnTo>
                  <a:pt x="11430000" y="498988"/>
                </a:lnTo>
                <a:lnTo>
                  <a:pt x="11506170" y="1644183"/>
                </a:lnTo>
                <a:close/>
              </a:path>
            </a:pathLst>
          </a:custGeom>
          <a:solidFill>
            <a:srgbClr val="2E4A62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42900" y="5351435"/>
            <a:ext cx="11506170" cy="1163665"/>
          </a:xfrm>
          <a:custGeom>
            <a:avLst/>
            <a:gdLst/>
            <a:ahLst/>
            <a:cxnLst/>
            <a:rect l="l" t="t" r="r" b="b"/>
            <a:pathLst>
              <a:path w="11506170" h="1163665">
                <a:moveTo>
                  <a:pt x="0" y="1163665"/>
                </a:moveTo>
                <a:lnTo>
                  <a:pt x="0" y="91257"/>
                </a:lnTo>
                <a:lnTo>
                  <a:pt x="381030" y="112746"/>
                </a:lnTo>
                <a:lnTo>
                  <a:pt x="761970" y="348478"/>
                </a:lnTo>
                <a:lnTo>
                  <a:pt x="1143000" y="715792"/>
                </a:lnTo>
                <a:lnTo>
                  <a:pt x="1524030" y="1047537"/>
                </a:lnTo>
                <a:lnTo>
                  <a:pt x="1904970" y="1163665"/>
                </a:lnTo>
                <a:lnTo>
                  <a:pt x="2286000" y="1088410"/>
                </a:lnTo>
                <a:lnTo>
                  <a:pt x="2667030" y="824332"/>
                </a:lnTo>
                <a:lnTo>
                  <a:pt x="3047970" y="552846"/>
                </a:lnTo>
                <a:lnTo>
                  <a:pt x="3429000" y="409651"/>
                </a:lnTo>
                <a:lnTo>
                  <a:pt x="3810030" y="428396"/>
                </a:lnTo>
                <a:lnTo>
                  <a:pt x="4190970" y="528432"/>
                </a:lnTo>
                <a:lnTo>
                  <a:pt x="4572000" y="576529"/>
                </a:lnTo>
                <a:lnTo>
                  <a:pt x="4953030" y="483535"/>
                </a:lnTo>
                <a:lnTo>
                  <a:pt x="5333970" y="269931"/>
                </a:lnTo>
                <a:lnTo>
                  <a:pt x="5715000" y="59070"/>
                </a:lnTo>
                <a:lnTo>
                  <a:pt x="6096030" y="0"/>
                </a:lnTo>
                <a:lnTo>
                  <a:pt x="6476970" y="169347"/>
                </a:lnTo>
                <a:lnTo>
                  <a:pt x="6858000" y="516636"/>
                </a:lnTo>
                <a:lnTo>
                  <a:pt x="7239030" y="887425"/>
                </a:lnTo>
                <a:lnTo>
                  <a:pt x="7619970" y="1112368"/>
                </a:lnTo>
                <a:lnTo>
                  <a:pt x="8001000" y="1105418"/>
                </a:lnTo>
                <a:lnTo>
                  <a:pt x="8382030" y="910194"/>
                </a:lnTo>
                <a:lnTo>
                  <a:pt x="8762970" y="665866"/>
                </a:lnTo>
                <a:lnTo>
                  <a:pt x="9144000" y="515996"/>
                </a:lnTo>
                <a:lnTo>
                  <a:pt x="9525030" y="518008"/>
                </a:lnTo>
                <a:lnTo>
                  <a:pt x="9905970" y="612465"/>
                </a:lnTo>
                <a:lnTo>
                  <a:pt x="10287000" y="669889"/>
                </a:lnTo>
                <a:lnTo>
                  <a:pt x="10668030" y="584576"/>
                </a:lnTo>
                <a:lnTo>
                  <a:pt x="11048970" y="352958"/>
                </a:lnTo>
                <a:lnTo>
                  <a:pt x="11430000" y="84582"/>
                </a:lnTo>
                <a:lnTo>
                  <a:pt x="11506170" y="1163665"/>
                </a:lnTo>
                <a:close/>
              </a:path>
            </a:pathLst>
          </a:custGeom>
          <a:solidFill>
            <a:srgbClr val="2E4A62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" y="6009894"/>
            <a:ext cx="11506170" cy="505206"/>
          </a:xfrm>
          <a:custGeom>
            <a:avLst/>
            <a:gdLst/>
            <a:ahLst/>
            <a:cxnLst/>
            <a:rect l="l" t="t" r="r" b="b"/>
            <a:pathLst>
              <a:path w="11506170" h="505206">
                <a:moveTo>
                  <a:pt x="0" y="505206"/>
                </a:moveTo>
                <a:lnTo>
                  <a:pt x="0" y="282458"/>
                </a:lnTo>
                <a:lnTo>
                  <a:pt x="381030" y="354239"/>
                </a:lnTo>
                <a:lnTo>
                  <a:pt x="761970" y="505206"/>
                </a:lnTo>
                <a:lnTo>
                  <a:pt x="1143000" y="505206"/>
                </a:lnTo>
                <a:lnTo>
                  <a:pt x="1524030" y="505206"/>
                </a:lnTo>
                <a:lnTo>
                  <a:pt x="1904970" y="505206"/>
                </a:lnTo>
                <a:lnTo>
                  <a:pt x="2286000" y="231069"/>
                </a:lnTo>
                <a:lnTo>
                  <a:pt x="2667030" y="10790"/>
                </a:lnTo>
                <a:lnTo>
                  <a:pt x="3047970" y="19111"/>
                </a:lnTo>
                <a:lnTo>
                  <a:pt x="3429000" y="191750"/>
                </a:lnTo>
                <a:lnTo>
                  <a:pt x="3810030" y="352135"/>
                </a:lnTo>
                <a:lnTo>
                  <a:pt x="4190970" y="376276"/>
                </a:lnTo>
                <a:lnTo>
                  <a:pt x="4572000" y="299832"/>
                </a:lnTo>
                <a:lnTo>
                  <a:pt x="4953030" y="272491"/>
                </a:lnTo>
                <a:lnTo>
                  <a:pt x="5333970" y="402976"/>
                </a:lnTo>
                <a:lnTo>
                  <a:pt x="5715000" y="505206"/>
                </a:lnTo>
                <a:lnTo>
                  <a:pt x="6096030" y="505206"/>
                </a:lnTo>
                <a:lnTo>
                  <a:pt x="6476970" y="505206"/>
                </a:lnTo>
                <a:lnTo>
                  <a:pt x="6858000" y="469727"/>
                </a:lnTo>
                <a:lnTo>
                  <a:pt x="7239030" y="153711"/>
                </a:lnTo>
                <a:lnTo>
                  <a:pt x="7619970" y="0"/>
                </a:lnTo>
                <a:lnTo>
                  <a:pt x="8001000" y="70866"/>
                </a:lnTo>
                <a:lnTo>
                  <a:pt x="8382030" y="251917"/>
                </a:lnTo>
                <a:lnTo>
                  <a:pt x="8762970" y="367223"/>
                </a:lnTo>
                <a:lnTo>
                  <a:pt x="9144000" y="341528"/>
                </a:lnTo>
                <a:lnTo>
                  <a:pt x="9525030" y="261518"/>
                </a:lnTo>
                <a:lnTo>
                  <a:pt x="9905970" y="282458"/>
                </a:lnTo>
                <a:lnTo>
                  <a:pt x="10287000" y="467716"/>
                </a:lnTo>
                <a:lnTo>
                  <a:pt x="10668030" y="505206"/>
                </a:lnTo>
                <a:lnTo>
                  <a:pt x="11048970" y="505206"/>
                </a:lnTo>
                <a:lnTo>
                  <a:pt x="11430000" y="505206"/>
                </a:lnTo>
                <a:lnTo>
                  <a:pt x="11506170" y="505206"/>
                </a:lnTo>
                <a:close/>
              </a:path>
            </a:pathLst>
          </a:custGeom>
          <a:solidFill>
            <a:srgbClr val="2E4A62">
              <a:alpha val="26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30" y="476220"/>
            <a:ext cx="3810030" cy="381003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477220" y="1714500"/>
            <a:ext cx="1333470" cy="1333470"/>
          </a:xfrm>
          <a:prstGeom prst="ellipse">
            <a:avLst/>
          </a:prstGeom>
          <a:solidFill>
            <a:srgbClr val="A8322D">
              <a:alpha val="9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971550" y="1143000"/>
            <a:ext cx="609630" cy="609630"/>
          </a:xfrm>
          <a:prstGeom prst="roundRect">
            <a:avLst>
              <a:gd name="adj" fmla="val 6255"/>
            </a:avLst>
          </a:prstGeom>
          <a:solidFill>
            <a:srgbClr val="A8322D"/>
          </a:solidFill>
          <a:ln/>
        </p:spPr>
      </p:sp>
      <p:sp>
        <p:nvSpPr>
          <p:cNvPr id="14" name="Shape 11"/>
          <p:cNvSpPr/>
          <p:nvPr/>
        </p:nvSpPr>
        <p:spPr>
          <a:xfrm>
            <a:off x="1009680" y="1181130"/>
            <a:ext cx="533370" cy="533370"/>
          </a:xfrm>
          <a:prstGeom prst="roundRect">
            <a:avLst>
              <a:gd name="adj" fmla="val 3566"/>
            </a:avLst>
          </a:prstGeom>
          <a:ln w="12700">
            <a:solidFill>
              <a:srgbClr val="F4EEE1">
                <a:alpha val="7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1550" y="1143000"/>
            <a:ext cx="60963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丙午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914400" y="2190720"/>
            <a:ext cx="7239030" cy="152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2A24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2026年数字化转型工作汇报</a:t>
            </a:r>
            <a:endParaRPr lang="en-US" sz="4200" dirty="0"/>
          </a:p>
        </p:txBody>
      </p:sp>
      <p:sp>
        <p:nvSpPr>
          <p:cNvPr id="17" name="Shape 14"/>
          <p:cNvSpPr/>
          <p:nvPr/>
        </p:nvSpPr>
        <p:spPr>
          <a:xfrm>
            <a:off x="914400" y="3848070"/>
            <a:ext cx="1143000" cy="0"/>
          </a:xfrm>
          <a:prstGeom prst="line">
            <a:avLst/>
          </a:prstGeom>
          <a:noFill/>
          <a:ln w="25400">
            <a:solidFill>
              <a:srgbClr val="A832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3981480"/>
            <a:ext cx="685800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6B5E52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以数据驱动管理提效，推动业务全面上云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14400" y="4476720"/>
            <a:ext cx="761997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  ·  汇报人：张三  ·  2026年10月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30" y="266730"/>
            <a:ext cx="11658600" cy="6324630"/>
          </a:xfrm>
          <a:prstGeom prst="rect">
            <a:avLst/>
          </a:prstGeom>
          <a:ln w="19050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900" y="342900"/>
            <a:ext cx="11506170" cy="6172200"/>
          </a:xfrm>
          <a:prstGeom prst="rect">
            <a:avLst/>
          </a:prstGeom>
          <a:ln w="6350">
            <a:solidFill>
              <a:srgbClr val="B08D5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67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5" name="Shape 3"/>
          <p:cNvSpPr/>
          <p:nvPr/>
        </p:nvSpPr>
        <p:spPr>
          <a:xfrm>
            <a:off x="118110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6" name="Shape 4"/>
          <p:cNvSpPr/>
          <p:nvPr/>
        </p:nvSpPr>
        <p:spPr>
          <a:xfrm>
            <a:off x="2667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7" name="Shape 5"/>
          <p:cNvSpPr/>
          <p:nvPr/>
        </p:nvSpPr>
        <p:spPr>
          <a:xfrm>
            <a:off x="118110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09630"/>
            <a:ext cx="228600" cy="228600"/>
          </a:xfrm>
          <a:prstGeom prst="roundRect">
            <a:avLst>
              <a:gd name="adj" fmla="val 12520"/>
            </a:avLst>
          </a:prstGeom>
          <a:solidFill>
            <a:srgbClr val="A8322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60963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5430" y="514350"/>
            <a:ext cx="998223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A24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目录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1104870"/>
            <a:ext cx="10363170" cy="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152510"/>
            <a:ext cx="10363170" cy="0"/>
          </a:xfrm>
          <a:prstGeom prst="line">
            <a:avLst/>
          </a:prstGeom>
          <a:noFill/>
          <a:ln w="6350">
            <a:solidFill>
              <a:srgbClr val="B08D57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6048390" y="1076340"/>
            <a:ext cx="95280" cy="9528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809860"/>
            <a:ext cx="761970" cy="876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A832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866930" y="3076590"/>
            <a:ext cx="94107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年度工作成效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1866930" y="3676620"/>
            <a:ext cx="9410730" cy="0"/>
          </a:xfrm>
          <a:prstGeom prst="line">
            <a:avLst/>
          </a:prstGeom>
          <a:noFill/>
          <a:ln w="9525">
            <a:solidFill>
              <a:srgbClr val="D8CD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686221"/>
            <a:ext cx="761970" cy="876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A832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02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866930" y="3952860"/>
            <a:ext cx="94107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明年工作计划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1866930" y="4552980"/>
            <a:ext cx="9410730" cy="0"/>
          </a:xfrm>
          <a:prstGeom prst="line">
            <a:avLst/>
          </a:prstGeom>
          <a:noFill/>
          <a:ln w="9525">
            <a:solidFill>
              <a:srgbClr val="D8CD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05470" y="6229350"/>
            <a:ext cx="381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08D57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6229350"/>
            <a:ext cx="4762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30" y="266730"/>
            <a:ext cx="11658600" cy="6324630"/>
          </a:xfrm>
          <a:prstGeom prst="rect">
            <a:avLst/>
          </a:prstGeom>
          <a:ln w="19050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900" y="342900"/>
            <a:ext cx="11506170" cy="6172200"/>
          </a:xfrm>
          <a:prstGeom prst="rect">
            <a:avLst/>
          </a:prstGeom>
          <a:ln w="6350">
            <a:solidFill>
              <a:srgbClr val="B08D5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67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5" name="Shape 3"/>
          <p:cNvSpPr/>
          <p:nvPr/>
        </p:nvSpPr>
        <p:spPr>
          <a:xfrm>
            <a:off x="118110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6" name="Shape 4"/>
          <p:cNvSpPr/>
          <p:nvPr/>
        </p:nvSpPr>
        <p:spPr>
          <a:xfrm>
            <a:off x="2667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7" name="Shape 5"/>
          <p:cNvSpPr/>
          <p:nvPr/>
        </p:nvSpPr>
        <p:spPr>
          <a:xfrm>
            <a:off x="118110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" y="4870917"/>
            <a:ext cx="11506170" cy="1644183"/>
          </a:xfrm>
          <a:custGeom>
            <a:avLst/>
            <a:gdLst/>
            <a:ahLst/>
            <a:cxnLst/>
            <a:rect l="l" t="t" r="r" b="b"/>
            <a:pathLst>
              <a:path w="11506170" h="1644183">
                <a:moveTo>
                  <a:pt x="0" y="1644183"/>
                </a:moveTo>
                <a:lnTo>
                  <a:pt x="0" y="115123"/>
                </a:lnTo>
                <a:lnTo>
                  <a:pt x="381030" y="0"/>
                </a:lnTo>
                <a:lnTo>
                  <a:pt x="761970" y="13807"/>
                </a:lnTo>
                <a:lnTo>
                  <a:pt x="1143000" y="154899"/>
                </a:lnTo>
                <a:lnTo>
                  <a:pt x="1524030" y="377190"/>
                </a:lnTo>
                <a:lnTo>
                  <a:pt x="1904970" y="608076"/>
                </a:lnTo>
                <a:lnTo>
                  <a:pt x="2286000" y="777331"/>
                </a:lnTo>
                <a:lnTo>
                  <a:pt x="2667030" y="843808"/>
                </a:lnTo>
                <a:lnTo>
                  <a:pt x="3047970" y="810341"/>
                </a:lnTo>
                <a:lnTo>
                  <a:pt x="3429000" y="719816"/>
                </a:lnTo>
                <a:lnTo>
                  <a:pt x="3810030" y="634594"/>
                </a:lnTo>
                <a:lnTo>
                  <a:pt x="4190970" y="608808"/>
                </a:lnTo>
                <a:lnTo>
                  <a:pt x="4572000" y="663854"/>
                </a:lnTo>
                <a:lnTo>
                  <a:pt x="4953030" y="778520"/>
                </a:lnTo>
                <a:lnTo>
                  <a:pt x="5333970" y="897941"/>
                </a:lnTo>
                <a:lnTo>
                  <a:pt x="5715000" y="956828"/>
                </a:lnTo>
                <a:lnTo>
                  <a:pt x="6096030" y="908274"/>
                </a:lnTo>
                <a:lnTo>
                  <a:pt x="6476970" y="744962"/>
                </a:lnTo>
                <a:lnTo>
                  <a:pt x="6858000" y="504932"/>
                </a:lnTo>
                <a:lnTo>
                  <a:pt x="7239030" y="258135"/>
                </a:lnTo>
                <a:lnTo>
                  <a:pt x="7619970" y="79736"/>
                </a:lnTo>
                <a:lnTo>
                  <a:pt x="8001000" y="21306"/>
                </a:lnTo>
                <a:lnTo>
                  <a:pt x="8382030" y="91257"/>
                </a:lnTo>
                <a:lnTo>
                  <a:pt x="8762970" y="252649"/>
                </a:lnTo>
                <a:lnTo>
                  <a:pt x="9144000" y="439278"/>
                </a:lnTo>
                <a:lnTo>
                  <a:pt x="9525030" y="583296"/>
                </a:lnTo>
                <a:lnTo>
                  <a:pt x="9905970" y="642366"/>
                </a:lnTo>
                <a:lnTo>
                  <a:pt x="10287000" y="616397"/>
                </a:lnTo>
                <a:lnTo>
                  <a:pt x="10668030" y="544708"/>
                </a:lnTo>
                <a:lnTo>
                  <a:pt x="11048970" y="487741"/>
                </a:lnTo>
                <a:lnTo>
                  <a:pt x="11430000" y="498988"/>
                </a:lnTo>
                <a:lnTo>
                  <a:pt x="11506170" y="1644183"/>
                </a:lnTo>
                <a:close/>
              </a:path>
            </a:pathLst>
          </a:custGeom>
          <a:solidFill>
            <a:srgbClr val="2E4A62">
              <a:alpha val="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42900" y="5351435"/>
            <a:ext cx="11506170" cy="1163665"/>
          </a:xfrm>
          <a:custGeom>
            <a:avLst/>
            <a:gdLst/>
            <a:ahLst/>
            <a:cxnLst/>
            <a:rect l="l" t="t" r="r" b="b"/>
            <a:pathLst>
              <a:path w="11506170" h="1163665">
                <a:moveTo>
                  <a:pt x="0" y="1163665"/>
                </a:moveTo>
                <a:lnTo>
                  <a:pt x="0" y="91257"/>
                </a:lnTo>
                <a:lnTo>
                  <a:pt x="381030" y="112746"/>
                </a:lnTo>
                <a:lnTo>
                  <a:pt x="761970" y="348478"/>
                </a:lnTo>
                <a:lnTo>
                  <a:pt x="1143000" y="715792"/>
                </a:lnTo>
                <a:lnTo>
                  <a:pt x="1524030" y="1047537"/>
                </a:lnTo>
                <a:lnTo>
                  <a:pt x="1904970" y="1163665"/>
                </a:lnTo>
                <a:lnTo>
                  <a:pt x="2286000" y="1088410"/>
                </a:lnTo>
                <a:lnTo>
                  <a:pt x="2667030" y="824332"/>
                </a:lnTo>
                <a:lnTo>
                  <a:pt x="3047970" y="552846"/>
                </a:lnTo>
                <a:lnTo>
                  <a:pt x="3429000" y="409651"/>
                </a:lnTo>
                <a:lnTo>
                  <a:pt x="3810030" y="428396"/>
                </a:lnTo>
                <a:lnTo>
                  <a:pt x="4190970" y="528432"/>
                </a:lnTo>
                <a:lnTo>
                  <a:pt x="4572000" y="576529"/>
                </a:lnTo>
                <a:lnTo>
                  <a:pt x="4953030" y="483535"/>
                </a:lnTo>
                <a:lnTo>
                  <a:pt x="5333970" y="269931"/>
                </a:lnTo>
                <a:lnTo>
                  <a:pt x="5715000" y="59070"/>
                </a:lnTo>
                <a:lnTo>
                  <a:pt x="6096030" y="0"/>
                </a:lnTo>
                <a:lnTo>
                  <a:pt x="6476970" y="169347"/>
                </a:lnTo>
                <a:lnTo>
                  <a:pt x="6858000" y="516636"/>
                </a:lnTo>
                <a:lnTo>
                  <a:pt x="7239030" y="887425"/>
                </a:lnTo>
                <a:lnTo>
                  <a:pt x="7619970" y="1112368"/>
                </a:lnTo>
                <a:lnTo>
                  <a:pt x="8001000" y="1105418"/>
                </a:lnTo>
                <a:lnTo>
                  <a:pt x="8382030" y="910194"/>
                </a:lnTo>
                <a:lnTo>
                  <a:pt x="8762970" y="665866"/>
                </a:lnTo>
                <a:lnTo>
                  <a:pt x="9144000" y="515996"/>
                </a:lnTo>
                <a:lnTo>
                  <a:pt x="9525030" y="518008"/>
                </a:lnTo>
                <a:lnTo>
                  <a:pt x="9905970" y="612465"/>
                </a:lnTo>
                <a:lnTo>
                  <a:pt x="10287000" y="669889"/>
                </a:lnTo>
                <a:lnTo>
                  <a:pt x="10668030" y="584576"/>
                </a:lnTo>
                <a:lnTo>
                  <a:pt x="11048970" y="352958"/>
                </a:lnTo>
                <a:lnTo>
                  <a:pt x="11430000" y="84582"/>
                </a:lnTo>
                <a:lnTo>
                  <a:pt x="11506170" y="1163665"/>
                </a:lnTo>
                <a:close/>
              </a:path>
            </a:pathLst>
          </a:custGeom>
          <a:solidFill>
            <a:srgbClr val="2E4A62">
              <a:alpha val="11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" y="6009894"/>
            <a:ext cx="11506170" cy="505206"/>
          </a:xfrm>
          <a:custGeom>
            <a:avLst/>
            <a:gdLst/>
            <a:ahLst/>
            <a:cxnLst/>
            <a:rect l="l" t="t" r="r" b="b"/>
            <a:pathLst>
              <a:path w="11506170" h="505206">
                <a:moveTo>
                  <a:pt x="0" y="505206"/>
                </a:moveTo>
                <a:lnTo>
                  <a:pt x="0" y="282458"/>
                </a:lnTo>
                <a:lnTo>
                  <a:pt x="381030" y="354239"/>
                </a:lnTo>
                <a:lnTo>
                  <a:pt x="761970" y="505206"/>
                </a:lnTo>
                <a:lnTo>
                  <a:pt x="1143000" y="505206"/>
                </a:lnTo>
                <a:lnTo>
                  <a:pt x="1524030" y="505206"/>
                </a:lnTo>
                <a:lnTo>
                  <a:pt x="1904970" y="505206"/>
                </a:lnTo>
                <a:lnTo>
                  <a:pt x="2286000" y="231069"/>
                </a:lnTo>
                <a:lnTo>
                  <a:pt x="2667030" y="10790"/>
                </a:lnTo>
                <a:lnTo>
                  <a:pt x="3047970" y="19111"/>
                </a:lnTo>
                <a:lnTo>
                  <a:pt x="3429000" y="191750"/>
                </a:lnTo>
                <a:lnTo>
                  <a:pt x="3810030" y="352135"/>
                </a:lnTo>
                <a:lnTo>
                  <a:pt x="4190970" y="376276"/>
                </a:lnTo>
                <a:lnTo>
                  <a:pt x="4572000" y="299832"/>
                </a:lnTo>
                <a:lnTo>
                  <a:pt x="4953030" y="272491"/>
                </a:lnTo>
                <a:lnTo>
                  <a:pt x="5333970" y="402976"/>
                </a:lnTo>
                <a:lnTo>
                  <a:pt x="5715000" y="505206"/>
                </a:lnTo>
                <a:lnTo>
                  <a:pt x="6096030" y="505206"/>
                </a:lnTo>
                <a:lnTo>
                  <a:pt x="6476970" y="505206"/>
                </a:lnTo>
                <a:lnTo>
                  <a:pt x="6858000" y="469727"/>
                </a:lnTo>
                <a:lnTo>
                  <a:pt x="7239030" y="153711"/>
                </a:lnTo>
                <a:lnTo>
                  <a:pt x="7619970" y="0"/>
                </a:lnTo>
                <a:lnTo>
                  <a:pt x="8001000" y="70866"/>
                </a:lnTo>
                <a:lnTo>
                  <a:pt x="8382030" y="251917"/>
                </a:lnTo>
                <a:lnTo>
                  <a:pt x="8762970" y="367223"/>
                </a:lnTo>
                <a:lnTo>
                  <a:pt x="9144000" y="341528"/>
                </a:lnTo>
                <a:lnTo>
                  <a:pt x="9525030" y="261518"/>
                </a:lnTo>
                <a:lnTo>
                  <a:pt x="9905970" y="282458"/>
                </a:lnTo>
                <a:lnTo>
                  <a:pt x="10287000" y="467716"/>
                </a:lnTo>
                <a:lnTo>
                  <a:pt x="10668030" y="505206"/>
                </a:lnTo>
                <a:lnTo>
                  <a:pt x="11048970" y="505206"/>
                </a:lnTo>
                <a:lnTo>
                  <a:pt x="11430000" y="505206"/>
                </a:lnTo>
                <a:lnTo>
                  <a:pt x="11506170" y="505206"/>
                </a:lnTo>
                <a:close/>
              </a:path>
            </a:pathLst>
          </a:custGeom>
          <a:solidFill>
            <a:srgbClr val="2E4A62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38530" y="1714500"/>
            <a:ext cx="571500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600" kern="0" dirty="0">
                <a:solidFill>
                  <a:srgbClr val="A8322D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第一章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04970" y="2190720"/>
            <a:ext cx="838203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spc="400" kern="0" dirty="0">
                <a:solidFill>
                  <a:srgbClr val="2A24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年度工作成效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5238780" y="3295680"/>
            <a:ext cx="1714500" cy="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6048390" y="3248040"/>
            <a:ext cx="95280" cy="9528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15" name="Text 13"/>
          <p:cNvSpPr/>
          <p:nvPr/>
        </p:nvSpPr>
        <p:spPr>
          <a:xfrm>
            <a:off x="1904970" y="3505170"/>
            <a:ext cx="83820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四项核心指标全部超额完成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30" y="266730"/>
            <a:ext cx="11658600" cy="6324630"/>
          </a:xfrm>
          <a:prstGeom prst="rect">
            <a:avLst/>
          </a:prstGeom>
          <a:ln w="19050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900" y="342900"/>
            <a:ext cx="11506170" cy="6172200"/>
          </a:xfrm>
          <a:prstGeom prst="rect">
            <a:avLst/>
          </a:prstGeom>
          <a:ln w="6350">
            <a:solidFill>
              <a:srgbClr val="B08D5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67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5" name="Shape 3"/>
          <p:cNvSpPr/>
          <p:nvPr/>
        </p:nvSpPr>
        <p:spPr>
          <a:xfrm>
            <a:off x="118110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6" name="Shape 4"/>
          <p:cNvSpPr/>
          <p:nvPr/>
        </p:nvSpPr>
        <p:spPr>
          <a:xfrm>
            <a:off x="2667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7" name="Shape 5"/>
          <p:cNvSpPr/>
          <p:nvPr/>
        </p:nvSpPr>
        <p:spPr>
          <a:xfrm>
            <a:off x="118110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09630"/>
            <a:ext cx="228600" cy="228600"/>
          </a:xfrm>
          <a:prstGeom prst="roundRect">
            <a:avLst>
              <a:gd name="adj" fmla="val 12520"/>
            </a:avLst>
          </a:prstGeom>
          <a:solidFill>
            <a:srgbClr val="A8322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60963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5430" y="514350"/>
            <a:ext cx="998223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A24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四项核心指标全部超额完成年度目标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1104870"/>
            <a:ext cx="10363170" cy="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152510"/>
            <a:ext cx="10363170" cy="0"/>
          </a:xfrm>
          <a:prstGeom prst="line">
            <a:avLst/>
          </a:prstGeom>
          <a:noFill/>
          <a:ln w="6350">
            <a:solidFill>
              <a:srgbClr val="B08D57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6048390" y="1076340"/>
            <a:ext cx="95280" cy="9528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447940"/>
            <a:ext cx="2419320" cy="2667030"/>
          </a:xfrm>
          <a:prstGeom prst="rect">
            <a:avLst/>
          </a:prstGeom>
          <a:solidFill>
            <a:srgbClr val="EDE4D2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09680" y="2543221"/>
            <a:ext cx="2228850" cy="0"/>
          </a:xfrm>
          <a:prstGeom prst="line">
            <a:avLst/>
          </a:prstGeom>
          <a:noFill/>
          <a:ln w="6350">
            <a:solidFill>
              <a:srgbClr val="B08D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9680" y="5019690"/>
            <a:ext cx="2228850" cy="0"/>
          </a:xfrm>
          <a:prstGeom prst="line">
            <a:avLst/>
          </a:prstGeom>
          <a:noFill/>
          <a:ln w="6350">
            <a:solidFill>
              <a:srgbClr val="B08D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2895630"/>
            <a:ext cx="1962120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A832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98.6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2193920" y="3138861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A83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3531870"/>
            <a:ext cx="1962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业务系统上云率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43000" y="3874770"/>
            <a:ext cx="1962120" cy="83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年初目标 90%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562320" y="2447940"/>
            <a:ext cx="2419320" cy="2667030"/>
          </a:xfrm>
          <a:prstGeom prst="rect">
            <a:avLst/>
          </a:prstGeom>
          <a:solidFill>
            <a:srgbClr val="EDE4D2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0" y="2543221"/>
            <a:ext cx="2228850" cy="0"/>
          </a:xfrm>
          <a:prstGeom prst="line">
            <a:avLst/>
          </a:prstGeom>
          <a:noFill/>
          <a:ln w="6350">
            <a:solidFill>
              <a:srgbClr val="B08D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5019690"/>
            <a:ext cx="2228850" cy="0"/>
          </a:xfrm>
          <a:prstGeom prst="line">
            <a:avLst/>
          </a:prstGeom>
          <a:noFill/>
          <a:ln w="6350">
            <a:solidFill>
              <a:srgbClr val="B08D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0920" y="2895630"/>
            <a:ext cx="1962120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A832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1,280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5122926" y="3138861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A83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万元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790920" y="3531870"/>
            <a:ext cx="1962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年度节约运维成本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790920" y="3874770"/>
            <a:ext cx="1962120" cy="83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同比下降 23%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10330" y="2447940"/>
            <a:ext cx="2419320" cy="2667030"/>
          </a:xfrm>
          <a:prstGeom prst="rect">
            <a:avLst/>
          </a:prstGeom>
          <a:solidFill>
            <a:srgbClr val="EDE4D2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305520" y="2543221"/>
            <a:ext cx="2228850" cy="0"/>
          </a:xfrm>
          <a:prstGeom prst="line">
            <a:avLst/>
          </a:prstGeom>
          <a:noFill/>
          <a:ln w="6350">
            <a:solidFill>
              <a:srgbClr val="B08D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5520" y="5019690"/>
            <a:ext cx="2228850" cy="0"/>
          </a:xfrm>
          <a:prstGeom prst="line">
            <a:avLst/>
          </a:prstGeom>
          <a:noFill/>
          <a:ln w="6350">
            <a:solidFill>
              <a:srgbClr val="B08D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8930" y="2895630"/>
            <a:ext cx="1962120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A832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36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7058162" y="3138861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A83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38930" y="3531870"/>
            <a:ext cx="1962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上线数字化场景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438930" y="3874770"/>
            <a:ext cx="1962120" cy="83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 9 个业务部门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858250" y="2447940"/>
            <a:ext cx="2419320" cy="2667030"/>
          </a:xfrm>
          <a:prstGeom prst="rect">
            <a:avLst/>
          </a:prstGeom>
          <a:solidFill>
            <a:srgbClr val="EDE4D2">
              <a:alpha val="7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953530" y="2543221"/>
            <a:ext cx="2228850" cy="0"/>
          </a:xfrm>
          <a:prstGeom prst="line">
            <a:avLst/>
          </a:prstGeom>
          <a:noFill/>
          <a:ln w="6350">
            <a:solidFill>
              <a:srgbClr val="B08D5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53530" y="5019690"/>
            <a:ext cx="2228850" cy="0"/>
          </a:xfrm>
          <a:prstGeom prst="line">
            <a:avLst/>
          </a:prstGeom>
          <a:noFill/>
          <a:ln w="6350">
            <a:solidFill>
              <a:srgbClr val="B08D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86850" y="2895630"/>
            <a:ext cx="1962120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A832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4.8</a:t>
            </a:r>
            <a:endParaRPr lang="en-US" sz="3800" dirty="0"/>
          </a:p>
        </p:txBody>
      </p:sp>
      <p:sp>
        <p:nvSpPr>
          <p:cNvPr id="39" name="Text 37"/>
          <p:cNvSpPr/>
          <p:nvPr/>
        </p:nvSpPr>
        <p:spPr>
          <a:xfrm>
            <a:off x="9856683" y="3138861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A83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086850" y="3531870"/>
            <a:ext cx="1962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审批平均时长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9086850" y="3874770"/>
            <a:ext cx="1962120" cy="83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去年同期 11.2 天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905470" y="6229350"/>
            <a:ext cx="381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08D57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四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14400" y="6229350"/>
            <a:ext cx="4762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30" y="266730"/>
            <a:ext cx="11658600" cy="6324630"/>
          </a:xfrm>
          <a:prstGeom prst="rect">
            <a:avLst/>
          </a:prstGeom>
          <a:ln w="19050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900" y="342900"/>
            <a:ext cx="11506170" cy="6172200"/>
          </a:xfrm>
          <a:prstGeom prst="rect">
            <a:avLst/>
          </a:prstGeom>
          <a:ln w="6350">
            <a:solidFill>
              <a:srgbClr val="B08D5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67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5" name="Shape 3"/>
          <p:cNvSpPr/>
          <p:nvPr/>
        </p:nvSpPr>
        <p:spPr>
          <a:xfrm>
            <a:off x="118110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6" name="Shape 4"/>
          <p:cNvSpPr/>
          <p:nvPr/>
        </p:nvSpPr>
        <p:spPr>
          <a:xfrm>
            <a:off x="2667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7" name="Shape 5"/>
          <p:cNvSpPr/>
          <p:nvPr/>
        </p:nvSpPr>
        <p:spPr>
          <a:xfrm>
            <a:off x="118110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09630"/>
            <a:ext cx="228600" cy="228600"/>
          </a:xfrm>
          <a:prstGeom prst="roundRect">
            <a:avLst>
              <a:gd name="adj" fmla="val 12520"/>
            </a:avLst>
          </a:prstGeom>
          <a:solidFill>
            <a:srgbClr val="A8322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60963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5430" y="514350"/>
            <a:ext cx="998223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A24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运维成本连续三年下降，今年降幅最大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1104870"/>
            <a:ext cx="10363170" cy="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152510"/>
            <a:ext cx="10363170" cy="0"/>
          </a:xfrm>
          <a:prstGeom prst="line">
            <a:avLst/>
          </a:prstGeom>
          <a:noFill/>
          <a:ln w="6350">
            <a:solidFill>
              <a:srgbClr val="B08D57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6048390" y="1076340"/>
            <a:ext cx="95280" cy="95280"/>
          </a:xfrm>
          <a:prstGeom prst="rect">
            <a:avLst/>
          </a:prstGeom>
          <a:solidFill>
            <a:srgbClr val="A8322D"/>
          </a:solidFill>
          <a:ln/>
        </p:spPr>
      </p:sp>
      <p:graphicFrame>
        <p:nvGraphicFramePr>
          <p:cNvPr id="14" name="Chart 0" descr=""/>
          <p:cNvGraphicFramePr/>
          <p:nvPr/>
        </p:nvGraphicFramePr>
        <p:xfrm>
          <a:off x="914400" y="1485900"/>
          <a:ext cx="5932170" cy="438153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914400" y="5886450"/>
            <a:ext cx="19049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单位：万元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27600" y="1562070"/>
            <a:ext cx="38130" cy="127632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17" name="Text 14"/>
          <p:cNvSpPr/>
          <p:nvPr/>
        </p:nvSpPr>
        <p:spPr>
          <a:xfrm>
            <a:off x="7437090" y="1524030"/>
            <a:ext cx="3840480" cy="1352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年运维成本 1280 万元，比 2022 年少了近一半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7227600" y="3067080"/>
            <a:ext cx="38130" cy="1276320"/>
          </a:xfrm>
          <a:prstGeom prst="rect">
            <a:avLst/>
          </a:prstGeom>
          <a:solidFill>
            <a:srgbClr val="D8CDB8"/>
          </a:solidFill>
          <a:ln/>
        </p:spPr>
      </p:sp>
      <p:sp>
        <p:nvSpPr>
          <p:cNvPr id="19" name="Text 16"/>
          <p:cNvSpPr/>
          <p:nvPr/>
        </p:nvSpPr>
        <p:spPr>
          <a:xfrm>
            <a:off x="7437090" y="3028950"/>
            <a:ext cx="3840480" cy="1352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主要来自服务器整合和老旧系统下线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227600" y="4572000"/>
            <a:ext cx="38130" cy="1276320"/>
          </a:xfrm>
          <a:prstGeom prst="rect">
            <a:avLst/>
          </a:prstGeom>
          <a:solidFill>
            <a:srgbClr val="D8CDB8"/>
          </a:solidFill>
          <a:ln/>
        </p:spPr>
      </p:sp>
      <p:sp>
        <p:nvSpPr>
          <p:cNvPr id="21" name="Text 18"/>
          <p:cNvSpPr/>
          <p:nvPr/>
        </p:nvSpPr>
        <p:spPr>
          <a:xfrm>
            <a:off x="7437090" y="4533870"/>
            <a:ext cx="3840480" cy="1352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明年预计还能再降 10% 左右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905470" y="6229350"/>
            <a:ext cx="381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08D57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五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14400" y="6229350"/>
            <a:ext cx="4762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30" y="266730"/>
            <a:ext cx="11658600" cy="6324630"/>
          </a:xfrm>
          <a:prstGeom prst="rect">
            <a:avLst/>
          </a:prstGeom>
          <a:ln w="19050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900" y="342900"/>
            <a:ext cx="11506170" cy="6172200"/>
          </a:xfrm>
          <a:prstGeom prst="rect">
            <a:avLst/>
          </a:prstGeom>
          <a:ln w="6350">
            <a:solidFill>
              <a:srgbClr val="B08D5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67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5" name="Shape 3"/>
          <p:cNvSpPr/>
          <p:nvPr/>
        </p:nvSpPr>
        <p:spPr>
          <a:xfrm>
            <a:off x="118110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6" name="Shape 4"/>
          <p:cNvSpPr/>
          <p:nvPr/>
        </p:nvSpPr>
        <p:spPr>
          <a:xfrm>
            <a:off x="2667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7" name="Shape 5"/>
          <p:cNvSpPr/>
          <p:nvPr/>
        </p:nvSpPr>
        <p:spPr>
          <a:xfrm>
            <a:off x="118110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09630"/>
            <a:ext cx="228600" cy="228600"/>
          </a:xfrm>
          <a:prstGeom prst="roundRect">
            <a:avLst>
              <a:gd name="adj" fmla="val 12520"/>
            </a:avLst>
          </a:prstGeom>
          <a:solidFill>
            <a:srgbClr val="A8322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60963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5430" y="514350"/>
            <a:ext cx="998223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A24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今年做对了四件事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1104870"/>
            <a:ext cx="10363170" cy="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152510"/>
            <a:ext cx="10363170" cy="0"/>
          </a:xfrm>
          <a:prstGeom prst="line">
            <a:avLst/>
          </a:prstGeom>
          <a:noFill/>
          <a:ln w="6350">
            <a:solidFill>
              <a:srgbClr val="B08D57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6048390" y="1076340"/>
            <a:ext cx="95280" cy="9528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14" name="Shape 12"/>
          <p:cNvSpPr/>
          <p:nvPr/>
        </p:nvSpPr>
        <p:spPr>
          <a:xfrm>
            <a:off x="1981230" y="1676370"/>
            <a:ext cx="457200" cy="457200"/>
          </a:xfrm>
          <a:prstGeom prst="roundRect">
            <a:avLst>
              <a:gd name="adj" fmla="val 8340"/>
            </a:avLst>
          </a:prstGeom>
          <a:solidFill>
            <a:srgbClr val="A8322D"/>
          </a:solidFill>
          <a:ln/>
        </p:spPr>
      </p:sp>
      <p:sp>
        <p:nvSpPr>
          <p:cNvPr id="15" name="Shape 13"/>
          <p:cNvSpPr/>
          <p:nvPr/>
        </p:nvSpPr>
        <p:spPr>
          <a:xfrm>
            <a:off x="2019270" y="1714500"/>
            <a:ext cx="381030" cy="381030"/>
          </a:xfrm>
          <a:prstGeom prst="roundRect">
            <a:avLst>
              <a:gd name="adj" fmla="val 4992"/>
            </a:avLst>
          </a:prstGeom>
          <a:ln w="12700">
            <a:solidFill>
              <a:srgbClr val="F4EEE1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81230" y="16763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一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43000" y="2324130"/>
            <a:ext cx="2133570" cy="66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A24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先打通数据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2057400" y="3067080"/>
            <a:ext cx="304770" cy="0"/>
          </a:xfrm>
          <a:prstGeom prst="line">
            <a:avLst/>
          </a:prstGeom>
          <a:noFill/>
          <a:ln w="25400">
            <a:solidFill>
              <a:srgbClr val="A832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0150" y="3257550"/>
            <a:ext cx="201927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建成集团统一数据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平台，34 个系统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的数据第一次能在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一张表里查到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505170" y="1714500"/>
            <a:ext cx="0" cy="4229100"/>
          </a:xfrm>
          <a:prstGeom prst="line">
            <a:avLst/>
          </a:prstGeom>
          <a:noFill/>
          <a:ln w="9525">
            <a:solidFill>
              <a:srgbClr val="B08D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676370"/>
            <a:ext cx="457200" cy="457200"/>
          </a:xfrm>
          <a:prstGeom prst="roundRect">
            <a:avLst>
              <a:gd name="adj" fmla="val 8340"/>
            </a:avLst>
          </a:prstGeom>
          <a:solidFill>
            <a:srgbClr val="A8322D"/>
          </a:solidFill>
          <a:ln/>
        </p:spPr>
      </p:sp>
      <p:sp>
        <p:nvSpPr>
          <p:cNvPr id="22" name="Shape 20"/>
          <p:cNvSpPr/>
          <p:nvPr/>
        </p:nvSpPr>
        <p:spPr>
          <a:xfrm>
            <a:off x="4610130" y="1714500"/>
            <a:ext cx="381030" cy="381030"/>
          </a:xfrm>
          <a:prstGeom prst="roundRect">
            <a:avLst>
              <a:gd name="adj" fmla="val 4992"/>
            </a:avLst>
          </a:prstGeom>
          <a:ln w="12700">
            <a:solidFill>
              <a:srgbClr val="F4EEE1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6763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二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733770" y="2324130"/>
            <a:ext cx="2133570" cy="66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A24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小步快跑上场景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4648170" y="3067080"/>
            <a:ext cx="304770" cy="0"/>
          </a:xfrm>
          <a:prstGeom prst="line">
            <a:avLst/>
          </a:prstGeom>
          <a:noFill/>
          <a:ln w="25400">
            <a:solidFill>
              <a:srgbClr val="A832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0920" y="3257550"/>
            <a:ext cx="201927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每个场景先在一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个部门试 30 天，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跑通了再推广，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失败成本可控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096030" y="1714500"/>
            <a:ext cx="0" cy="4229100"/>
          </a:xfrm>
          <a:prstGeom prst="line">
            <a:avLst/>
          </a:prstGeom>
          <a:noFill/>
          <a:ln w="9525">
            <a:solidFill>
              <a:srgbClr val="B08D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62770" y="1676370"/>
            <a:ext cx="457200" cy="457200"/>
          </a:xfrm>
          <a:prstGeom prst="roundRect">
            <a:avLst>
              <a:gd name="adj" fmla="val 8340"/>
            </a:avLst>
          </a:prstGeom>
          <a:solidFill>
            <a:srgbClr val="A8322D"/>
          </a:solidFill>
          <a:ln/>
        </p:spPr>
      </p:sp>
      <p:sp>
        <p:nvSpPr>
          <p:cNvPr id="29" name="Shape 27"/>
          <p:cNvSpPr/>
          <p:nvPr/>
        </p:nvSpPr>
        <p:spPr>
          <a:xfrm>
            <a:off x="7200900" y="1714500"/>
            <a:ext cx="381030" cy="381030"/>
          </a:xfrm>
          <a:prstGeom prst="roundRect">
            <a:avLst>
              <a:gd name="adj" fmla="val 4992"/>
            </a:avLst>
          </a:prstGeom>
          <a:ln w="12700">
            <a:solidFill>
              <a:srgbClr val="F4EEE1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62770" y="16763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三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324630" y="2324130"/>
            <a:ext cx="2133570" cy="66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A24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让业务部门出题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7239030" y="3067080"/>
            <a:ext cx="304770" cy="0"/>
          </a:xfrm>
          <a:prstGeom prst="line">
            <a:avLst/>
          </a:prstGeom>
          <a:noFill/>
          <a:ln w="25400">
            <a:solidFill>
              <a:srgbClr val="A832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1780" y="3257550"/>
            <a:ext cx="201927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场景需求全部由业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务部门提出，信息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中心负责实现，避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免建了没人用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8686800" y="1714500"/>
            <a:ext cx="0" cy="4229100"/>
          </a:xfrm>
          <a:prstGeom prst="line">
            <a:avLst/>
          </a:prstGeom>
          <a:noFill/>
          <a:ln w="9525">
            <a:solidFill>
              <a:srgbClr val="B08D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53630" y="1676370"/>
            <a:ext cx="457200" cy="457200"/>
          </a:xfrm>
          <a:prstGeom prst="roundRect">
            <a:avLst>
              <a:gd name="adj" fmla="val 8340"/>
            </a:avLst>
          </a:prstGeom>
          <a:solidFill>
            <a:srgbClr val="A8322D"/>
          </a:solidFill>
          <a:ln/>
        </p:spPr>
      </p:sp>
      <p:sp>
        <p:nvSpPr>
          <p:cNvPr id="36" name="Shape 34"/>
          <p:cNvSpPr/>
          <p:nvPr/>
        </p:nvSpPr>
        <p:spPr>
          <a:xfrm>
            <a:off x="9791670" y="1714500"/>
            <a:ext cx="381030" cy="381030"/>
          </a:xfrm>
          <a:prstGeom prst="roundRect">
            <a:avLst>
              <a:gd name="adj" fmla="val 4992"/>
            </a:avLst>
          </a:prstGeom>
          <a:ln w="12700">
            <a:solidFill>
              <a:srgbClr val="F4EEE1">
                <a:alpha val="7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53630" y="16763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四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915400" y="2324130"/>
            <a:ext cx="2133570" cy="66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A24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用数字考核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9829800" y="3067080"/>
            <a:ext cx="304770" cy="0"/>
          </a:xfrm>
          <a:prstGeom prst="line">
            <a:avLst/>
          </a:prstGeom>
          <a:noFill/>
          <a:ln w="25400">
            <a:solidFill>
              <a:srgbClr val="A832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72550" y="3257550"/>
            <a:ext cx="201927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每个场景上线前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先定好衡量指标，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季度复盘不达标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就下线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5905470" y="6229350"/>
            <a:ext cx="381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08D57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六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14400" y="6229350"/>
            <a:ext cx="4762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30" y="266730"/>
            <a:ext cx="11658600" cy="6324630"/>
          </a:xfrm>
          <a:prstGeom prst="rect">
            <a:avLst/>
          </a:prstGeom>
          <a:ln w="19050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900" y="342900"/>
            <a:ext cx="11506170" cy="6172200"/>
          </a:xfrm>
          <a:prstGeom prst="rect">
            <a:avLst/>
          </a:prstGeom>
          <a:ln w="6350">
            <a:solidFill>
              <a:srgbClr val="B08D5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67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5" name="Shape 3"/>
          <p:cNvSpPr/>
          <p:nvPr/>
        </p:nvSpPr>
        <p:spPr>
          <a:xfrm>
            <a:off x="118110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6" name="Shape 4"/>
          <p:cNvSpPr/>
          <p:nvPr/>
        </p:nvSpPr>
        <p:spPr>
          <a:xfrm>
            <a:off x="2667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7" name="Shape 5"/>
          <p:cNvSpPr/>
          <p:nvPr/>
        </p:nvSpPr>
        <p:spPr>
          <a:xfrm>
            <a:off x="118110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" y="4870917"/>
            <a:ext cx="11506170" cy="1644183"/>
          </a:xfrm>
          <a:custGeom>
            <a:avLst/>
            <a:gdLst/>
            <a:ahLst/>
            <a:cxnLst/>
            <a:rect l="l" t="t" r="r" b="b"/>
            <a:pathLst>
              <a:path w="11506170" h="1644183">
                <a:moveTo>
                  <a:pt x="0" y="1644183"/>
                </a:moveTo>
                <a:lnTo>
                  <a:pt x="0" y="115123"/>
                </a:lnTo>
                <a:lnTo>
                  <a:pt x="381030" y="0"/>
                </a:lnTo>
                <a:lnTo>
                  <a:pt x="761970" y="13807"/>
                </a:lnTo>
                <a:lnTo>
                  <a:pt x="1143000" y="154899"/>
                </a:lnTo>
                <a:lnTo>
                  <a:pt x="1524030" y="377190"/>
                </a:lnTo>
                <a:lnTo>
                  <a:pt x="1904970" y="608076"/>
                </a:lnTo>
                <a:lnTo>
                  <a:pt x="2286000" y="777331"/>
                </a:lnTo>
                <a:lnTo>
                  <a:pt x="2667030" y="843808"/>
                </a:lnTo>
                <a:lnTo>
                  <a:pt x="3047970" y="810341"/>
                </a:lnTo>
                <a:lnTo>
                  <a:pt x="3429000" y="719816"/>
                </a:lnTo>
                <a:lnTo>
                  <a:pt x="3810030" y="634594"/>
                </a:lnTo>
                <a:lnTo>
                  <a:pt x="4190970" y="608808"/>
                </a:lnTo>
                <a:lnTo>
                  <a:pt x="4572000" y="663854"/>
                </a:lnTo>
                <a:lnTo>
                  <a:pt x="4953030" y="778520"/>
                </a:lnTo>
                <a:lnTo>
                  <a:pt x="5333970" y="897941"/>
                </a:lnTo>
                <a:lnTo>
                  <a:pt x="5715000" y="956828"/>
                </a:lnTo>
                <a:lnTo>
                  <a:pt x="6096030" y="908274"/>
                </a:lnTo>
                <a:lnTo>
                  <a:pt x="6476970" y="744962"/>
                </a:lnTo>
                <a:lnTo>
                  <a:pt x="6858000" y="504932"/>
                </a:lnTo>
                <a:lnTo>
                  <a:pt x="7239030" y="258135"/>
                </a:lnTo>
                <a:lnTo>
                  <a:pt x="7619970" y="79736"/>
                </a:lnTo>
                <a:lnTo>
                  <a:pt x="8001000" y="21306"/>
                </a:lnTo>
                <a:lnTo>
                  <a:pt x="8382030" y="91257"/>
                </a:lnTo>
                <a:lnTo>
                  <a:pt x="8762970" y="252649"/>
                </a:lnTo>
                <a:lnTo>
                  <a:pt x="9144000" y="439278"/>
                </a:lnTo>
                <a:lnTo>
                  <a:pt x="9525030" y="583296"/>
                </a:lnTo>
                <a:lnTo>
                  <a:pt x="9905970" y="642366"/>
                </a:lnTo>
                <a:lnTo>
                  <a:pt x="10287000" y="616397"/>
                </a:lnTo>
                <a:lnTo>
                  <a:pt x="10668030" y="544708"/>
                </a:lnTo>
                <a:lnTo>
                  <a:pt x="11048970" y="487741"/>
                </a:lnTo>
                <a:lnTo>
                  <a:pt x="11430000" y="498988"/>
                </a:lnTo>
                <a:lnTo>
                  <a:pt x="11506170" y="1644183"/>
                </a:lnTo>
                <a:close/>
              </a:path>
            </a:pathLst>
          </a:custGeom>
          <a:solidFill>
            <a:srgbClr val="2E4A62">
              <a:alpha val="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42900" y="5351435"/>
            <a:ext cx="11506170" cy="1163665"/>
          </a:xfrm>
          <a:custGeom>
            <a:avLst/>
            <a:gdLst/>
            <a:ahLst/>
            <a:cxnLst/>
            <a:rect l="l" t="t" r="r" b="b"/>
            <a:pathLst>
              <a:path w="11506170" h="1163665">
                <a:moveTo>
                  <a:pt x="0" y="1163665"/>
                </a:moveTo>
                <a:lnTo>
                  <a:pt x="0" y="91257"/>
                </a:lnTo>
                <a:lnTo>
                  <a:pt x="381030" y="112746"/>
                </a:lnTo>
                <a:lnTo>
                  <a:pt x="761970" y="348478"/>
                </a:lnTo>
                <a:lnTo>
                  <a:pt x="1143000" y="715792"/>
                </a:lnTo>
                <a:lnTo>
                  <a:pt x="1524030" y="1047537"/>
                </a:lnTo>
                <a:lnTo>
                  <a:pt x="1904970" y="1163665"/>
                </a:lnTo>
                <a:lnTo>
                  <a:pt x="2286000" y="1088410"/>
                </a:lnTo>
                <a:lnTo>
                  <a:pt x="2667030" y="824332"/>
                </a:lnTo>
                <a:lnTo>
                  <a:pt x="3047970" y="552846"/>
                </a:lnTo>
                <a:lnTo>
                  <a:pt x="3429000" y="409651"/>
                </a:lnTo>
                <a:lnTo>
                  <a:pt x="3810030" y="428396"/>
                </a:lnTo>
                <a:lnTo>
                  <a:pt x="4190970" y="528432"/>
                </a:lnTo>
                <a:lnTo>
                  <a:pt x="4572000" y="576529"/>
                </a:lnTo>
                <a:lnTo>
                  <a:pt x="4953030" y="483535"/>
                </a:lnTo>
                <a:lnTo>
                  <a:pt x="5333970" y="269931"/>
                </a:lnTo>
                <a:lnTo>
                  <a:pt x="5715000" y="59070"/>
                </a:lnTo>
                <a:lnTo>
                  <a:pt x="6096030" y="0"/>
                </a:lnTo>
                <a:lnTo>
                  <a:pt x="6476970" y="169347"/>
                </a:lnTo>
                <a:lnTo>
                  <a:pt x="6858000" y="516636"/>
                </a:lnTo>
                <a:lnTo>
                  <a:pt x="7239030" y="887425"/>
                </a:lnTo>
                <a:lnTo>
                  <a:pt x="7619970" y="1112368"/>
                </a:lnTo>
                <a:lnTo>
                  <a:pt x="8001000" y="1105418"/>
                </a:lnTo>
                <a:lnTo>
                  <a:pt x="8382030" y="910194"/>
                </a:lnTo>
                <a:lnTo>
                  <a:pt x="8762970" y="665866"/>
                </a:lnTo>
                <a:lnTo>
                  <a:pt x="9144000" y="515996"/>
                </a:lnTo>
                <a:lnTo>
                  <a:pt x="9525030" y="518008"/>
                </a:lnTo>
                <a:lnTo>
                  <a:pt x="9905970" y="612465"/>
                </a:lnTo>
                <a:lnTo>
                  <a:pt x="10287000" y="669889"/>
                </a:lnTo>
                <a:lnTo>
                  <a:pt x="10668030" y="584576"/>
                </a:lnTo>
                <a:lnTo>
                  <a:pt x="11048970" y="352958"/>
                </a:lnTo>
                <a:lnTo>
                  <a:pt x="11430000" y="84582"/>
                </a:lnTo>
                <a:lnTo>
                  <a:pt x="11506170" y="1163665"/>
                </a:lnTo>
                <a:close/>
              </a:path>
            </a:pathLst>
          </a:custGeom>
          <a:solidFill>
            <a:srgbClr val="2E4A62">
              <a:alpha val="11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" y="6009894"/>
            <a:ext cx="11506170" cy="505206"/>
          </a:xfrm>
          <a:custGeom>
            <a:avLst/>
            <a:gdLst/>
            <a:ahLst/>
            <a:cxnLst/>
            <a:rect l="l" t="t" r="r" b="b"/>
            <a:pathLst>
              <a:path w="11506170" h="505206">
                <a:moveTo>
                  <a:pt x="0" y="505206"/>
                </a:moveTo>
                <a:lnTo>
                  <a:pt x="0" y="282458"/>
                </a:lnTo>
                <a:lnTo>
                  <a:pt x="381030" y="354239"/>
                </a:lnTo>
                <a:lnTo>
                  <a:pt x="761970" y="505206"/>
                </a:lnTo>
                <a:lnTo>
                  <a:pt x="1143000" y="505206"/>
                </a:lnTo>
                <a:lnTo>
                  <a:pt x="1524030" y="505206"/>
                </a:lnTo>
                <a:lnTo>
                  <a:pt x="1904970" y="505206"/>
                </a:lnTo>
                <a:lnTo>
                  <a:pt x="2286000" y="231069"/>
                </a:lnTo>
                <a:lnTo>
                  <a:pt x="2667030" y="10790"/>
                </a:lnTo>
                <a:lnTo>
                  <a:pt x="3047970" y="19111"/>
                </a:lnTo>
                <a:lnTo>
                  <a:pt x="3429000" y="191750"/>
                </a:lnTo>
                <a:lnTo>
                  <a:pt x="3810030" y="352135"/>
                </a:lnTo>
                <a:lnTo>
                  <a:pt x="4190970" y="376276"/>
                </a:lnTo>
                <a:lnTo>
                  <a:pt x="4572000" y="299832"/>
                </a:lnTo>
                <a:lnTo>
                  <a:pt x="4953030" y="272491"/>
                </a:lnTo>
                <a:lnTo>
                  <a:pt x="5333970" y="402976"/>
                </a:lnTo>
                <a:lnTo>
                  <a:pt x="5715000" y="505206"/>
                </a:lnTo>
                <a:lnTo>
                  <a:pt x="6096030" y="505206"/>
                </a:lnTo>
                <a:lnTo>
                  <a:pt x="6476970" y="505206"/>
                </a:lnTo>
                <a:lnTo>
                  <a:pt x="6858000" y="469727"/>
                </a:lnTo>
                <a:lnTo>
                  <a:pt x="7239030" y="153711"/>
                </a:lnTo>
                <a:lnTo>
                  <a:pt x="7619970" y="0"/>
                </a:lnTo>
                <a:lnTo>
                  <a:pt x="8001000" y="70866"/>
                </a:lnTo>
                <a:lnTo>
                  <a:pt x="8382030" y="251917"/>
                </a:lnTo>
                <a:lnTo>
                  <a:pt x="8762970" y="367223"/>
                </a:lnTo>
                <a:lnTo>
                  <a:pt x="9144000" y="341528"/>
                </a:lnTo>
                <a:lnTo>
                  <a:pt x="9525030" y="261518"/>
                </a:lnTo>
                <a:lnTo>
                  <a:pt x="9905970" y="282458"/>
                </a:lnTo>
                <a:lnTo>
                  <a:pt x="10287000" y="467716"/>
                </a:lnTo>
                <a:lnTo>
                  <a:pt x="10668030" y="505206"/>
                </a:lnTo>
                <a:lnTo>
                  <a:pt x="11048970" y="505206"/>
                </a:lnTo>
                <a:lnTo>
                  <a:pt x="11430000" y="505206"/>
                </a:lnTo>
                <a:lnTo>
                  <a:pt x="11506170" y="505206"/>
                </a:lnTo>
                <a:close/>
              </a:path>
            </a:pathLst>
          </a:custGeom>
          <a:solidFill>
            <a:srgbClr val="2E4A62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38530" y="1714500"/>
            <a:ext cx="571500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600" kern="0" dirty="0">
                <a:solidFill>
                  <a:srgbClr val="A8322D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第二章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04970" y="2190720"/>
            <a:ext cx="838203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spc="400" kern="0" dirty="0">
                <a:solidFill>
                  <a:srgbClr val="2A24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明年工作计划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5238780" y="3295680"/>
            <a:ext cx="1714500" cy="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6048390" y="3248040"/>
            <a:ext cx="95280" cy="9528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15" name="Text 13"/>
          <p:cNvSpPr/>
          <p:nvPr/>
        </p:nvSpPr>
        <p:spPr>
          <a:xfrm>
            <a:off x="1904970" y="3505170"/>
            <a:ext cx="83820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从「能用」走向「好用」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30" y="266730"/>
            <a:ext cx="11658600" cy="6324630"/>
          </a:xfrm>
          <a:prstGeom prst="rect">
            <a:avLst/>
          </a:prstGeom>
          <a:ln w="19050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900" y="342900"/>
            <a:ext cx="11506170" cy="6172200"/>
          </a:xfrm>
          <a:prstGeom prst="rect">
            <a:avLst/>
          </a:prstGeom>
          <a:ln w="6350">
            <a:solidFill>
              <a:srgbClr val="B08D5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67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5" name="Shape 3"/>
          <p:cNvSpPr/>
          <p:nvPr/>
        </p:nvSpPr>
        <p:spPr>
          <a:xfrm>
            <a:off x="118110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6" name="Shape 4"/>
          <p:cNvSpPr/>
          <p:nvPr/>
        </p:nvSpPr>
        <p:spPr>
          <a:xfrm>
            <a:off x="2667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7" name="Shape 5"/>
          <p:cNvSpPr/>
          <p:nvPr/>
        </p:nvSpPr>
        <p:spPr>
          <a:xfrm>
            <a:off x="118110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09630"/>
            <a:ext cx="228600" cy="228600"/>
          </a:xfrm>
          <a:prstGeom prst="roundRect">
            <a:avLst>
              <a:gd name="adj" fmla="val 12520"/>
            </a:avLst>
          </a:prstGeom>
          <a:solidFill>
            <a:srgbClr val="A8322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60963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5430" y="514350"/>
            <a:ext cx="998223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A24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2027 年分四个阶段推进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1104870"/>
            <a:ext cx="10363170" cy="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152510"/>
            <a:ext cx="10363170" cy="0"/>
          </a:xfrm>
          <a:prstGeom prst="line">
            <a:avLst/>
          </a:prstGeom>
          <a:noFill/>
          <a:ln w="6350">
            <a:solidFill>
              <a:srgbClr val="B08D57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6048390" y="1076340"/>
            <a:ext cx="95280" cy="9528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400471"/>
            <a:ext cx="10363170" cy="0"/>
          </a:xfrm>
          <a:prstGeom prst="line">
            <a:avLst/>
          </a:prstGeom>
          <a:noFill/>
          <a:ln w="25400">
            <a:solidFill>
              <a:srgbClr val="D8CD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24060" y="3314700"/>
            <a:ext cx="171450" cy="171450"/>
          </a:xfrm>
          <a:prstGeom prst="ellipse">
            <a:avLst/>
          </a:prstGeom>
          <a:solidFill>
            <a:srgbClr val="A8322D"/>
          </a:solidFill>
          <a:ln/>
        </p:spPr>
      </p:sp>
      <p:sp>
        <p:nvSpPr>
          <p:cNvPr id="16" name="Text 14"/>
          <p:cNvSpPr/>
          <p:nvPr/>
        </p:nvSpPr>
        <p:spPr>
          <a:xfrm>
            <a:off x="990570" y="2733690"/>
            <a:ext cx="24384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A832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Q1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90570" y="3648090"/>
            <a:ext cx="24384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摸底与规划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28700" y="4257721"/>
            <a:ext cx="23621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梳理全部业务流程，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确定第二批场景清单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714921" y="3314700"/>
            <a:ext cx="171450" cy="171450"/>
          </a:xfrm>
          <a:prstGeom prst="ellipse">
            <a:avLst/>
          </a:prstGeom>
          <a:solidFill>
            <a:srgbClr val="A8322D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30" y="2733690"/>
            <a:ext cx="24384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A832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Q2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3581430" y="3648090"/>
            <a:ext cx="24384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平台升级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619470" y="4257721"/>
            <a:ext cx="23621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数据平台扩容，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接入生产一线设备数据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305690" y="3314700"/>
            <a:ext cx="171450" cy="171450"/>
          </a:xfrm>
          <a:prstGeom prst="ellipse">
            <a:avLst/>
          </a:prstGeom>
          <a:solidFill>
            <a:srgbClr val="A8322D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2733690"/>
            <a:ext cx="24384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A832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Q3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6172200" y="3648090"/>
            <a:ext cx="24384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智能化试点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10330" y="4257721"/>
            <a:ext cx="23621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在财务和采购两个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部门试点 AI 助手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896460" y="3314700"/>
            <a:ext cx="171450" cy="171450"/>
          </a:xfrm>
          <a:prstGeom prst="ellipse">
            <a:avLst/>
          </a:prstGeom>
          <a:solidFill>
            <a:srgbClr val="A8322D"/>
          </a:solidFill>
          <a:ln/>
        </p:spPr>
      </p:sp>
      <p:sp>
        <p:nvSpPr>
          <p:cNvPr id="28" name="Text 26"/>
          <p:cNvSpPr/>
          <p:nvPr/>
        </p:nvSpPr>
        <p:spPr>
          <a:xfrm>
            <a:off x="8762970" y="2733690"/>
            <a:ext cx="24384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A832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Q4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8762970" y="3648090"/>
            <a:ext cx="24384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全面推广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801100" y="4257721"/>
            <a:ext cx="23621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试点成功的场景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推广到全集团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905470" y="6229350"/>
            <a:ext cx="381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08D57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八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6229350"/>
            <a:ext cx="4762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30" y="266730"/>
            <a:ext cx="11658600" cy="6324630"/>
          </a:xfrm>
          <a:prstGeom prst="rect">
            <a:avLst/>
          </a:prstGeom>
          <a:ln w="19050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900" y="342900"/>
            <a:ext cx="11506170" cy="6172200"/>
          </a:xfrm>
          <a:prstGeom prst="rect">
            <a:avLst/>
          </a:prstGeom>
          <a:ln w="6350">
            <a:solidFill>
              <a:srgbClr val="B08D5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67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5" name="Shape 3"/>
          <p:cNvSpPr/>
          <p:nvPr/>
        </p:nvSpPr>
        <p:spPr>
          <a:xfrm>
            <a:off x="118110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6" name="Shape 4"/>
          <p:cNvSpPr/>
          <p:nvPr/>
        </p:nvSpPr>
        <p:spPr>
          <a:xfrm>
            <a:off x="2667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7" name="Shape 5"/>
          <p:cNvSpPr/>
          <p:nvPr/>
        </p:nvSpPr>
        <p:spPr>
          <a:xfrm>
            <a:off x="118110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09630"/>
            <a:ext cx="228600" cy="228600"/>
          </a:xfrm>
          <a:prstGeom prst="roundRect">
            <a:avLst>
              <a:gd name="adj" fmla="val 12520"/>
            </a:avLst>
          </a:prstGeom>
          <a:solidFill>
            <a:srgbClr val="A8322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60963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5430" y="514350"/>
            <a:ext cx="998223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A24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新场景上线统一走五步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1104870"/>
            <a:ext cx="10363170" cy="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152510"/>
            <a:ext cx="10363170" cy="0"/>
          </a:xfrm>
          <a:prstGeom prst="line">
            <a:avLst/>
          </a:prstGeom>
          <a:noFill/>
          <a:ln w="6350">
            <a:solidFill>
              <a:srgbClr val="B08D57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6048390" y="1076340"/>
            <a:ext cx="95280" cy="9528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352660"/>
            <a:ext cx="1897380" cy="685800"/>
          </a:xfrm>
          <a:custGeom>
            <a:avLst/>
            <a:gdLst/>
            <a:ahLst/>
            <a:cxnLst/>
            <a:rect l="l" t="t" r="r" b="b"/>
            <a:pathLst>
              <a:path w="1897380" h="685800">
                <a:moveTo>
                  <a:pt x="0" y="0"/>
                </a:moveTo>
                <a:lnTo>
                  <a:pt x="1687800" y="0"/>
                </a:lnTo>
                <a:lnTo>
                  <a:pt x="1897380" y="342900"/>
                </a:lnTo>
                <a:lnTo>
                  <a:pt x="1687800" y="685800"/>
                </a:lnTo>
                <a:lnTo>
                  <a:pt x="0" y="685800"/>
                </a:lnTo>
                <a:lnTo>
                  <a:pt x="0" y="342900"/>
                </a:lnTo>
                <a:close/>
              </a:path>
            </a:pathLst>
          </a:custGeom>
          <a:solidFill>
            <a:srgbClr val="EDE4D2"/>
          </a:solidFill>
          <a:ln/>
        </p:spPr>
      </p:sp>
      <p:sp>
        <p:nvSpPr>
          <p:cNvPr id="15" name="Text 13"/>
          <p:cNvSpPr/>
          <p:nvPr/>
        </p:nvSpPr>
        <p:spPr>
          <a:xfrm>
            <a:off x="1123980" y="2486071"/>
            <a:ext cx="147831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业务出题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3267060"/>
            <a:ext cx="185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A832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STEP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571921"/>
            <a:ext cx="185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业务部门写清楚要解决什么问题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040380" y="2352660"/>
            <a:ext cx="1897380" cy="685800"/>
          </a:xfrm>
          <a:custGeom>
            <a:avLst/>
            <a:gdLst/>
            <a:ahLst/>
            <a:cxnLst/>
            <a:rect l="l" t="t" r="r" b="b"/>
            <a:pathLst>
              <a:path w="1897380" h="685800">
                <a:moveTo>
                  <a:pt x="0" y="0"/>
                </a:moveTo>
                <a:lnTo>
                  <a:pt x="1687800" y="0"/>
                </a:lnTo>
                <a:lnTo>
                  <a:pt x="1897380" y="342900"/>
                </a:lnTo>
                <a:lnTo>
                  <a:pt x="168780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EDE4D2"/>
          </a:solidFill>
          <a:ln/>
        </p:spPr>
      </p:sp>
      <p:sp>
        <p:nvSpPr>
          <p:cNvPr id="19" name="Text 17"/>
          <p:cNvSpPr/>
          <p:nvPr/>
        </p:nvSpPr>
        <p:spPr>
          <a:xfrm>
            <a:off x="3249960" y="2486071"/>
            <a:ext cx="147831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评估立项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040380" y="3267060"/>
            <a:ext cx="185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A832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STEP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40380" y="3571921"/>
            <a:ext cx="185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信息中心评估投入产出，两周内答复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166360" y="2352660"/>
            <a:ext cx="1897380" cy="685800"/>
          </a:xfrm>
          <a:custGeom>
            <a:avLst/>
            <a:gdLst/>
            <a:ahLst/>
            <a:cxnLst/>
            <a:rect l="l" t="t" r="r" b="b"/>
            <a:pathLst>
              <a:path w="1897380" h="685800">
                <a:moveTo>
                  <a:pt x="0" y="0"/>
                </a:moveTo>
                <a:lnTo>
                  <a:pt x="1687800" y="0"/>
                </a:lnTo>
                <a:lnTo>
                  <a:pt x="1897380" y="342900"/>
                </a:lnTo>
                <a:lnTo>
                  <a:pt x="168780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EDE4D2"/>
          </a:solidFill>
          <a:ln/>
        </p:spPr>
      </p:sp>
      <p:sp>
        <p:nvSpPr>
          <p:cNvPr id="23" name="Text 21"/>
          <p:cNvSpPr/>
          <p:nvPr/>
        </p:nvSpPr>
        <p:spPr>
          <a:xfrm>
            <a:off x="5375940" y="2486071"/>
            <a:ext cx="147831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 30 天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166360" y="3267060"/>
            <a:ext cx="185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A832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STEP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3571921"/>
            <a:ext cx="185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在一个部门小范围试用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292340" y="2352660"/>
            <a:ext cx="1897380" cy="685800"/>
          </a:xfrm>
          <a:custGeom>
            <a:avLst/>
            <a:gdLst/>
            <a:ahLst/>
            <a:cxnLst/>
            <a:rect l="l" t="t" r="r" b="b"/>
            <a:pathLst>
              <a:path w="1897380" h="685800">
                <a:moveTo>
                  <a:pt x="0" y="0"/>
                </a:moveTo>
                <a:lnTo>
                  <a:pt x="1687800" y="0"/>
                </a:lnTo>
                <a:lnTo>
                  <a:pt x="1897380" y="342900"/>
                </a:lnTo>
                <a:lnTo>
                  <a:pt x="168780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EDE4D2"/>
          </a:solidFill>
          <a:ln/>
        </p:spPr>
      </p:sp>
      <p:sp>
        <p:nvSpPr>
          <p:cNvPr id="27" name="Text 25"/>
          <p:cNvSpPr/>
          <p:nvPr/>
        </p:nvSpPr>
        <p:spPr>
          <a:xfrm>
            <a:off x="7501920" y="2486071"/>
            <a:ext cx="147831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复盘定夺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92340" y="3267060"/>
            <a:ext cx="185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A832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STEP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92340" y="3571921"/>
            <a:ext cx="185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看指标决定推广、调整还是下线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418320" y="2352660"/>
            <a:ext cx="1897380" cy="685800"/>
          </a:xfrm>
          <a:custGeom>
            <a:avLst/>
            <a:gdLst/>
            <a:ahLst/>
            <a:cxnLst/>
            <a:rect l="l" t="t" r="r" b="b"/>
            <a:pathLst>
              <a:path w="1897380" h="685800">
                <a:moveTo>
                  <a:pt x="0" y="0"/>
                </a:moveTo>
                <a:lnTo>
                  <a:pt x="1687800" y="0"/>
                </a:lnTo>
                <a:lnTo>
                  <a:pt x="1897380" y="342900"/>
                </a:lnTo>
                <a:lnTo>
                  <a:pt x="168780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A8322D"/>
          </a:solidFill>
          <a:ln/>
        </p:spPr>
      </p:sp>
      <p:sp>
        <p:nvSpPr>
          <p:cNvPr id="31" name="Text 29"/>
          <p:cNvSpPr/>
          <p:nvPr/>
        </p:nvSpPr>
        <p:spPr>
          <a:xfrm>
            <a:off x="9627900" y="2486071"/>
            <a:ext cx="147831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全面推广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418320" y="3267060"/>
            <a:ext cx="185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A832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STEP 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418320" y="3571921"/>
            <a:ext cx="185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形成操作手册，全集团铺开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905470" y="6229350"/>
            <a:ext cx="381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08D57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九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4400" y="6229350"/>
            <a:ext cx="4762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30" y="266730"/>
            <a:ext cx="11658600" cy="6324630"/>
          </a:xfrm>
          <a:prstGeom prst="rect">
            <a:avLst/>
          </a:prstGeom>
          <a:ln w="19050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900" y="342900"/>
            <a:ext cx="11506170" cy="6172200"/>
          </a:xfrm>
          <a:prstGeom prst="rect">
            <a:avLst/>
          </a:prstGeom>
          <a:ln w="6350">
            <a:solidFill>
              <a:srgbClr val="B08D5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67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5" name="Shape 3"/>
          <p:cNvSpPr/>
          <p:nvPr/>
        </p:nvSpPr>
        <p:spPr>
          <a:xfrm>
            <a:off x="118110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6" name="Shape 4"/>
          <p:cNvSpPr/>
          <p:nvPr/>
        </p:nvSpPr>
        <p:spPr>
          <a:xfrm>
            <a:off x="2667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7" name="Shape 5"/>
          <p:cNvSpPr/>
          <p:nvPr/>
        </p:nvSpPr>
        <p:spPr>
          <a:xfrm>
            <a:off x="118110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09630"/>
            <a:ext cx="228600" cy="228600"/>
          </a:xfrm>
          <a:prstGeom prst="roundRect">
            <a:avLst>
              <a:gd name="adj" fmla="val 12520"/>
            </a:avLst>
          </a:prstGeom>
          <a:solidFill>
            <a:srgbClr val="A8322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60963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5430" y="514350"/>
            <a:ext cx="998223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A24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从「能用」到「好用」，要补三块短板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1104870"/>
            <a:ext cx="10363170" cy="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152510"/>
            <a:ext cx="10363170" cy="0"/>
          </a:xfrm>
          <a:prstGeom prst="line">
            <a:avLst/>
          </a:prstGeom>
          <a:noFill/>
          <a:ln w="6350">
            <a:solidFill>
              <a:srgbClr val="B08D57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6048390" y="1076340"/>
            <a:ext cx="95280" cy="9528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238360"/>
            <a:ext cx="4991070" cy="3086100"/>
          </a:xfrm>
          <a:prstGeom prst="roundRect">
            <a:avLst>
              <a:gd name="adj" fmla="val 1852"/>
            </a:avLst>
          </a:prstGeom>
          <a:solidFill>
            <a:srgbClr val="EDE4D2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2238360"/>
            <a:ext cx="4991070" cy="533370"/>
          </a:xfrm>
          <a:prstGeom prst="roundRect">
            <a:avLst>
              <a:gd name="adj" fmla="val 10715"/>
            </a:avLst>
          </a:prstGeom>
          <a:solidFill>
            <a:srgbClr val="D3C6AE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2333640"/>
            <a:ext cx="45338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现在：能用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181130" y="3152760"/>
            <a:ext cx="85771" cy="85771"/>
          </a:xfrm>
          <a:prstGeom prst="ellipse">
            <a:avLst/>
          </a:prstGeom>
          <a:solidFill>
            <a:srgbClr val="6B5E52"/>
          </a:solidFill>
          <a:ln/>
        </p:spPr>
      </p:sp>
      <p:sp>
        <p:nvSpPr>
          <p:cNvPr id="18" name="Text 16"/>
          <p:cNvSpPr/>
          <p:nvPr/>
        </p:nvSpPr>
        <p:spPr>
          <a:xfrm>
            <a:off x="1390620" y="3038460"/>
            <a:ext cx="43243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系统上了，但很多人还是习惯线下填表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1130" y="3876690"/>
            <a:ext cx="85771" cy="85771"/>
          </a:xfrm>
          <a:prstGeom prst="ellipse">
            <a:avLst/>
          </a:prstGeom>
          <a:solidFill>
            <a:srgbClr val="6B5E52"/>
          </a:solidFill>
          <a:ln/>
        </p:spPr>
      </p:sp>
      <p:sp>
        <p:nvSpPr>
          <p:cNvPr id="20" name="Text 18"/>
          <p:cNvSpPr/>
          <p:nvPr/>
        </p:nvSpPr>
        <p:spPr>
          <a:xfrm>
            <a:off x="1390620" y="3762390"/>
            <a:ext cx="43243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数据能查，但要找信息中心导出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181130" y="4600621"/>
            <a:ext cx="85771" cy="85771"/>
          </a:xfrm>
          <a:prstGeom prst="ellipse">
            <a:avLst/>
          </a:prstGeom>
          <a:solidFill>
            <a:srgbClr val="6B5E52"/>
          </a:solidFill>
          <a:ln/>
        </p:spPr>
      </p:sp>
      <p:sp>
        <p:nvSpPr>
          <p:cNvPr id="22" name="Text 20"/>
          <p:cNvSpPr/>
          <p:nvPr/>
        </p:nvSpPr>
        <p:spPr>
          <a:xfrm>
            <a:off x="1390620" y="4486321"/>
            <a:ext cx="43243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每个系统一套账号密码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86500" y="2238360"/>
            <a:ext cx="4991070" cy="3086100"/>
          </a:xfrm>
          <a:prstGeom prst="roundRect">
            <a:avLst>
              <a:gd name="adj" fmla="val 1852"/>
            </a:avLst>
          </a:prstGeom>
          <a:solidFill>
            <a:srgbClr val="EDE4D2"/>
          </a:solidFill>
          <a:ln/>
        </p:spPr>
      </p:sp>
      <p:sp>
        <p:nvSpPr>
          <p:cNvPr id="24" name="Shape 22"/>
          <p:cNvSpPr/>
          <p:nvPr/>
        </p:nvSpPr>
        <p:spPr>
          <a:xfrm>
            <a:off x="6286500" y="2238360"/>
            <a:ext cx="4991070" cy="533370"/>
          </a:xfrm>
          <a:prstGeom prst="roundRect">
            <a:avLst>
              <a:gd name="adj" fmla="val 10715"/>
            </a:avLst>
          </a:prstGeom>
          <a:solidFill>
            <a:srgbClr val="A8322D"/>
          </a:solidFill>
          <a:ln/>
        </p:spPr>
      </p:sp>
      <p:sp>
        <p:nvSpPr>
          <p:cNvPr id="25" name="Text 23"/>
          <p:cNvSpPr/>
          <p:nvPr/>
        </p:nvSpPr>
        <p:spPr>
          <a:xfrm>
            <a:off x="6515100" y="2333640"/>
            <a:ext cx="45338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明年：好用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53230" y="3152760"/>
            <a:ext cx="85771" cy="85771"/>
          </a:xfrm>
          <a:prstGeom prst="ellipse">
            <a:avLst/>
          </a:prstGeom>
          <a:solidFill>
            <a:srgbClr val="A8322D"/>
          </a:solidFill>
          <a:ln/>
        </p:spPr>
      </p:sp>
      <p:sp>
        <p:nvSpPr>
          <p:cNvPr id="27" name="Text 25"/>
          <p:cNvSpPr/>
          <p:nvPr/>
        </p:nvSpPr>
        <p:spPr>
          <a:xfrm>
            <a:off x="6762720" y="3038460"/>
            <a:ext cx="43243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手机上就能办完 80% 的日常审批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553230" y="3876690"/>
            <a:ext cx="85771" cy="85771"/>
          </a:xfrm>
          <a:prstGeom prst="ellipse">
            <a:avLst/>
          </a:prstGeom>
          <a:solidFill>
            <a:srgbClr val="A8322D"/>
          </a:solidFill>
          <a:ln/>
        </p:spPr>
      </p:sp>
      <p:sp>
        <p:nvSpPr>
          <p:cNvPr id="29" name="Text 27"/>
          <p:cNvSpPr/>
          <p:nvPr/>
        </p:nvSpPr>
        <p:spPr>
          <a:xfrm>
            <a:off x="6762720" y="3762390"/>
            <a:ext cx="43243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业务人员自己拖拽出报表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53230" y="4600621"/>
            <a:ext cx="85771" cy="85771"/>
          </a:xfrm>
          <a:prstGeom prst="ellipse">
            <a:avLst/>
          </a:prstGeom>
          <a:solidFill>
            <a:srgbClr val="A8322D"/>
          </a:solidFill>
          <a:ln/>
        </p:spPr>
      </p:sp>
      <p:sp>
        <p:nvSpPr>
          <p:cNvPr id="31" name="Text 29"/>
          <p:cNvSpPr/>
          <p:nvPr/>
        </p:nvSpPr>
        <p:spPr>
          <a:xfrm>
            <a:off x="6762720" y="4486321"/>
            <a:ext cx="43243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A24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一个账号登录所有系统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905470" y="6229350"/>
            <a:ext cx="381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08D57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十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6229350"/>
            <a:ext cx="4762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30" y="266730"/>
            <a:ext cx="11658600" cy="6324630"/>
          </a:xfrm>
          <a:prstGeom prst="rect">
            <a:avLst/>
          </a:prstGeom>
          <a:ln w="19050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900" y="342900"/>
            <a:ext cx="11506170" cy="6172200"/>
          </a:xfrm>
          <a:prstGeom prst="rect">
            <a:avLst/>
          </a:prstGeom>
          <a:ln w="6350">
            <a:solidFill>
              <a:srgbClr val="B08D5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67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5" name="Shape 3"/>
          <p:cNvSpPr/>
          <p:nvPr/>
        </p:nvSpPr>
        <p:spPr>
          <a:xfrm>
            <a:off x="118110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6" name="Shape 4"/>
          <p:cNvSpPr/>
          <p:nvPr/>
        </p:nvSpPr>
        <p:spPr>
          <a:xfrm>
            <a:off x="2667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7" name="Shape 5"/>
          <p:cNvSpPr/>
          <p:nvPr/>
        </p:nvSpPr>
        <p:spPr>
          <a:xfrm>
            <a:off x="118110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09630"/>
            <a:ext cx="228600" cy="228600"/>
          </a:xfrm>
          <a:prstGeom prst="roundRect">
            <a:avLst>
              <a:gd name="adj" fmla="val 12520"/>
            </a:avLst>
          </a:prstGeom>
          <a:solidFill>
            <a:srgbClr val="A8322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60963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5430" y="514350"/>
            <a:ext cx="9982230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A24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2027 年重点项目与预算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1104870"/>
            <a:ext cx="10363170" cy="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152510"/>
            <a:ext cx="10363170" cy="0"/>
          </a:xfrm>
          <a:prstGeom prst="line">
            <a:avLst/>
          </a:prstGeom>
          <a:noFill/>
          <a:ln w="6350">
            <a:solidFill>
              <a:srgbClr val="B08D57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6048390" y="1076340"/>
            <a:ext cx="95280" cy="95280"/>
          </a:xfrm>
          <a:prstGeom prst="rect">
            <a:avLst/>
          </a:prstGeom>
          <a:solidFill>
            <a:srgbClr val="A8322D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28750"/>
          <a:ext cx="10363170" cy="914400"/>
        </p:xfrm>
        <a:graphic>
          <a:graphicData uri="http://schemas.openxmlformats.org/drawingml/2006/table">
            <a:tbl>
              <a:tblPr/>
              <a:tblGrid>
                <a:gridCol w="2590770"/>
                <a:gridCol w="2590770"/>
                <a:gridCol w="2590770"/>
                <a:gridCol w="2590770"/>
              </a:tblGrid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牵头部门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完成时间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预算（万元）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D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数据平台扩容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信息中心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2027年6月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移动办公升级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办公室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2027年4月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2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财务AI助手试点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财务部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2027年9月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统一身份认证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信息中心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2027年3月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2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设备数据接入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生产部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2027年10月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A24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210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905470" y="6229350"/>
            <a:ext cx="381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08D57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十一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14400" y="6229350"/>
            <a:ext cx="4762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5E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30" y="266730"/>
            <a:ext cx="11658600" cy="6324630"/>
          </a:xfrm>
          <a:prstGeom prst="rect">
            <a:avLst/>
          </a:prstGeom>
          <a:ln w="19050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900" y="342900"/>
            <a:ext cx="11506170" cy="6172200"/>
          </a:xfrm>
          <a:prstGeom prst="rect">
            <a:avLst/>
          </a:prstGeom>
          <a:ln w="6350">
            <a:solidFill>
              <a:srgbClr val="B08D5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67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5" name="Shape 3"/>
          <p:cNvSpPr/>
          <p:nvPr/>
        </p:nvSpPr>
        <p:spPr>
          <a:xfrm>
            <a:off x="118110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6" name="Shape 4"/>
          <p:cNvSpPr/>
          <p:nvPr/>
        </p:nvSpPr>
        <p:spPr>
          <a:xfrm>
            <a:off x="2667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7" name="Shape 5"/>
          <p:cNvSpPr/>
          <p:nvPr/>
        </p:nvSpPr>
        <p:spPr>
          <a:xfrm>
            <a:off x="118110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" y="4870917"/>
            <a:ext cx="11506170" cy="1644183"/>
          </a:xfrm>
          <a:custGeom>
            <a:avLst/>
            <a:gdLst/>
            <a:ahLst/>
            <a:cxnLst/>
            <a:rect l="l" t="t" r="r" b="b"/>
            <a:pathLst>
              <a:path w="11506170" h="1644183">
                <a:moveTo>
                  <a:pt x="0" y="1644183"/>
                </a:moveTo>
                <a:lnTo>
                  <a:pt x="0" y="115123"/>
                </a:lnTo>
                <a:lnTo>
                  <a:pt x="381030" y="0"/>
                </a:lnTo>
                <a:lnTo>
                  <a:pt x="761970" y="13807"/>
                </a:lnTo>
                <a:lnTo>
                  <a:pt x="1143000" y="154899"/>
                </a:lnTo>
                <a:lnTo>
                  <a:pt x="1524030" y="377190"/>
                </a:lnTo>
                <a:lnTo>
                  <a:pt x="1904970" y="608076"/>
                </a:lnTo>
                <a:lnTo>
                  <a:pt x="2286000" y="777331"/>
                </a:lnTo>
                <a:lnTo>
                  <a:pt x="2667030" y="843808"/>
                </a:lnTo>
                <a:lnTo>
                  <a:pt x="3047970" y="810341"/>
                </a:lnTo>
                <a:lnTo>
                  <a:pt x="3429000" y="719816"/>
                </a:lnTo>
                <a:lnTo>
                  <a:pt x="3810030" y="634594"/>
                </a:lnTo>
                <a:lnTo>
                  <a:pt x="4190970" y="608808"/>
                </a:lnTo>
                <a:lnTo>
                  <a:pt x="4572000" y="663854"/>
                </a:lnTo>
                <a:lnTo>
                  <a:pt x="4953030" y="778520"/>
                </a:lnTo>
                <a:lnTo>
                  <a:pt x="5333970" y="897941"/>
                </a:lnTo>
                <a:lnTo>
                  <a:pt x="5715000" y="956828"/>
                </a:lnTo>
                <a:lnTo>
                  <a:pt x="6096030" y="908274"/>
                </a:lnTo>
                <a:lnTo>
                  <a:pt x="6476970" y="744962"/>
                </a:lnTo>
                <a:lnTo>
                  <a:pt x="6858000" y="504932"/>
                </a:lnTo>
                <a:lnTo>
                  <a:pt x="7239030" y="258135"/>
                </a:lnTo>
                <a:lnTo>
                  <a:pt x="7619970" y="79736"/>
                </a:lnTo>
                <a:lnTo>
                  <a:pt x="8001000" y="21306"/>
                </a:lnTo>
                <a:lnTo>
                  <a:pt x="8382030" y="91257"/>
                </a:lnTo>
                <a:lnTo>
                  <a:pt x="8762970" y="252649"/>
                </a:lnTo>
                <a:lnTo>
                  <a:pt x="9144000" y="439278"/>
                </a:lnTo>
                <a:lnTo>
                  <a:pt x="9525030" y="583296"/>
                </a:lnTo>
                <a:lnTo>
                  <a:pt x="9905970" y="642366"/>
                </a:lnTo>
                <a:lnTo>
                  <a:pt x="10287000" y="616397"/>
                </a:lnTo>
                <a:lnTo>
                  <a:pt x="10668030" y="544708"/>
                </a:lnTo>
                <a:lnTo>
                  <a:pt x="11048970" y="487741"/>
                </a:lnTo>
                <a:lnTo>
                  <a:pt x="11430000" y="498988"/>
                </a:lnTo>
                <a:lnTo>
                  <a:pt x="11506170" y="1644183"/>
                </a:lnTo>
                <a:close/>
              </a:path>
            </a:pathLst>
          </a:custGeom>
          <a:solidFill>
            <a:srgbClr val="2E4A62">
              <a:alpha val="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42900" y="5351435"/>
            <a:ext cx="11506170" cy="1163665"/>
          </a:xfrm>
          <a:custGeom>
            <a:avLst/>
            <a:gdLst/>
            <a:ahLst/>
            <a:cxnLst/>
            <a:rect l="l" t="t" r="r" b="b"/>
            <a:pathLst>
              <a:path w="11506170" h="1163665">
                <a:moveTo>
                  <a:pt x="0" y="1163665"/>
                </a:moveTo>
                <a:lnTo>
                  <a:pt x="0" y="91257"/>
                </a:lnTo>
                <a:lnTo>
                  <a:pt x="381030" y="112746"/>
                </a:lnTo>
                <a:lnTo>
                  <a:pt x="761970" y="348478"/>
                </a:lnTo>
                <a:lnTo>
                  <a:pt x="1143000" y="715792"/>
                </a:lnTo>
                <a:lnTo>
                  <a:pt x="1524030" y="1047537"/>
                </a:lnTo>
                <a:lnTo>
                  <a:pt x="1904970" y="1163665"/>
                </a:lnTo>
                <a:lnTo>
                  <a:pt x="2286000" y="1088410"/>
                </a:lnTo>
                <a:lnTo>
                  <a:pt x="2667030" y="824332"/>
                </a:lnTo>
                <a:lnTo>
                  <a:pt x="3047970" y="552846"/>
                </a:lnTo>
                <a:lnTo>
                  <a:pt x="3429000" y="409651"/>
                </a:lnTo>
                <a:lnTo>
                  <a:pt x="3810030" y="428396"/>
                </a:lnTo>
                <a:lnTo>
                  <a:pt x="4190970" y="528432"/>
                </a:lnTo>
                <a:lnTo>
                  <a:pt x="4572000" y="576529"/>
                </a:lnTo>
                <a:lnTo>
                  <a:pt x="4953030" y="483535"/>
                </a:lnTo>
                <a:lnTo>
                  <a:pt x="5333970" y="269931"/>
                </a:lnTo>
                <a:lnTo>
                  <a:pt x="5715000" y="59070"/>
                </a:lnTo>
                <a:lnTo>
                  <a:pt x="6096030" y="0"/>
                </a:lnTo>
                <a:lnTo>
                  <a:pt x="6476970" y="169347"/>
                </a:lnTo>
                <a:lnTo>
                  <a:pt x="6858000" y="516636"/>
                </a:lnTo>
                <a:lnTo>
                  <a:pt x="7239030" y="887425"/>
                </a:lnTo>
                <a:lnTo>
                  <a:pt x="7619970" y="1112368"/>
                </a:lnTo>
                <a:lnTo>
                  <a:pt x="8001000" y="1105418"/>
                </a:lnTo>
                <a:lnTo>
                  <a:pt x="8382030" y="910194"/>
                </a:lnTo>
                <a:lnTo>
                  <a:pt x="8762970" y="665866"/>
                </a:lnTo>
                <a:lnTo>
                  <a:pt x="9144000" y="515996"/>
                </a:lnTo>
                <a:lnTo>
                  <a:pt x="9525030" y="518008"/>
                </a:lnTo>
                <a:lnTo>
                  <a:pt x="9905970" y="612465"/>
                </a:lnTo>
                <a:lnTo>
                  <a:pt x="10287000" y="669889"/>
                </a:lnTo>
                <a:lnTo>
                  <a:pt x="10668030" y="584576"/>
                </a:lnTo>
                <a:lnTo>
                  <a:pt x="11048970" y="352958"/>
                </a:lnTo>
                <a:lnTo>
                  <a:pt x="11430000" y="84582"/>
                </a:lnTo>
                <a:lnTo>
                  <a:pt x="11506170" y="1163665"/>
                </a:lnTo>
                <a:close/>
              </a:path>
            </a:pathLst>
          </a:custGeom>
          <a:solidFill>
            <a:srgbClr val="2E4A62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" y="6009894"/>
            <a:ext cx="11506170" cy="505206"/>
          </a:xfrm>
          <a:custGeom>
            <a:avLst/>
            <a:gdLst/>
            <a:ahLst/>
            <a:cxnLst/>
            <a:rect l="l" t="t" r="r" b="b"/>
            <a:pathLst>
              <a:path w="11506170" h="505206">
                <a:moveTo>
                  <a:pt x="0" y="505206"/>
                </a:moveTo>
                <a:lnTo>
                  <a:pt x="0" y="282458"/>
                </a:lnTo>
                <a:lnTo>
                  <a:pt x="381030" y="354239"/>
                </a:lnTo>
                <a:lnTo>
                  <a:pt x="761970" y="505206"/>
                </a:lnTo>
                <a:lnTo>
                  <a:pt x="1143000" y="505206"/>
                </a:lnTo>
                <a:lnTo>
                  <a:pt x="1524030" y="505206"/>
                </a:lnTo>
                <a:lnTo>
                  <a:pt x="1904970" y="505206"/>
                </a:lnTo>
                <a:lnTo>
                  <a:pt x="2286000" y="231069"/>
                </a:lnTo>
                <a:lnTo>
                  <a:pt x="2667030" y="10790"/>
                </a:lnTo>
                <a:lnTo>
                  <a:pt x="3047970" y="19111"/>
                </a:lnTo>
                <a:lnTo>
                  <a:pt x="3429000" y="191750"/>
                </a:lnTo>
                <a:lnTo>
                  <a:pt x="3810030" y="352135"/>
                </a:lnTo>
                <a:lnTo>
                  <a:pt x="4190970" y="376276"/>
                </a:lnTo>
                <a:lnTo>
                  <a:pt x="4572000" y="299832"/>
                </a:lnTo>
                <a:lnTo>
                  <a:pt x="4953030" y="272491"/>
                </a:lnTo>
                <a:lnTo>
                  <a:pt x="5333970" y="402976"/>
                </a:lnTo>
                <a:lnTo>
                  <a:pt x="5715000" y="505206"/>
                </a:lnTo>
                <a:lnTo>
                  <a:pt x="6096030" y="505206"/>
                </a:lnTo>
                <a:lnTo>
                  <a:pt x="6476970" y="505206"/>
                </a:lnTo>
                <a:lnTo>
                  <a:pt x="6858000" y="469727"/>
                </a:lnTo>
                <a:lnTo>
                  <a:pt x="7239030" y="153711"/>
                </a:lnTo>
                <a:lnTo>
                  <a:pt x="7619970" y="0"/>
                </a:lnTo>
                <a:lnTo>
                  <a:pt x="8001000" y="70866"/>
                </a:lnTo>
                <a:lnTo>
                  <a:pt x="8382030" y="251917"/>
                </a:lnTo>
                <a:lnTo>
                  <a:pt x="8762970" y="367223"/>
                </a:lnTo>
                <a:lnTo>
                  <a:pt x="9144000" y="341528"/>
                </a:lnTo>
                <a:lnTo>
                  <a:pt x="9525030" y="261518"/>
                </a:lnTo>
                <a:lnTo>
                  <a:pt x="9905970" y="282458"/>
                </a:lnTo>
                <a:lnTo>
                  <a:pt x="10287000" y="467716"/>
                </a:lnTo>
                <a:lnTo>
                  <a:pt x="10668030" y="505206"/>
                </a:lnTo>
                <a:lnTo>
                  <a:pt x="11048970" y="505206"/>
                </a:lnTo>
                <a:lnTo>
                  <a:pt x="11430000" y="505206"/>
                </a:lnTo>
                <a:lnTo>
                  <a:pt x="11506170" y="505206"/>
                </a:lnTo>
                <a:close/>
              </a:path>
            </a:pathLst>
          </a:custGeom>
          <a:solidFill>
            <a:srgbClr val="2E4A62">
              <a:alpha val="13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714500" y="1619220"/>
            <a:ext cx="876297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2A24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数字化不是买系统，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2A24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而是让每个人每天少做一件重复的事。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714500" y="4095780"/>
            <a:ext cx="87629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B5E52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集团数字化工作会议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30" y="266730"/>
            <a:ext cx="11658600" cy="6324630"/>
          </a:xfrm>
          <a:prstGeom prst="rect">
            <a:avLst/>
          </a:prstGeom>
          <a:ln w="19050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900" y="342900"/>
            <a:ext cx="11506170" cy="6172200"/>
          </a:xfrm>
          <a:prstGeom prst="rect">
            <a:avLst/>
          </a:prstGeom>
          <a:ln w="6350">
            <a:solidFill>
              <a:srgbClr val="B08D57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67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5" name="Shape 3"/>
          <p:cNvSpPr/>
          <p:nvPr/>
        </p:nvSpPr>
        <p:spPr>
          <a:xfrm>
            <a:off x="11811030" y="26673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6" name="Shape 4"/>
          <p:cNvSpPr/>
          <p:nvPr/>
        </p:nvSpPr>
        <p:spPr>
          <a:xfrm>
            <a:off x="2667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7" name="Shape 5"/>
          <p:cNvSpPr/>
          <p:nvPr/>
        </p:nvSpPr>
        <p:spPr>
          <a:xfrm>
            <a:off x="11811030" y="6476970"/>
            <a:ext cx="114300" cy="114300"/>
          </a:xfrm>
          <a:prstGeom prst="rect">
            <a:avLst/>
          </a:prstGeom>
          <a:solidFill>
            <a:srgbClr val="A8322D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" y="4870917"/>
            <a:ext cx="11506170" cy="1644183"/>
          </a:xfrm>
          <a:custGeom>
            <a:avLst/>
            <a:gdLst/>
            <a:ahLst/>
            <a:cxnLst/>
            <a:rect l="l" t="t" r="r" b="b"/>
            <a:pathLst>
              <a:path w="11506170" h="1644183">
                <a:moveTo>
                  <a:pt x="0" y="1644183"/>
                </a:moveTo>
                <a:lnTo>
                  <a:pt x="0" y="115123"/>
                </a:lnTo>
                <a:lnTo>
                  <a:pt x="381030" y="0"/>
                </a:lnTo>
                <a:lnTo>
                  <a:pt x="761970" y="13807"/>
                </a:lnTo>
                <a:lnTo>
                  <a:pt x="1143000" y="154899"/>
                </a:lnTo>
                <a:lnTo>
                  <a:pt x="1524030" y="377190"/>
                </a:lnTo>
                <a:lnTo>
                  <a:pt x="1904970" y="608076"/>
                </a:lnTo>
                <a:lnTo>
                  <a:pt x="2286000" y="777331"/>
                </a:lnTo>
                <a:lnTo>
                  <a:pt x="2667030" y="843808"/>
                </a:lnTo>
                <a:lnTo>
                  <a:pt x="3047970" y="810341"/>
                </a:lnTo>
                <a:lnTo>
                  <a:pt x="3429000" y="719816"/>
                </a:lnTo>
                <a:lnTo>
                  <a:pt x="3810030" y="634594"/>
                </a:lnTo>
                <a:lnTo>
                  <a:pt x="4190970" y="608808"/>
                </a:lnTo>
                <a:lnTo>
                  <a:pt x="4572000" y="663854"/>
                </a:lnTo>
                <a:lnTo>
                  <a:pt x="4953030" y="778520"/>
                </a:lnTo>
                <a:lnTo>
                  <a:pt x="5333970" y="897941"/>
                </a:lnTo>
                <a:lnTo>
                  <a:pt x="5715000" y="956828"/>
                </a:lnTo>
                <a:lnTo>
                  <a:pt x="6096030" y="908274"/>
                </a:lnTo>
                <a:lnTo>
                  <a:pt x="6476970" y="744962"/>
                </a:lnTo>
                <a:lnTo>
                  <a:pt x="6858000" y="504932"/>
                </a:lnTo>
                <a:lnTo>
                  <a:pt x="7239030" y="258135"/>
                </a:lnTo>
                <a:lnTo>
                  <a:pt x="7619970" y="79736"/>
                </a:lnTo>
                <a:lnTo>
                  <a:pt x="8001000" y="21306"/>
                </a:lnTo>
                <a:lnTo>
                  <a:pt x="8382030" y="91257"/>
                </a:lnTo>
                <a:lnTo>
                  <a:pt x="8762970" y="252649"/>
                </a:lnTo>
                <a:lnTo>
                  <a:pt x="9144000" y="439278"/>
                </a:lnTo>
                <a:lnTo>
                  <a:pt x="9525030" y="583296"/>
                </a:lnTo>
                <a:lnTo>
                  <a:pt x="9905970" y="642366"/>
                </a:lnTo>
                <a:lnTo>
                  <a:pt x="10287000" y="616397"/>
                </a:lnTo>
                <a:lnTo>
                  <a:pt x="10668030" y="544708"/>
                </a:lnTo>
                <a:lnTo>
                  <a:pt x="11048970" y="487741"/>
                </a:lnTo>
                <a:lnTo>
                  <a:pt x="11430000" y="498988"/>
                </a:lnTo>
                <a:lnTo>
                  <a:pt x="11506170" y="1644183"/>
                </a:lnTo>
                <a:close/>
              </a:path>
            </a:pathLst>
          </a:custGeom>
          <a:solidFill>
            <a:srgbClr val="2E4A62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42900" y="5351435"/>
            <a:ext cx="11506170" cy="1163665"/>
          </a:xfrm>
          <a:custGeom>
            <a:avLst/>
            <a:gdLst/>
            <a:ahLst/>
            <a:cxnLst/>
            <a:rect l="l" t="t" r="r" b="b"/>
            <a:pathLst>
              <a:path w="11506170" h="1163665">
                <a:moveTo>
                  <a:pt x="0" y="1163665"/>
                </a:moveTo>
                <a:lnTo>
                  <a:pt x="0" y="91257"/>
                </a:lnTo>
                <a:lnTo>
                  <a:pt x="381030" y="112746"/>
                </a:lnTo>
                <a:lnTo>
                  <a:pt x="761970" y="348478"/>
                </a:lnTo>
                <a:lnTo>
                  <a:pt x="1143000" y="715792"/>
                </a:lnTo>
                <a:lnTo>
                  <a:pt x="1524030" y="1047537"/>
                </a:lnTo>
                <a:lnTo>
                  <a:pt x="1904970" y="1163665"/>
                </a:lnTo>
                <a:lnTo>
                  <a:pt x="2286000" y="1088410"/>
                </a:lnTo>
                <a:lnTo>
                  <a:pt x="2667030" y="824332"/>
                </a:lnTo>
                <a:lnTo>
                  <a:pt x="3047970" y="552846"/>
                </a:lnTo>
                <a:lnTo>
                  <a:pt x="3429000" y="409651"/>
                </a:lnTo>
                <a:lnTo>
                  <a:pt x="3810030" y="428396"/>
                </a:lnTo>
                <a:lnTo>
                  <a:pt x="4190970" y="528432"/>
                </a:lnTo>
                <a:lnTo>
                  <a:pt x="4572000" y="576529"/>
                </a:lnTo>
                <a:lnTo>
                  <a:pt x="4953030" y="483535"/>
                </a:lnTo>
                <a:lnTo>
                  <a:pt x="5333970" y="269931"/>
                </a:lnTo>
                <a:lnTo>
                  <a:pt x="5715000" y="59070"/>
                </a:lnTo>
                <a:lnTo>
                  <a:pt x="6096030" y="0"/>
                </a:lnTo>
                <a:lnTo>
                  <a:pt x="6476970" y="169347"/>
                </a:lnTo>
                <a:lnTo>
                  <a:pt x="6858000" y="516636"/>
                </a:lnTo>
                <a:lnTo>
                  <a:pt x="7239030" y="887425"/>
                </a:lnTo>
                <a:lnTo>
                  <a:pt x="7619970" y="1112368"/>
                </a:lnTo>
                <a:lnTo>
                  <a:pt x="8001000" y="1105418"/>
                </a:lnTo>
                <a:lnTo>
                  <a:pt x="8382030" y="910194"/>
                </a:lnTo>
                <a:lnTo>
                  <a:pt x="8762970" y="665866"/>
                </a:lnTo>
                <a:lnTo>
                  <a:pt x="9144000" y="515996"/>
                </a:lnTo>
                <a:lnTo>
                  <a:pt x="9525030" y="518008"/>
                </a:lnTo>
                <a:lnTo>
                  <a:pt x="9905970" y="612465"/>
                </a:lnTo>
                <a:lnTo>
                  <a:pt x="10287000" y="669889"/>
                </a:lnTo>
                <a:lnTo>
                  <a:pt x="10668030" y="584576"/>
                </a:lnTo>
                <a:lnTo>
                  <a:pt x="11048970" y="352958"/>
                </a:lnTo>
                <a:lnTo>
                  <a:pt x="11430000" y="84582"/>
                </a:lnTo>
                <a:lnTo>
                  <a:pt x="11506170" y="1163665"/>
                </a:lnTo>
                <a:close/>
              </a:path>
            </a:pathLst>
          </a:custGeom>
          <a:solidFill>
            <a:srgbClr val="2E4A62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" y="6009894"/>
            <a:ext cx="11506170" cy="505206"/>
          </a:xfrm>
          <a:custGeom>
            <a:avLst/>
            <a:gdLst/>
            <a:ahLst/>
            <a:cxnLst/>
            <a:rect l="l" t="t" r="r" b="b"/>
            <a:pathLst>
              <a:path w="11506170" h="505206">
                <a:moveTo>
                  <a:pt x="0" y="505206"/>
                </a:moveTo>
                <a:lnTo>
                  <a:pt x="0" y="282458"/>
                </a:lnTo>
                <a:lnTo>
                  <a:pt x="381030" y="354239"/>
                </a:lnTo>
                <a:lnTo>
                  <a:pt x="761970" y="505206"/>
                </a:lnTo>
                <a:lnTo>
                  <a:pt x="1143000" y="505206"/>
                </a:lnTo>
                <a:lnTo>
                  <a:pt x="1524030" y="505206"/>
                </a:lnTo>
                <a:lnTo>
                  <a:pt x="1904970" y="505206"/>
                </a:lnTo>
                <a:lnTo>
                  <a:pt x="2286000" y="231069"/>
                </a:lnTo>
                <a:lnTo>
                  <a:pt x="2667030" y="10790"/>
                </a:lnTo>
                <a:lnTo>
                  <a:pt x="3047970" y="19111"/>
                </a:lnTo>
                <a:lnTo>
                  <a:pt x="3429000" y="191750"/>
                </a:lnTo>
                <a:lnTo>
                  <a:pt x="3810030" y="352135"/>
                </a:lnTo>
                <a:lnTo>
                  <a:pt x="4190970" y="376276"/>
                </a:lnTo>
                <a:lnTo>
                  <a:pt x="4572000" y="299832"/>
                </a:lnTo>
                <a:lnTo>
                  <a:pt x="4953030" y="272491"/>
                </a:lnTo>
                <a:lnTo>
                  <a:pt x="5333970" y="402976"/>
                </a:lnTo>
                <a:lnTo>
                  <a:pt x="5715000" y="505206"/>
                </a:lnTo>
                <a:lnTo>
                  <a:pt x="6096030" y="505206"/>
                </a:lnTo>
                <a:lnTo>
                  <a:pt x="6476970" y="505206"/>
                </a:lnTo>
                <a:lnTo>
                  <a:pt x="6858000" y="469727"/>
                </a:lnTo>
                <a:lnTo>
                  <a:pt x="7239030" y="153711"/>
                </a:lnTo>
                <a:lnTo>
                  <a:pt x="7619970" y="0"/>
                </a:lnTo>
                <a:lnTo>
                  <a:pt x="8001000" y="70866"/>
                </a:lnTo>
                <a:lnTo>
                  <a:pt x="8382030" y="251917"/>
                </a:lnTo>
                <a:lnTo>
                  <a:pt x="8762970" y="367223"/>
                </a:lnTo>
                <a:lnTo>
                  <a:pt x="9144000" y="341528"/>
                </a:lnTo>
                <a:lnTo>
                  <a:pt x="9525030" y="261518"/>
                </a:lnTo>
                <a:lnTo>
                  <a:pt x="9905970" y="282458"/>
                </a:lnTo>
                <a:lnTo>
                  <a:pt x="10287000" y="467716"/>
                </a:lnTo>
                <a:lnTo>
                  <a:pt x="10668030" y="505206"/>
                </a:lnTo>
                <a:lnTo>
                  <a:pt x="11048970" y="505206"/>
                </a:lnTo>
                <a:lnTo>
                  <a:pt x="11430000" y="505206"/>
                </a:lnTo>
                <a:lnTo>
                  <a:pt x="11506170" y="505206"/>
                </a:lnTo>
                <a:close/>
              </a:path>
            </a:pathLst>
          </a:custGeom>
          <a:solidFill>
            <a:srgbClr val="2E4A62">
              <a:alpha val="2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29250" y="1143000"/>
            <a:ext cx="1333470" cy="1333470"/>
          </a:xfrm>
          <a:prstGeom prst="ellipse">
            <a:avLst/>
          </a:prstGeom>
          <a:solidFill>
            <a:srgbClr val="A8322D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762220"/>
            <a:ext cx="990597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0" b="1" spc="1000" kern="0" dirty="0">
                <a:solidFill>
                  <a:srgbClr val="2A2420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谢谢</a:t>
            </a:r>
            <a:endParaRPr lang="en-US" sz="5700" dirty="0"/>
          </a:p>
        </p:txBody>
      </p:sp>
      <p:sp>
        <p:nvSpPr>
          <p:cNvPr id="13" name="Text 11"/>
          <p:cNvSpPr/>
          <p:nvPr/>
        </p:nvSpPr>
        <p:spPr>
          <a:xfrm>
            <a:off x="1143000" y="3771900"/>
            <a:ext cx="99059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6B5E52"/>
                </a:solidFill>
                <a:latin typeface="楷体" pitchFamily="34" charset="0"/>
                <a:ea typeface="楷体" pitchFamily="34" charset="-122"/>
                <a:cs typeface="楷体" pitchFamily="34" charset="-120"/>
              </a:rPr>
              <a:t>敬请各位领导批评指正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2026年数字化转型工作汇报</dc:title>
  <dc:subject>PptxGenJS Presentation</dc:subject>
  <dc:creator>汇报人：张三</dc:creator>
  <cp:lastModifiedBy>汇报人：张三</cp:lastModifiedBy>
  <cp:revision>1</cp:revision>
  <dcterms:created xsi:type="dcterms:W3CDTF">2026-10-14T15:28:05Z</dcterms:created>
  <dcterms:modified xsi:type="dcterms:W3CDTF">2026-10-14T15:28:05Z</dcterms:modified>
</cp:coreProperties>
</file>