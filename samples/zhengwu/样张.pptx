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运维成本</c:v>
                </c:pt>
              </c:strCache>
            </c:strRef>
          </c:tx>
          <c:spPr>
            <a:solidFill>
              <a:srgbClr val="D9CFC4"/>
            </a:solidFill>
            <a:effectLst/>
          </c:spPr>
          <c:invertIfNegative val="0"/>
          <c:dLbls>
            <c:numFmt formatCode="#,##0.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F1F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CF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CF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CFC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CFC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4181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2350</c:v>
                </c:pt>
                <c:pt idx="1">
                  <c:v>2210</c:v>
                </c:pt>
                <c:pt idx="2">
                  <c:v>1960</c:v>
                </c:pt>
                <c:pt idx="3">
                  <c:v>1660</c:v>
                </c:pt>
                <c:pt idx="4">
                  <c:v>1280</c:v>
                </c:pt>
              </c:numCache>
            </c:numRef>
          </c:val>
        </c:ser>
        <c:dLbls>
          <c:numFmt formatCode="#,##0.##" sourceLinked="0"/>
          <c:txPr>
            <a:bodyPr/>
            <a:lstStyle/>
            <a:p>
              <a:pPr>
                <a:defRPr b="0" i="0" strike="noStrike" sz="1200" u="none">
                  <a:solidFill>
                    <a:srgbClr val="1F1F1F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7DFD3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DF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A5A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 w="3175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430527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05270"/>
            <a:ext cx="12191970" cy="5715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4" name="Shape 2"/>
          <p:cNvSpPr/>
          <p:nvPr/>
        </p:nvSpPr>
        <p:spPr>
          <a:xfrm>
            <a:off x="9620220" y="-285750"/>
            <a:ext cx="2857500" cy="2857500"/>
          </a:xfrm>
          <a:prstGeom prst="ellipse">
            <a:avLst/>
          </a:prstGeom>
          <a:ln w="15240">
            <a:solidFill>
              <a:srgbClr val="C9A063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63020" y="-742950"/>
            <a:ext cx="3771900" cy="3771900"/>
          </a:xfrm>
          <a:prstGeom prst="ellipse">
            <a:avLst/>
          </a:prstGeom>
          <a:ln w="15240">
            <a:solidFill>
              <a:srgbClr val="C9A063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20140" y="-1285921"/>
            <a:ext cx="4857750" cy="4857750"/>
          </a:xfrm>
          <a:prstGeom prst="ellipse">
            <a:avLst/>
          </a:prstGeom>
          <a:ln w="15240">
            <a:solidFill>
              <a:srgbClr val="C9A063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0470" y="3143250"/>
            <a:ext cx="1714500" cy="1714500"/>
          </a:xfrm>
          <a:prstGeom prst="ellipse">
            <a:avLst/>
          </a:prstGeom>
          <a:ln w="15240">
            <a:solidFill>
              <a:srgbClr val="C9A063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83850" y="2868930"/>
            <a:ext cx="2263140" cy="2263140"/>
          </a:xfrm>
          <a:prstGeom prst="ellipse">
            <a:avLst/>
          </a:prstGeom>
          <a:ln w="15240">
            <a:solidFill>
              <a:srgbClr val="C9A063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409560" y="2543221"/>
            <a:ext cx="2914650" cy="2914650"/>
          </a:xfrm>
          <a:prstGeom prst="ellipse">
            <a:avLst/>
          </a:prstGeom>
          <a:ln w="15240">
            <a:solidFill>
              <a:srgbClr val="C9A063">
                <a:alpha val="1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876270"/>
            <a:ext cx="99059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spc="400" kern="0" dirty="0">
                <a:solidFill>
                  <a:srgbClr val="C9A0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24530" y="1333470"/>
            <a:ext cx="1143000" cy="0"/>
          </a:xfrm>
          <a:prstGeom prst="line">
            <a:avLst/>
          </a:prstGeom>
          <a:noFill/>
          <a:ln w="19050">
            <a:solidFill>
              <a:srgbClr val="C9A0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1676370"/>
            <a:ext cx="9905970" cy="1524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2026年数字化转型工作汇报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1143000" y="3333720"/>
            <a:ext cx="990597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以数据驱动管理提效，推动业务全面上云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3000" y="5143500"/>
            <a:ext cx="99059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spc="200" kern="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汇报人：张三    2026年10月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 rot="2700000">
            <a:off x="6057900" y="5715000"/>
            <a:ext cx="76170" cy="76170"/>
          </a:xfrm>
          <a:prstGeom prst="rect">
            <a:avLst/>
          </a:prstGeom>
          <a:solidFill>
            <a:srgbClr val="B4181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30" y="476220"/>
            <a:ext cx="76170" cy="36192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3" name="Text 1"/>
          <p:cNvSpPr/>
          <p:nvPr/>
        </p:nvSpPr>
        <p:spPr>
          <a:xfrm>
            <a:off x="838230" y="438180"/>
            <a:ext cx="10744200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09630" y="1066830"/>
            <a:ext cx="10972800" cy="0"/>
          </a:xfrm>
          <a:prstGeom prst="line">
            <a:avLst/>
          </a:prstGeom>
          <a:noFill/>
          <a:ln w="12700">
            <a:solidFill>
              <a:srgbClr val="E7DF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30" y="1047720"/>
            <a:ext cx="1333470" cy="3813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6" name="Shape 4"/>
          <p:cNvSpPr/>
          <p:nvPr/>
        </p:nvSpPr>
        <p:spPr>
          <a:xfrm>
            <a:off x="1943100" y="1047720"/>
            <a:ext cx="381030" cy="3813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7" name="Text 5"/>
          <p:cNvSpPr/>
          <p:nvPr/>
        </p:nvSpPr>
        <p:spPr>
          <a:xfrm>
            <a:off x="609630" y="2819370"/>
            <a:ext cx="761970" cy="876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B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562070" y="3086100"/>
            <a:ext cx="1002027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年度工作成效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1562070" y="3686221"/>
            <a:ext cx="10020270" cy="0"/>
          </a:xfrm>
          <a:prstGeom prst="line">
            <a:avLst/>
          </a:prstGeom>
          <a:noFill/>
          <a:ln w="9525">
            <a:solidFill>
              <a:srgbClr val="E7DF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630" y="3695730"/>
            <a:ext cx="761970" cy="876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B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562070" y="3962370"/>
            <a:ext cx="1002027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明年工作计划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1562070" y="4562490"/>
            <a:ext cx="10020270" cy="0"/>
          </a:xfrm>
          <a:prstGeom prst="line">
            <a:avLst/>
          </a:prstGeom>
          <a:noFill/>
          <a:ln w="9525">
            <a:solidFill>
              <a:srgbClr val="E7DF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9630" y="6438930"/>
            <a:ext cx="10972800" cy="0"/>
          </a:xfrm>
          <a:prstGeom prst="line">
            <a:avLst/>
          </a:prstGeom>
          <a:noFill/>
          <a:ln w="9525">
            <a:solidFill>
              <a:srgbClr val="E7DF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30" y="6515100"/>
            <a:ext cx="57150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258550" y="6496080"/>
            <a:ext cx="323880" cy="20958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16" name="Text 14"/>
          <p:cNvSpPr/>
          <p:nvPr/>
        </p:nvSpPr>
        <p:spPr>
          <a:xfrm>
            <a:off x="11258550" y="6496080"/>
            <a:ext cx="32388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62470" cy="685800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3" name="Shape 1"/>
          <p:cNvSpPr/>
          <p:nvPr/>
        </p:nvSpPr>
        <p:spPr>
          <a:xfrm>
            <a:off x="1238280" y="2286000"/>
            <a:ext cx="2286000" cy="2286000"/>
          </a:xfrm>
          <a:prstGeom prst="ellipse">
            <a:avLst/>
          </a:prstGeom>
          <a:ln w="15240">
            <a:solidFill>
              <a:srgbClr val="C9A063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2520" y="1920240"/>
            <a:ext cx="3017520" cy="3017520"/>
          </a:xfrm>
          <a:prstGeom prst="ellipse">
            <a:avLst/>
          </a:prstGeom>
          <a:ln w="15240">
            <a:solidFill>
              <a:srgbClr val="C9A063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180" y="1485900"/>
            <a:ext cx="3886200" cy="3886200"/>
          </a:xfrm>
          <a:prstGeom prst="ellipse">
            <a:avLst/>
          </a:prstGeom>
          <a:ln w="15240">
            <a:solidFill>
              <a:srgbClr val="C9A063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2095530"/>
            <a:ext cx="47624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800" kern="0" dirty="0">
                <a:solidFill>
                  <a:srgbClr val="C9A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0" y="2381280"/>
            <a:ext cx="476247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8" name="Text 6"/>
          <p:cNvSpPr/>
          <p:nvPr/>
        </p:nvSpPr>
        <p:spPr>
          <a:xfrm>
            <a:off x="5524530" y="2762220"/>
            <a:ext cx="5905470" cy="666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年度工作成效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524530" y="3581430"/>
            <a:ext cx="857250" cy="3813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10" name="Text 8"/>
          <p:cNvSpPr/>
          <p:nvPr/>
        </p:nvSpPr>
        <p:spPr>
          <a:xfrm>
            <a:off x="5524530" y="3810030"/>
            <a:ext cx="59054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四项核心指标全部超额完成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30" y="476220"/>
            <a:ext cx="76170" cy="36192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3" name="Text 1"/>
          <p:cNvSpPr/>
          <p:nvPr/>
        </p:nvSpPr>
        <p:spPr>
          <a:xfrm>
            <a:off x="838230" y="438180"/>
            <a:ext cx="10744200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四项核心指标全部超额完成年度目标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09630" y="1066830"/>
            <a:ext cx="10972800" cy="0"/>
          </a:xfrm>
          <a:prstGeom prst="line">
            <a:avLst/>
          </a:prstGeom>
          <a:noFill/>
          <a:ln w="12700">
            <a:solidFill>
              <a:srgbClr val="E7DF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30" y="1047720"/>
            <a:ext cx="1333470" cy="3813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6" name="Shape 4"/>
          <p:cNvSpPr/>
          <p:nvPr/>
        </p:nvSpPr>
        <p:spPr>
          <a:xfrm>
            <a:off x="1943100" y="1047720"/>
            <a:ext cx="381030" cy="3813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7" name="Shape 5"/>
          <p:cNvSpPr/>
          <p:nvPr/>
        </p:nvSpPr>
        <p:spPr>
          <a:xfrm>
            <a:off x="609630" y="2457450"/>
            <a:ext cx="2571750" cy="2667030"/>
          </a:xfrm>
          <a:prstGeom prst="rect">
            <a:avLst/>
          </a:prstGeom>
          <a:solidFill>
            <a:srgbClr val="F8F4EE"/>
          </a:solidFill>
          <a:ln/>
        </p:spPr>
      </p:sp>
      <p:sp>
        <p:nvSpPr>
          <p:cNvPr id="8" name="Shape 6"/>
          <p:cNvSpPr/>
          <p:nvPr/>
        </p:nvSpPr>
        <p:spPr>
          <a:xfrm>
            <a:off x="609630" y="2457450"/>
            <a:ext cx="2571750" cy="3813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9" name="Text 7"/>
          <p:cNvSpPr/>
          <p:nvPr/>
        </p:nvSpPr>
        <p:spPr>
          <a:xfrm>
            <a:off x="857250" y="2905140"/>
            <a:ext cx="20764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B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98.6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012777" y="3173974"/>
            <a:ext cx="9525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B4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57250" y="3602370"/>
            <a:ext cx="20764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业务系统上云率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57250" y="3945270"/>
            <a:ext cx="2076420" cy="76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年初目标 90%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409980" y="2457450"/>
            <a:ext cx="2571750" cy="2667030"/>
          </a:xfrm>
          <a:prstGeom prst="rect">
            <a:avLst/>
          </a:prstGeom>
          <a:solidFill>
            <a:srgbClr val="F8F4EE"/>
          </a:solidFill>
          <a:ln/>
        </p:spPr>
      </p:sp>
      <p:sp>
        <p:nvSpPr>
          <p:cNvPr id="14" name="Shape 12"/>
          <p:cNvSpPr/>
          <p:nvPr/>
        </p:nvSpPr>
        <p:spPr>
          <a:xfrm>
            <a:off x="3409980" y="2457450"/>
            <a:ext cx="2571750" cy="3813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2905140"/>
            <a:ext cx="20764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B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1,280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5123749" y="3173974"/>
            <a:ext cx="9525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B4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万元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57600" y="3602370"/>
            <a:ext cx="20764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年度节约运维成本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657600" y="3945270"/>
            <a:ext cx="2076420" cy="76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同比下降 23%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0330" y="2457450"/>
            <a:ext cx="2571750" cy="2667030"/>
          </a:xfrm>
          <a:prstGeom prst="rect">
            <a:avLst/>
          </a:prstGeom>
          <a:solidFill>
            <a:srgbClr val="F8F4EE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0330" y="2457450"/>
            <a:ext cx="2571750" cy="3813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21" name="Text 19"/>
          <p:cNvSpPr/>
          <p:nvPr/>
        </p:nvSpPr>
        <p:spPr>
          <a:xfrm>
            <a:off x="6457950" y="2905140"/>
            <a:ext cx="20764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B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7136435" y="3173974"/>
            <a:ext cx="9525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B4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57950" y="3602370"/>
            <a:ext cx="20764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上线数字化场景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57950" y="3945270"/>
            <a:ext cx="2076420" cy="76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 9 个业务部门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010680" y="2457450"/>
            <a:ext cx="2571750" cy="2667030"/>
          </a:xfrm>
          <a:prstGeom prst="rect">
            <a:avLst/>
          </a:prstGeom>
          <a:solidFill>
            <a:srgbClr val="F8F4EE"/>
          </a:solidFill>
          <a:ln/>
        </p:spPr>
      </p:sp>
      <p:sp>
        <p:nvSpPr>
          <p:cNvPr id="26" name="Shape 24"/>
          <p:cNvSpPr/>
          <p:nvPr/>
        </p:nvSpPr>
        <p:spPr>
          <a:xfrm>
            <a:off x="9010680" y="2457450"/>
            <a:ext cx="2571750" cy="3813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27" name="Text 25"/>
          <p:cNvSpPr/>
          <p:nvPr/>
        </p:nvSpPr>
        <p:spPr>
          <a:xfrm>
            <a:off x="9258300" y="2905140"/>
            <a:ext cx="20764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B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10103206" y="3173974"/>
            <a:ext cx="9525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B4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天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258300" y="3602370"/>
            <a:ext cx="20764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审批平均时长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258300" y="3945270"/>
            <a:ext cx="2076420" cy="76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去年同期 11.2 天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09630" y="6438930"/>
            <a:ext cx="10972800" cy="0"/>
          </a:xfrm>
          <a:prstGeom prst="line">
            <a:avLst/>
          </a:prstGeom>
          <a:noFill/>
          <a:ln w="9525">
            <a:solidFill>
              <a:srgbClr val="E7DFD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9630" y="6515100"/>
            <a:ext cx="57150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1258550" y="6496080"/>
            <a:ext cx="323880" cy="20958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34" name="Text 32"/>
          <p:cNvSpPr/>
          <p:nvPr/>
        </p:nvSpPr>
        <p:spPr>
          <a:xfrm>
            <a:off x="11258550" y="6496080"/>
            <a:ext cx="32388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30" y="476220"/>
            <a:ext cx="76170" cy="36192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3" name="Text 1"/>
          <p:cNvSpPr/>
          <p:nvPr/>
        </p:nvSpPr>
        <p:spPr>
          <a:xfrm>
            <a:off x="838230" y="438180"/>
            <a:ext cx="10744200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运维成本连续三年下降，今年降幅最大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09630" y="1066830"/>
            <a:ext cx="10972800" cy="0"/>
          </a:xfrm>
          <a:prstGeom prst="line">
            <a:avLst/>
          </a:prstGeom>
          <a:noFill/>
          <a:ln w="12700">
            <a:solidFill>
              <a:srgbClr val="E7DF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30" y="1047720"/>
            <a:ext cx="1333470" cy="3813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6" name="Shape 4"/>
          <p:cNvSpPr/>
          <p:nvPr/>
        </p:nvSpPr>
        <p:spPr>
          <a:xfrm>
            <a:off x="1943100" y="1047720"/>
            <a:ext cx="381030" cy="38130"/>
          </a:xfrm>
          <a:prstGeom prst="rect">
            <a:avLst/>
          </a:prstGeom>
          <a:solidFill>
            <a:srgbClr val="C9A063"/>
          </a:solidFill>
          <a:ln/>
        </p:spPr>
      </p:sp>
      <p:graphicFrame>
        <p:nvGraphicFramePr>
          <p:cNvPr id="7" name="Chart 0" descr=""/>
          <p:cNvGraphicFramePr/>
          <p:nvPr/>
        </p:nvGraphicFramePr>
        <p:xfrm>
          <a:off x="609630" y="1390620"/>
          <a:ext cx="6297930" cy="45910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09630" y="6000750"/>
            <a:ext cx="190497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单位：万元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288500" y="1466880"/>
            <a:ext cx="38130" cy="134618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0" y="1428750"/>
            <a:ext cx="4084350" cy="142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年运维成本 1280 万元，比 2022 年少了近一半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288500" y="3041660"/>
            <a:ext cx="38130" cy="1346180"/>
          </a:xfrm>
          <a:prstGeom prst="rect">
            <a:avLst/>
          </a:prstGeom>
          <a:solidFill>
            <a:srgbClr val="E7DFD3"/>
          </a:solidFill>
          <a:ln/>
        </p:spPr>
      </p:sp>
      <p:sp>
        <p:nvSpPr>
          <p:cNvPr id="12" name="Text 9"/>
          <p:cNvSpPr/>
          <p:nvPr/>
        </p:nvSpPr>
        <p:spPr>
          <a:xfrm>
            <a:off x="7498080" y="3003530"/>
            <a:ext cx="4084350" cy="142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主要来自服务器整合和老旧系统下线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288500" y="4616440"/>
            <a:ext cx="38130" cy="1346180"/>
          </a:xfrm>
          <a:prstGeom prst="rect">
            <a:avLst/>
          </a:prstGeom>
          <a:solidFill>
            <a:srgbClr val="E7DFD3"/>
          </a:solidFill>
          <a:ln/>
        </p:spPr>
      </p:sp>
      <p:sp>
        <p:nvSpPr>
          <p:cNvPr id="14" name="Text 11"/>
          <p:cNvSpPr/>
          <p:nvPr/>
        </p:nvSpPr>
        <p:spPr>
          <a:xfrm>
            <a:off x="7498080" y="4578309"/>
            <a:ext cx="4084350" cy="142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明年预计还能再降 10% 左右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09630" y="6438930"/>
            <a:ext cx="10972800" cy="0"/>
          </a:xfrm>
          <a:prstGeom prst="line">
            <a:avLst/>
          </a:prstGeom>
          <a:noFill/>
          <a:ln w="9525">
            <a:solidFill>
              <a:srgbClr val="E7DFD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9630" y="6515100"/>
            <a:ext cx="57150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1258550" y="6496080"/>
            <a:ext cx="323880" cy="20958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18" name="Text 15"/>
          <p:cNvSpPr/>
          <p:nvPr/>
        </p:nvSpPr>
        <p:spPr>
          <a:xfrm>
            <a:off x="11258550" y="6496080"/>
            <a:ext cx="32388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30" y="476220"/>
            <a:ext cx="76170" cy="36192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3" name="Text 1"/>
          <p:cNvSpPr/>
          <p:nvPr/>
        </p:nvSpPr>
        <p:spPr>
          <a:xfrm>
            <a:off x="838230" y="438180"/>
            <a:ext cx="10744200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今年做对了四件事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09630" y="1066830"/>
            <a:ext cx="10972800" cy="0"/>
          </a:xfrm>
          <a:prstGeom prst="line">
            <a:avLst/>
          </a:prstGeom>
          <a:noFill/>
          <a:ln w="12700">
            <a:solidFill>
              <a:srgbClr val="E7DF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30" y="1047720"/>
            <a:ext cx="1333470" cy="3813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6" name="Shape 4"/>
          <p:cNvSpPr/>
          <p:nvPr/>
        </p:nvSpPr>
        <p:spPr>
          <a:xfrm>
            <a:off x="1943100" y="1047720"/>
            <a:ext cx="381030" cy="3813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7" name="Shape 5"/>
          <p:cNvSpPr/>
          <p:nvPr/>
        </p:nvSpPr>
        <p:spPr>
          <a:xfrm>
            <a:off x="609630" y="1485900"/>
            <a:ext cx="381030" cy="38103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8" name="Text 6"/>
          <p:cNvSpPr/>
          <p:nvPr/>
        </p:nvSpPr>
        <p:spPr>
          <a:xfrm>
            <a:off x="609630" y="1485900"/>
            <a:ext cx="3810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19170" y="1466880"/>
            <a:ext cx="285750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先打通数据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05270" y="1466880"/>
            <a:ext cx="7277070" cy="981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建成集团统一数据平台，34 个系统的数据第一次能在一张表里查到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9630" y="2562240"/>
            <a:ext cx="10972800" cy="0"/>
          </a:xfrm>
          <a:prstGeom prst="line">
            <a:avLst/>
          </a:prstGeom>
          <a:noFill/>
          <a:ln w="12700">
            <a:solidFill>
              <a:srgbClr val="E7DF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630" y="2714671"/>
            <a:ext cx="381030" cy="38103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13" name="Text 11"/>
          <p:cNvSpPr/>
          <p:nvPr/>
        </p:nvSpPr>
        <p:spPr>
          <a:xfrm>
            <a:off x="609630" y="2714671"/>
            <a:ext cx="3810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19170" y="2695560"/>
            <a:ext cx="285750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小步快跑上场景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05270" y="2695560"/>
            <a:ext cx="7277070" cy="981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每个场景先在一个部门试 30 天，跑通了再推广，失败成本可控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9630" y="3790920"/>
            <a:ext cx="10972800" cy="0"/>
          </a:xfrm>
          <a:prstGeom prst="line">
            <a:avLst/>
          </a:prstGeom>
          <a:noFill/>
          <a:ln w="12700">
            <a:solidFill>
              <a:srgbClr val="E7DF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630" y="3943350"/>
            <a:ext cx="381030" cy="38103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18" name="Text 16"/>
          <p:cNvSpPr/>
          <p:nvPr/>
        </p:nvSpPr>
        <p:spPr>
          <a:xfrm>
            <a:off x="609630" y="3943350"/>
            <a:ext cx="3810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19170" y="3924330"/>
            <a:ext cx="285750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让业务部门出题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305270" y="3924330"/>
            <a:ext cx="7277070" cy="981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场景需求全部由业务部门提出，信息中心负责实现，避免建了没人用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09630" y="5019690"/>
            <a:ext cx="10972800" cy="0"/>
          </a:xfrm>
          <a:prstGeom prst="line">
            <a:avLst/>
          </a:prstGeom>
          <a:noFill/>
          <a:ln w="12700">
            <a:solidFill>
              <a:srgbClr val="E7DF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9630" y="5172121"/>
            <a:ext cx="381030" cy="38103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23" name="Text 21"/>
          <p:cNvSpPr/>
          <p:nvPr/>
        </p:nvSpPr>
        <p:spPr>
          <a:xfrm>
            <a:off x="609630" y="5172121"/>
            <a:ext cx="3810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219170" y="5153010"/>
            <a:ext cx="285750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用数字考核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305270" y="5153010"/>
            <a:ext cx="7277070" cy="981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每个场景上线前先定好衡量指标，季度复盘不达标就下线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09630" y="6438930"/>
            <a:ext cx="10972800" cy="0"/>
          </a:xfrm>
          <a:prstGeom prst="line">
            <a:avLst/>
          </a:prstGeom>
          <a:noFill/>
          <a:ln w="9525">
            <a:solidFill>
              <a:srgbClr val="E7DF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9630" y="6515100"/>
            <a:ext cx="57150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1258550" y="6496080"/>
            <a:ext cx="323880" cy="20958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29" name="Text 27"/>
          <p:cNvSpPr/>
          <p:nvPr/>
        </p:nvSpPr>
        <p:spPr>
          <a:xfrm>
            <a:off x="11258550" y="6496080"/>
            <a:ext cx="32388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62470" cy="685800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3" name="Shape 1"/>
          <p:cNvSpPr/>
          <p:nvPr/>
        </p:nvSpPr>
        <p:spPr>
          <a:xfrm>
            <a:off x="1238280" y="2286000"/>
            <a:ext cx="2286000" cy="2286000"/>
          </a:xfrm>
          <a:prstGeom prst="ellipse">
            <a:avLst/>
          </a:prstGeom>
          <a:ln w="15240">
            <a:solidFill>
              <a:srgbClr val="C9A063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2520" y="1920240"/>
            <a:ext cx="3017520" cy="3017520"/>
          </a:xfrm>
          <a:prstGeom prst="ellipse">
            <a:avLst/>
          </a:prstGeom>
          <a:ln w="15240">
            <a:solidFill>
              <a:srgbClr val="C9A063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180" y="1485900"/>
            <a:ext cx="3886200" cy="3886200"/>
          </a:xfrm>
          <a:prstGeom prst="ellipse">
            <a:avLst/>
          </a:prstGeom>
          <a:ln w="15240">
            <a:solidFill>
              <a:srgbClr val="C9A063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2095530"/>
            <a:ext cx="47624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800" kern="0" dirty="0">
                <a:solidFill>
                  <a:srgbClr val="C9A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0" y="2381280"/>
            <a:ext cx="476247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0" dirty="0"/>
          </a:p>
        </p:txBody>
      </p:sp>
      <p:sp>
        <p:nvSpPr>
          <p:cNvPr id="8" name="Text 6"/>
          <p:cNvSpPr/>
          <p:nvPr/>
        </p:nvSpPr>
        <p:spPr>
          <a:xfrm>
            <a:off x="5524530" y="2762220"/>
            <a:ext cx="5905470" cy="666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明年工作计划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524530" y="3581430"/>
            <a:ext cx="857250" cy="3813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10" name="Text 8"/>
          <p:cNvSpPr/>
          <p:nvPr/>
        </p:nvSpPr>
        <p:spPr>
          <a:xfrm>
            <a:off x="5524530" y="3810030"/>
            <a:ext cx="59054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从「能用」走向「好用」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30" y="476220"/>
            <a:ext cx="76170" cy="36192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3" name="Text 1"/>
          <p:cNvSpPr/>
          <p:nvPr/>
        </p:nvSpPr>
        <p:spPr>
          <a:xfrm>
            <a:off x="838230" y="438180"/>
            <a:ext cx="10744200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2027 年分四个阶段推进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09630" y="1066830"/>
            <a:ext cx="10972800" cy="0"/>
          </a:xfrm>
          <a:prstGeom prst="line">
            <a:avLst/>
          </a:prstGeom>
          <a:noFill/>
          <a:ln w="12700">
            <a:solidFill>
              <a:srgbClr val="E7DF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30" y="1047720"/>
            <a:ext cx="1333470" cy="3813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6" name="Shape 4"/>
          <p:cNvSpPr/>
          <p:nvPr/>
        </p:nvSpPr>
        <p:spPr>
          <a:xfrm>
            <a:off x="1943100" y="1047720"/>
            <a:ext cx="381030" cy="3813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7" name="Shape 5"/>
          <p:cNvSpPr/>
          <p:nvPr/>
        </p:nvSpPr>
        <p:spPr>
          <a:xfrm>
            <a:off x="609630" y="3409980"/>
            <a:ext cx="10972800" cy="0"/>
          </a:xfrm>
          <a:prstGeom prst="line">
            <a:avLst/>
          </a:prstGeom>
          <a:noFill/>
          <a:ln w="25400">
            <a:solidFill>
              <a:srgbClr val="E7DF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95460" y="3324210"/>
            <a:ext cx="171450" cy="171450"/>
          </a:xfrm>
          <a:prstGeom prst="ellipse">
            <a:avLst/>
          </a:prstGeom>
          <a:solidFill>
            <a:srgbClr val="B4181D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743200"/>
            <a:ext cx="259077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B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85800" y="3657600"/>
            <a:ext cx="259077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摸底与规划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23930" y="426723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梳理全部业务流程，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确定第二批场景清单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638660" y="3324210"/>
            <a:ext cx="171450" cy="171450"/>
          </a:xfrm>
          <a:prstGeom prst="ellipse">
            <a:avLst/>
          </a:prstGeom>
          <a:solidFill>
            <a:srgbClr val="B4181D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2743200"/>
            <a:ext cx="259077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B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3429000" y="3657600"/>
            <a:ext cx="259077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平台升级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67130" y="426723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数据平台扩容，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接入生产一线设备数据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81860" y="3324210"/>
            <a:ext cx="171450" cy="171450"/>
          </a:xfrm>
          <a:prstGeom prst="ellipse">
            <a:avLst/>
          </a:prstGeom>
          <a:solidFill>
            <a:srgbClr val="B4181D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2743200"/>
            <a:ext cx="259077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B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6172200" y="3657600"/>
            <a:ext cx="259077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智能化试点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10330" y="426723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在财务和采购两个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部门试点 AI 助手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0125060" y="3324210"/>
            <a:ext cx="171450" cy="171450"/>
          </a:xfrm>
          <a:prstGeom prst="ellipse">
            <a:avLst/>
          </a:prstGeom>
          <a:solidFill>
            <a:srgbClr val="B4181D"/>
          </a:solidFill>
          <a:ln/>
        </p:spPr>
      </p:sp>
      <p:sp>
        <p:nvSpPr>
          <p:cNvPr id="21" name="Text 19"/>
          <p:cNvSpPr/>
          <p:nvPr/>
        </p:nvSpPr>
        <p:spPr>
          <a:xfrm>
            <a:off x="8915400" y="2743200"/>
            <a:ext cx="259077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B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8915400" y="3657600"/>
            <a:ext cx="259077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全面推广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953530" y="426723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试点成功的场景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推广到全集团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09630" y="6438930"/>
            <a:ext cx="10972800" cy="0"/>
          </a:xfrm>
          <a:prstGeom prst="line">
            <a:avLst/>
          </a:prstGeom>
          <a:noFill/>
          <a:ln w="9525">
            <a:solidFill>
              <a:srgbClr val="E7DF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9630" y="6515100"/>
            <a:ext cx="57150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258550" y="6496080"/>
            <a:ext cx="323880" cy="20958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27" name="Text 25"/>
          <p:cNvSpPr/>
          <p:nvPr/>
        </p:nvSpPr>
        <p:spPr>
          <a:xfrm>
            <a:off x="11258550" y="6496080"/>
            <a:ext cx="32388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30" y="476220"/>
            <a:ext cx="76170" cy="36192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3" name="Text 1"/>
          <p:cNvSpPr/>
          <p:nvPr/>
        </p:nvSpPr>
        <p:spPr>
          <a:xfrm>
            <a:off x="838230" y="438180"/>
            <a:ext cx="10744200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新场景上线统一走五步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09630" y="1066830"/>
            <a:ext cx="10972800" cy="0"/>
          </a:xfrm>
          <a:prstGeom prst="line">
            <a:avLst/>
          </a:prstGeom>
          <a:noFill/>
          <a:ln w="12700">
            <a:solidFill>
              <a:srgbClr val="E7DF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30" y="1047720"/>
            <a:ext cx="1333470" cy="3813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6" name="Shape 4"/>
          <p:cNvSpPr/>
          <p:nvPr/>
        </p:nvSpPr>
        <p:spPr>
          <a:xfrm>
            <a:off x="1943100" y="1047720"/>
            <a:ext cx="381030" cy="3813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7" name="Shape 5"/>
          <p:cNvSpPr/>
          <p:nvPr/>
        </p:nvSpPr>
        <p:spPr>
          <a:xfrm>
            <a:off x="609630" y="2362170"/>
            <a:ext cx="2019270" cy="685800"/>
          </a:xfrm>
          <a:custGeom>
            <a:avLst/>
            <a:gdLst/>
            <a:ahLst/>
            <a:cxnLst/>
            <a:rect l="l" t="t" r="r" b="b"/>
            <a:pathLst>
              <a:path w="2019270" h="685800">
                <a:moveTo>
                  <a:pt x="0" y="0"/>
                </a:moveTo>
                <a:lnTo>
                  <a:pt x="1809780" y="0"/>
                </a:lnTo>
                <a:lnTo>
                  <a:pt x="2019270" y="342900"/>
                </a:lnTo>
                <a:lnTo>
                  <a:pt x="1809780" y="685800"/>
                </a:lnTo>
                <a:lnTo>
                  <a:pt x="0" y="685800"/>
                </a:lnTo>
                <a:lnTo>
                  <a:pt x="0" y="342900"/>
                </a:lnTo>
                <a:close/>
              </a:path>
            </a:pathLst>
          </a:custGeom>
          <a:solidFill>
            <a:srgbClr val="F8F4EE"/>
          </a:solidFill>
          <a:ln/>
        </p:spPr>
      </p:sp>
      <p:sp>
        <p:nvSpPr>
          <p:cNvPr id="8" name="Text 6"/>
          <p:cNvSpPr/>
          <p:nvPr/>
        </p:nvSpPr>
        <p:spPr>
          <a:xfrm>
            <a:off x="819120" y="2495580"/>
            <a:ext cx="160020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业务出题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630" y="3276570"/>
            <a:ext cx="19812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B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30" y="3581430"/>
            <a:ext cx="198123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业务部门写清楚要解决什么问题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857500" y="2362170"/>
            <a:ext cx="2019270" cy="685800"/>
          </a:xfrm>
          <a:custGeom>
            <a:avLst/>
            <a:gdLst/>
            <a:ahLst/>
            <a:cxnLst/>
            <a:rect l="l" t="t" r="r" b="b"/>
            <a:pathLst>
              <a:path w="2019270" h="685800">
                <a:moveTo>
                  <a:pt x="0" y="0"/>
                </a:moveTo>
                <a:lnTo>
                  <a:pt x="1809780" y="0"/>
                </a:lnTo>
                <a:lnTo>
                  <a:pt x="2019270" y="342900"/>
                </a:lnTo>
                <a:lnTo>
                  <a:pt x="1809780" y="685800"/>
                </a:lnTo>
                <a:lnTo>
                  <a:pt x="0" y="685800"/>
                </a:lnTo>
                <a:lnTo>
                  <a:pt x="209580" y="342900"/>
                </a:lnTo>
                <a:close/>
              </a:path>
            </a:pathLst>
          </a:custGeom>
          <a:solidFill>
            <a:srgbClr val="F8F4EE"/>
          </a:solidFill>
          <a:ln/>
        </p:spPr>
      </p:sp>
      <p:sp>
        <p:nvSpPr>
          <p:cNvPr id="12" name="Text 10"/>
          <p:cNvSpPr/>
          <p:nvPr/>
        </p:nvSpPr>
        <p:spPr>
          <a:xfrm>
            <a:off x="3067080" y="2495580"/>
            <a:ext cx="160020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评估立项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57500" y="3276570"/>
            <a:ext cx="19812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B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57500" y="3581430"/>
            <a:ext cx="198123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信息中心评估投入产出，两周内答复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105370" y="2362170"/>
            <a:ext cx="2019270" cy="685800"/>
          </a:xfrm>
          <a:custGeom>
            <a:avLst/>
            <a:gdLst/>
            <a:ahLst/>
            <a:cxnLst/>
            <a:rect l="l" t="t" r="r" b="b"/>
            <a:pathLst>
              <a:path w="2019270" h="685800">
                <a:moveTo>
                  <a:pt x="0" y="0"/>
                </a:moveTo>
                <a:lnTo>
                  <a:pt x="1809780" y="0"/>
                </a:lnTo>
                <a:lnTo>
                  <a:pt x="2019270" y="342900"/>
                </a:lnTo>
                <a:lnTo>
                  <a:pt x="1809780" y="685800"/>
                </a:lnTo>
                <a:lnTo>
                  <a:pt x="0" y="685800"/>
                </a:lnTo>
                <a:lnTo>
                  <a:pt x="209580" y="342900"/>
                </a:lnTo>
                <a:close/>
              </a:path>
            </a:pathLst>
          </a:custGeom>
          <a:solidFill>
            <a:srgbClr val="F8F4EE"/>
          </a:solidFill>
          <a:ln/>
        </p:spPr>
      </p:sp>
      <p:sp>
        <p:nvSpPr>
          <p:cNvPr id="16" name="Text 14"/>
          <p:cNvSpPr/>
          <p:nvPr/>
        </p:nvSpPr>
        <p:spPr>
          <a:xfrm>
            <a:off x="5314950" y="2495580"/>
            <a:ext cx="160020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试点 30 天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105370" y="3276570"/>
            <a:ext cx="19812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B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05370" y="3581430"/>
            <a:ext cx="198123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在一个部门小范围试用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53330" y="2362170"/>
            <a:ext cx="2019270" cy="685800"/>
          </a:xfrm>
          <a:custGeom>
            <a:avLst/>
            <a:gdLst/>
            <a:ahLst/>
            <a:cxnLst/>
            <a:rect l="l" t="t" r="r" b="b"/>
            <a:pathLst>
              <a:path w="2019270" h="685800">
                <a:moveTo>
                  <a:pt x="0" y="0"/>
                </a:moveTo>
                <a:lnTo>
                  <a:pt x="1809780" y="0"/>
                </a:lnTo>
                <a:lnTo>
                  <a:pt x="2019270" y="342900"/>
                </a:lnTo>
                <a:lnTo>
                  <a:pt x="1809780" y="685800"/>
                </a:lnTo>
                <a:lnTo>
                  <a:pt x="0" y="685800"/>
                </a:lnTo>
                <a:lnTo>
                  <a:pt x="209580" y="342900"/>
                </a:lnTo>
                <a:close/>
              </a:path>
            </a:pathLst>
          </a:custGeom>
          <a:solidFill>
            <a:srgbClr val="F8F4EE"/>
          </a:solidFill>
          <a:ln/>
        </p:spPr>
      </p:sp>
      <p:sp>
        <p:nvSpPr>
          <p:cNvPr id="20" name="Text 18"/>
          <p:cNvSpPr/>
          <p:nvPr/>
        </p:nvSpPr>
        <p:spPr>
          <a:xfrm>
            <a:off x="7562820" y="2495580"/>
            <a:ext cx="160020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复盘定夺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353330" y="3276570"/>
            <a:ext cx="19812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B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53330" y="3581430"/>
            <a:ext cx="198123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看指标决定推广、调整还是下线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601200" y="2362170"/>
            <a:ext cx="2019270" cy="685800"/>
          </a:xfrm>
          <a:custGeom>
            <a:avLst/>
            <a:gdLst/>
            <a:ahLst/>
            <a:cxnLst/>
            <a:rect l="l" t="t" r="r" b="b"/>
            <a:pathLst>
              <a:path w="2019270" h="685800">
                <a:moveTo>
                  <a:pt x="0" y="0"/>
                </a:moveTo>
                <a:lnTo>
                  <a:pt x="1809780" y="0"/>
                </a:lnTo>
                <a:lnTo>
                  <a:pt x="2019270" y="342900"/>
                </a:lnTo>
                <a:lnTo>
                  <a:pt x="1809780" y="685800"/>
                </a:lnTo>
                <a:lnTo>
                  <a:pt x="0" y="685800"/>
                </a:lnTo>
                <a:lnTo>
                  <a:pt x="209580" y="342900"/>
                </a:lnTo>
                <a:close/>
              </a:path>
            </a:pathLst>
          </a:custGeom>
          <a:solidFill>
            <a:srgbClr val="B4181D"/>
          </a:solidFill>
          <a:ln/>
        </p:spPr>
      </p:sp>
      <p:sp>
        <p:nvSpPr>
          <p:cNvPr id="24" name="Text 22"/>
          <p:cNvSpPr/>
          <p:nvPr/>
        </p:nvSpPr>
        <p:spPr>
          <a:xfrm>
            <a:off x="9810780" y="2495580"/>
            <a:ext cx="160020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全面推广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0" y="3276570"/>
            <a:ext cx="19812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B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0" y="3581430"/>
            <a:ext cx="198123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形成操作手册，全集团铺开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09630" y="6438930"/>
            <a:ext cx="10972800" cy="0"/>
          </a:xfrm>
          <a:prstGeom prst="line">
            <a:avLst/>
          </a:prstGeom>
          <a:noFill/>
          <a:ln w="9525">
            <a:solidFill>
              <a:srgbClr val="E7DFD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9630" y="6515100"/>
            <a:ext cx="57150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1258550" y="6496080"/>
            <a:ext cx="323880" cy="20958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30" name="Text 28"/>
          <p:cNvSpPr/>
          <p:nvPr/>
        </p:nvSpPr>
        <p:spPr>
          <a:xfrm>
            <a:off x="11258550" y="6496080"/>
            <a:ext cx="32388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30" y="476220"/>
            <a:ext cx="76170" cy="36192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3" name="Text 1"/>
          <p:cNvSpPr/>
          <p:nvPr/>
        </p:nvSpPr>
        <p:spPr>
          <a:xfrm>
            <a:off x="838230" y="438180"/>
            <a:ext cx="10744200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从「能用」到「好用」，要补三块短板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09630" y="1066830"/>
            <a:ext cx="10972800" cy="0"/>
          </a:xfrm>
          <a:prstGeom prst="line">
            <a:avLst/>
          </a:prstGeom>
          <a:noFill/>
          <a:ln w="12700">
            <a:solidFill>
              <a:srgbClr val="E7DF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30" y="1047720"/>
            <a:ext cx="1333470" cy="3813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6" name="Shape 4"/>
          <p:cNvSpPr/>
          <p:nvPr/>
        </p:nvSpPr>
        <p:spPr>
          <a:xfrm>
            <a:off x="1943100" y="1047720"/>
            <a:ext cx="381030" cy="38130"/>
          </a:xfrm>
          <a:prstGeom prst="rect">
            <a:avLst/>
          </a:prstGeom>
          <a:solidFill>
            <a:srgbClr val="C9A063"/>
          </a:solidFill>
          <a:ln/>
        </p:spPr>
      </p:sp>
      <p:sp>
        <p:nvSpPr>
          <p:cNvPr id="7" name="Shape 5"/>
          <p:cNvSpPr/>
          <p:nvPr/>
        </p:nvSpPr>
        <p:spPr>
          <a:xfrm>
            <a:off x="609630" y="2247870"/>
            <a:ext cx="5295930" cy="3086100"/>
          </a:xfrm>
          <a:prstGeom prst="roundRect">
            <a:avLst>
              <a:gd name="adj" fmla="val 1852"/>
            </a:avLst>
          </a:prstGeom>
          <a:solidFill>
            <a:srgbClr val="F8F4EE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09630" y="2247870"/>
            <a:ext cx="5295930" cy="533370"/>
          </a:xfrm>
          <a:prstGeom prst="roundRect">
            <a:avLst>
              <a:gd name="adj" fmla="val 10715"/>
            </a:avLst>
          </a:prstGeom>
          <a:solidFill>
            <a:srgbClr val="D9CFC4"/>
          </a:solidFill>
          <a:ln/>
        </p:spPr>
      </p:sp>
      <p:sp>
        <p:nvSpPr>
          <p:cNvPr id="9" name="Text 7"/>
          <p:cNvSpPr/>
          <p:nvPr/>
        </p:nvSpPr>
        <p:spPr>
          <a:xfrm>
            <a:off x="838230" y="2343150"/>
            <a:ext cx="48387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现在：能用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76270" y="3162270"/>
            <a:ext cx="85771" cy="85771"/>
          </a:xfrm>
          <a:prstGeom prst="ellipse">
            <a:avLst/>
          </a:prstGeom>
          <a:solidFill>
            <a:srgbClr val="5A5A5A"/>
          </a:solidFill>
          <a:ln/>
        </p:spPr>
      </p:sp>
      <p:sp>
        <p:nvSpPr>
          <p:cNvPr id="11" name="Text 9"/>
          <p:cNvSpPr/>
          <p:nvPr/>
        </p:nvSpPr>
        <p:spPr>
          <a:xfrm>
            <a:off x="1085850" y="3047970"/>
            <a:ext cx="46291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系统上了，但很多人还是习惯线下填表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76270" y="3886200"/>
            <a:ext cx="85771" cy="85771"/>
          </a:xfrm>
          <a:prstGeom prst="ellipse">
            <a:avLst/>
          </a:prstGeom>
          <a:solidFill>
            <a:srgbClr val="5A5A5A"/>
          </a:solidFill>
          <a:ln/>
        </p:spPr>
      </p:sp>
      <p:sp>
        <p:nvSpPr>
          <p:cNvPr id="13" name="Text 11"/>
          <p:cNvSpPr/>
          <p:nvPr/>
        </p:nvSpPr>
        <p:spPr>
          <a:xfrm>
            <a:off x="1085850" y="3771900"/>
            <a:ext cx="46291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数据能查，但要找信息中心导出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76270" y="4610130"/>
            <a:ext cx="85771" cy="85771"/>
          </a:xfrm>
          <a:prstGeom prst="ellipse">
            <a:avLst/>
          </a:prstGeom>
          <a:solidFill>
            <a:srgbClr val="5A5A5A"/>
          </a:solidFill>
          <a:ln/>
        </p:spPr>
      </p:sp>
      <p:sp>
        <p:nvSpPr>
          <p:cNvPr id="15" name="Text 13"/>
          <p:cNvSpPr/>
          <p:nvPr/>
        </p:nvSpPr>
        <p:spPr>
          <a:xfrm>
            <a:off x="1085850" y="4495830"/>
            <a:ext cx="46291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每个系统一套账号密码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86500" y="2247870"/>
            <a:ext cx="5295930" cy="3086100"/>
          </a:xfrm>
          <a:prstGeom prst="roundRect">
            <a:avLst>
              <a:gd name="adj" fmla="val 1852"/>
            </a:avLst>
          </a:prstGeom>
          <a:solidFill>
            <a:srgbClr val="F8F4EE"/>
          </a:solidFill>
          <a:ln/>
        </p:spPr>
      </p:sp>
      <p:sp>
        <p:nvSpPr>
          <p:cNvPr id="17" name="Shape 15"/>
          <p:cNvSpPr/>
          <p:nvPr/>
        </p:nvSpPr>
        <p:spPr>
          <a:xfrm>
            <a:off x="6286500" y="2247870"/>
            <a:ext cx="5295930" cy="533370"/>
          </a:xfrm>
          <a:prstGeom prst="roundRect">
            <a:avLst>
              <a:gd name="adj" fmla="val 10715"/>
            </a:avLst>
          </a:prstGeom>
          <a:solidFill>
            <a:srgbClr val="B4181D"/>
          </a:solidFill>
          <a:ln/>
        </p:spPr>
      </p:sp>
      <p:sp>
        <p:nvSpPr>
          <p:cNvPr id="18" name="Text 16"/>
          <p:cNvSpPr/>
          <p:nvPr/>
        </p:nvSpPr>
        <p:spPr>
          <a:xfrm>
            <a:off x="6515100" y="2343150"/>
            <a:ext cx="48387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明年：好用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553230" y="3162270"/>
            <a:ext cx="85771" cy="85771"/>
          </a:xfrm>
          <a:prstGeom prst="ellipse">
            <a:avLst/>
          </a:prstGeom>
          <a:solidFill>
            <a:srgbClr val="B4181D"/>
          </a:solidFill>
          <a:ln/>
        </p:spPr>
      </p:sp>
      <p:sp>
        <p:nvSpPr>
          <p:cNvPr id="20" name="Text 18"/>
          <p:cNvSpPr/>
          <p:nvPr/>
        </p:nvSpPr>
        <p:spPr>
          <a:xfrm>
            <a:off x="6762720" y="3047970"/>
            <a:ext cx="46291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手机上就能办完 80% 的日常审批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553230" y="3886200"/>
            <a:ext cx="85771" cy="85771"/>
          </a:xfrm>
          <a:prstGeom prst="ellipse">
            <a:avLst/>
          </a:prstGeom>
          <a:solidFill>
            <a:srgbClr val="B4181D"/>
          </a:solidFill>
          <a:ln/>
        </p:spPr>
      </p:sp>
      <p:sp>
        <p:nvSpPr>
          <p:cNvPr id="22" name="Text 20"/>
          <p:cNvSpPr/>
          <p:nvPr/>
        </p:nvSpPr>
        <p:spPr>
          <a:xfrm>
            <a:off x="6762720" y="3771900"/>
            <a:ext cx="46291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业务人员自己拖拽出报表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553230" y="4610130"/>
            <a:ext cx="85771" cy="85771"/>
          </a:xfrm>
          <a:prstGeom prst="ellipse">
            <a:avLst/>
          </a:prstGeom>
          <a:solidFill>
            <a:srgbClr val="B4181D"/>
          </a:solidFill>
          <a:ln/>
        </p:spPr>
      </p:sp>
      <p:sp>
        <p:nvSpPr>
          <p:cNvPr id="24" name="Text 22"/>
          <p:cNvSpPr/>
          <p:nvPr/>
        </p:nvSpPr>
        <p:spPr>
          <a:xfrm>
            <a:off x="6762720" y="4495830"/>
            <a:ext cx="46291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一个账号登录所有系统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09630" y="6438930"/>
            <a:ext cx="10972800" cy="0"/>
          </a:xfrm>
          <a:prstGeom prst="line">
            <a:avLst/>
          </a:prstGeom>
          <a:noFill/>
          <a:ln w="9525">
            <a:solidFill>
              <a:srgbClr val="E7DF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9630" y="6515100"/>
            <a:ext cx="57150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1258550" y="6496080"/>
            <a:ext cx="323880" cy="20958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28" name="Text 26"/>
          <p:cNvSpPr/>
          <p:nvPr/>
        </p:nvSpPr>
        <p:spPr>
          <a:xfrm>
            <a:off x="11258550" y="6496080"/>
            <a:ext cx="32388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30" y="476220"/>
            <a:ext cx="76170" cy="36192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3" name="Text 1"/>
          <p:cNvSpPr/>
          <p:nvPr/>
        </p:nvSpPr>
        <p:spPr>
          <a:xfrm>
            <a:off x="838230" y="438180"/>
            <a:ext cx="10744200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2027 年重点项目与预算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09630" y="1066830"/>
            <a:ext cx="10972800" cy="0"/>
          </a:xfrm>
          <a:prstGeom prst="line">
            <a:avLst/>
          </a:prstGeom>
          <a:noFill/>
          <a:ln w="12700">
            <a:solidFill>
              <a:srgbClr val="E7DF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30" y="1047720"/>
            <a:ext cx="1333470" cy="3813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6" name="Shape 4"/>
          <p:cNvSpPr/>
          <p:nvPr/>
        </p:nvSpPr>
        <p:spPr>
          <a:xfrm>
            <a:off x="1943100" y="1047720"/>
            <a:ext cx="381030" cy="38130"/>
          </a:xfrm>
          <a:prstGeom prst="rect">
            <a:avLst/>
          </a:prstGeom>
          <a:solidFill>
            <a:srgbClr val="C9A063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30" y="133347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项目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18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牵头部门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18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完成时间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18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预算（万元）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181D"/>
                    </a:solidFill>
                  </a:tcPr>
                </a:tc>
              </a:tr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数据平台扩容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信息中心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2027年6月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320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移动办公升级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办公室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2027年4月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150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E"/>
                    </a:solidFill>
                  </a:tcPr>
                </a:tc>
              </a:tr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财务AI助手试点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财务部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2027年9月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90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统一身份认证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信息中心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2027年3月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60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E"/>
                    </a:solidFill>
                  </a:tcPr>
                </a:tc>
              </a:tr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设备数据接入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生产部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2027年10月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210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09630" y="6438930"/>
            <a:ext cx="10972800" cy="0"/>
          </a:xfrm>
          <a:prstGeom prst="line">
            <a:avLst/>
          </a:prstGeom>
          <a:noFill/>
          <a:ln w="9525">
            <a:solidFill>
              <a:srgbClr val="E7DFD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9630" y="6515100"/>
            <a:ext cx="57150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1258550" y="6496080"/>
            <a:ext cx="323880" cy="20958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11" name="Text 8"/>
          <p:cNvSpPr/>
          <p:nvPr/>
        </p:nvSpPr>
        <p:spPr>
          <a:xfrm>
            <a:off x="11258550" y="6496080"/>
            <a:ext cx="32388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8F4EE"/>
          </a:solidFill>
          <a:ln/>
        </p:spPr>
      </p:sp>
      <p:sp>
        <p:nvSpPr>
          <p:cNvPr id="3" name="Text 1"/>
          <p:cNvSpPr/>
          <p:nvPr/>
        </p:nvSpPr>
        <p:spPr>
          <a:xfrm>
            <a:off x="1333470" y="1047720"/>
            <a:ext cx="1524030" cy="1524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0" b="1" dirty="0">
                <a:solidFill>
                  <a:srgbClr val="C9A0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1904970" y="2190720"/>
            <a:ext cx="8382030" cy="2095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500" b="1" dirty="0">
                <a:solidFill>
                  <a:srgbClr val="B4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数字化不是买系统，</a:t>
            </a:r>
            <a:endParaRPr lang="en-US" sz="3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500" b="1" dirty="0">
                <a:solidFill>
                  <a:srgbClr val="B4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而是让每个人每天少做一件重复的事。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5715000" y="4572000"/>
            <a:ext cx="76197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4970" y="4724430"/>
            <a:ext cx="83820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集团数字化工作会议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B4181D"/>
          </a:solidFill>
          <a:ln/>
        </p:spPr>
      </p:sp>
      <p:sp>
        <p:nvSpPr>
          <p:cNvPr id="3" name="Shape 1"/>
          <p:cNvSpPr/>
          <p:nvPr/>
        </p:nvSpPr>
        <p:spPr>
          <a:xfrm>
            <a:off x="4095780" y="1428750"/>
            <a:ext cx="4000500" cy="4000500"/>
          </a:xfrm>
          <a:prstGeom prst="ellipse">
            <a:avLst/>
          </a:prstGeom>
          <a:ln w="15240">
            <a:solidFill>
              <a:srgbClr val="C9A063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55700" y="788670"/>
            <a:ext cx="5280660" cy="5280660"/>
          </a:xfrm>
          <a:prstGeom prst="ellipse">
            <a:avLst/>
          </a:prstGeom>
          <a:ln w="15240">
            <a:solidFill>
              <a:srgbClr val="C9A063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95560" y="28621"/>
            <a:ext cx="6800850" cy="6800850"/>
          </a:xfrm>
          <a:prstGeom prst="ellipse">
            <a:avLst/>
          </a:prstGeom>
          <a:ln w="15240">
            <a:solidFill>
              <a:srgbClr val="C9A063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476470"/>
            <a:ext cx="9905970" cy="104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b="1" spc="600" kern="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5333970" y="3733770"/>
            <a:ext cx="1524030" cy="0"/>
          </a:xfrm>
          <a:prstGeom prst="line">
            <a:avLst/>
          </a:prstGeom>
          <a:noFill/>
          <a:ln w="25400">
            <a:solidFill>
              <a:srgbClr val="C9A0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3924330"/>
            <a:ext cx="990597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敬请各位领导批评指正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2026年数字化转型工作汇报</dc:title>
  <dc:subject>PptxGenJS Presentation</dc:subject>
  <dc:creator>汇报人：张三</dc:creator>
  <cp:lastModifiedBy>汇报人：张三</cp:lastModifiedBy>
  <cp:revision>1</cp:revision>
  <dcterms:created xsi:type="dcterms:W3CDTF">2026-10-14T15:27:24Z</dcterms:created>
  <dcterms:modified xsi:type="dcterms:W3CDTF">2026-10-14T15:27:24Z</dcterms:modified>
</cp:coreProperties>
</file>