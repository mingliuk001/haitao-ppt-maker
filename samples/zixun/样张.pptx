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运维成本</c:v>
                </c:pt>
              </c:strCache>
            </c:strRef>
          </c:tx>
          <c:spPr>
            <a:solidFill>
              <a:srgbClr val="C5CEDB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F3A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5CE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5CED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5CED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5CED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3C7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2350</c:v>
                </c:pt>
                <c:pt idx="1">
                  <c:v>2210</c:v>
                </c:pt>
                <c:pt idx="2">
                  <c:v>1960</c:v>
                </c:pt>
                <c:pt idx="3">
                  <c:v>1660</c:v>
                </c:pt>
                <c:pt idx="4">
                  <c:v>1280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0F1F3A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9E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27A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3D9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27A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3175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970" y="0"/>
            <a:ext cx="4572000" cy="6858000"/>
          </a:xfrm>
          <a:prstGeom prst="rect">
            <a:avLst/>
          </a:prstGeom>
          <a:solidFill>
            <a:srgbClr val="0B3C7D"/>
          </a:solidFill>
          <a:ln/>
        </p:spPr>
      </p:sp>
      <p:sp>
        <p:nvSpPr>
          <p:cNvPr id="3" name="Shape 1"/>
          <p:cNvSpPr/>
          <p:nvPr/>
        </p:nvSpPr>
        <p:spPr>
          <a:xfrm>
            <a:off x="7619970" y="761970"/>
            <a:ext cx="45720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19970" y="1524030"/>
            <a:ext cx="45720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9970" y="2286000"/>
            <a:ext cx="45720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9970" y="3047970"/>
            <a:ext cx="45720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9970" y="3810030"/>
            <a:ext cx="45720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19970" y="4572000"/>
            <a:ext cx="45720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19970" y="5333970"/>
            <a:ext cx="45720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19970" y="6096030"/>
            <a:ext cx="45720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19970" y="3810030"/>
            <a:ext cx="1524030" cy="1524030"/>
          </a:xfrm>
          <a:prstGeom prst="rect">
            <a:avLst/>
          </a:prstGeom>
          <a:solidFill>
            <a:srgbClr val="00A0DF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3047970"/>
            <a:ext cx="761970" cy="76197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1866930"/>
            <a:ext cx="533370" cy="57150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1524030"/>
            <a:ext cx="6362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52680"/>
            <a:ext cx="636267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2026年数字化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转型工作汇报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85800" y="4000500"/>
            <a:ext cx="63626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以数据驱动管理提效，推动业务全面上云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85800" y="5619720"/>
            <a:ext cx="6362670" cy="0"/>
          </a:xfrm>
          <a:prstGeom prst="line">
            <a:avLst/>
          </a:prstGeom>
          <a:noFill/>
          <a:ln w="12700">
            <a:solidFill>
              <a:srgbClr val="D3D9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753130"/>
            <a:ext cx="6362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汇报人：张三    2026年10月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0B3C7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9144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52403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400" kern="0" dirty="0">
                <a:solidFill>
                  <a:srgbClr val="00A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62470" y="2514600"/>
            <a:ext cx="857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A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715000" y="2590770"/>
            <a:ext cx="5791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年度工作成效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715000" y="3028950"/>
            <a:ext cx="579117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四项核心指标全部超额完成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62470" y="3419490"/>
            <a:ext cx="6743700" cy="0"/>
          </a:xfrm>
          <a:prstGeom prst="line">
            <a:avLst/>
          </a:prstGeom>
          <a:noFill/>
          <a:ln w="9525">
            <a:solidFill>
              <a:srgbClr val="D3D9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470" y="3429000"/>
            <a:ext cx="857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A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715000" y="3505170"/>
            <a:ext cx="5791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715000" y="3943350"/>
            <a:ext cx="579117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从「能用」走向「好用」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62470" y="4333890"/>
            <a:ext cx="6743700" cy="0"/>
          </a:xfrm>
          <a:prstGeom prst="line">
            <a:avLst/>
          </a:prstGeom>
          <a:noFill/>
          <a:ln w="9525">
            <a:solidFill>
              <a:srgbClr val="D3D9E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B3C7D"/>
          </a:solidFill>
          <a:ln/>
        </p:spPr>
      </p:sp>
      <p:sp>
        <p:nvSpPr>
          <p:cNvPr id="3" name="Shape 1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381280"/>
            <a:ext cx="76170" cy="2095530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830" y="24574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200" kern="0" dirty="0">
                <a:solidFill>
                  <a:srgbClr val="00A0D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部分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66830" y="2857500"/>
            <a:ext cx="10439430" cy="104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年度工作成效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1066830" y="4000500"/>
            <a:ext cx="104394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D6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四项核心指标全部超额完成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15000" y="2381280"/>
            <a:ext cx="590547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4000" b="1" dirty="0">
                <a:solidFill>
                  <a:srgbClr val="FFFF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388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00A0D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|  年度工作成效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52480"/>
            <a:ext cx="10820370" cy="7239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四项核心指标全部超额完成年度目标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390620"/>
            <a:ext cx="10820370" cy="0"/>
          </a:xfrm>
          <a:prstGeom prst="line">
            <a:avLst/>
          </a:prstGeom>
          <a:noFill/>
          <a:ln w="15875">
            <a:solidFill>
              <a:srgbClr val="0B3C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990820"/>
            <a:ext cx="2533620" cy="28621"/>
          </a:xfrm>
          <a:prstGeom prst="rect">
            <a:avLst/>
          </a:prstGeom>
          <a:solidFill>
            <a:srgbClr val="0B3C7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200400"/>
            <a:ext cx="253362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89024" y="3456432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3C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867180"/>
            <a:ext cx="25336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业务系统上云率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4210080"/>
            <a:ext cx="25336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年初目标 90%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48020" y="2990820"/>
            <a:ext cx="2533620" cy="28621"/>
          </a:xfrm>
          <a:prstGeom prst="rect">
            <a:avLst/>
          </a:prstGeom>
          <a:solidFill>
            <a:srgbClr val="0B3C7D"/>
          </a:solidFill>
          <a:ln/>
        </p:spPr>
      </p:sp>
      <p:sp>
        <p:nvSpPr>
          <p:cNvPr id="11" name="Text 9"/>
          <p:cNvSpPr/>
          <p:nvPr/>
        </p:nvSpPr>
        <p:spPr>
          <a:xfrm>
            <a:off x="3448020" y="3200400"/>
            <a:ext cx="253362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47143" y="3456432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3C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万元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48020" y="3867180"/>
            <a:ext cx="25336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年度节约运维成本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48020" y="4210080"/>
            <a:ext cx="25336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同比下降 23%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0330" y="2990820"/>
            <a:ext cx="2533620" cy="28621"/>
          </a:xfrm>
          <a:prstGeom prst="rect">
            <a:avLst/>
          </a:prstGeom>
          <a:solidFill>
            <a:srgbClr val="0B3C7D"/>
          </a:solidFill>
          <a:ln/>
        </p:spPr>
      </p:sp>
      <p:sp>
        <p:nvSpPr>
          <p:cNvPr id="16" name="Text 14"/>
          <p:cNvSpPr/>
          <p:nvPr/>
        </p:nvSpPr>
        <p:spPr>
          <a:xfrm>
            <a:off x="6210330" y="3200400"/>
            <a:ext cx="253362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859189" y="3456432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3C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0330" y="3867180"/>
            <a:ext cx="25336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上线数字化场景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10330" y="4210080"/>
            <a:ext cx="25336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 9 个业务部门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72550" y="2990820"/>
            <a:ext cx="2533620" cy="28621"/>
          </a:xfrm>
          <a:prstGeom prst="rect">
            <a:avLst/>
          </a:prstGeom>
          <a:solidFill>
            <a:srgbClr val="0B3C7D"/>
          </a:solidFill>
          <a:ln/>
        </p:spPr>
      </p:sp>
      <p:sp>
        <p:nvSpPr>
          <p:cNvPr id="21" name="Text 19"/>
          <p:cNvSpPr/>
          <p:nvPr/>
        </p:nvSpPr>
        <p:spPr>
          <a:xfrm>
            <a:off x="8972550" y="3200400"/>
            <a:ext cx="253362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779874" y="3456432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3C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72550" y="3867180"/>
            <a:ext cx="25336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审批平均时长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972550" y="4210080"/>
            <a:ext cx="25336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去年同期 11.2 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125230" y="6457950"/>
            <a:ext cx="381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24730" y="6457950"/>
            <a:ext cx="3810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5C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388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00A0D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|  年度工作成效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52480"/>
            <a:ext cx="10820370" cy="7239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运维成本连续三年下降，今年降幅最大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390620"/>
            <a:ext cx="10820370" cy="0"/>
          </a:xfrm>
          <a:prstGeom prst="line">
            <a:avLst/>
          </a:prstGeom>
          <a:noFill/>
          <a:ln w="15875">
            <a:solidFill>
              <a:srgbClr val="0B3C7D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85800" y="1695480"/>
          <a:ext cx="6327648" cy="43243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038880"/>
            <a:ext cx="19049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单位：万元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94478" y="1638330"/>
            <a:ext cx="4111782" cy="451485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" name="Text 5"/>
          <p:cNvSpPr/>
          <p:nvPr/>
        </p:nvSpPr>
        <p:spPr>
          <a:xfrm>
            <a:off x="7661118" y="1847820"/>
            <a:ext cx="1904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200" kern="0" dirty="0">
                <a:solidFill>
                  <a:srgbClr val="00A0D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要点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61118" y="224787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65978" y="2266980"/>
            <a:ext cx="3273552" cy="111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年运维成本 1280 万元，比 2022 年少了近一半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61118" y="349886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965978" y="3517880"/>
            <a:ext cx="3273552" cy="111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主要来自服务器整合和老旧系统下线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61118" y="4749759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965978" y="4768870"/>
            <a:ext cx="3273552" cy="111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明年预计还能再降 10% 左右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1125230" y="6457950"/>
            <a:ext cx="381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24730" y="6457950"/>
            <a:ext cx="3810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5C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388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00A0D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|  年度工作成效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52480"/>
            <a:ext cx="10820370" cy="7239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今年做对了四件事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390620"/>
            <a:ext cx="10820370" cy="0"/>
          </a:xfrm>
          <a:prstGeom prst="line">
            <a:avLst/>
          </a:prstGeom>
          <a:noFill/>
          <a:ln w="15875">
            <a:solidFill>
              <a:srgbClr val="0B3C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38330"/>
            <a:ext cx="5295930" cy="28621"/>
          </a:xfrm>
          <a:prstGeom prst="rect">
            <a:avLst/>
          </a:prstGeom>
          <a:solidFill>
            <a:srgbClr val="0B3C7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47820"/>
            <a:ext cx="7619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A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324130"/>
            <a:ext cx="529593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先打通数据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2733050"/>
            <a:ext cx="5295930" cy="1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建成集团统一数据平台，34 个系统的数据第一次能在一张表里查到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0330" y="1638330"/>
            <a:ext cx="5295930" cy="28621"/>
          </a:xfrm>
          <a:prstGeom prst="rect">
            <a:avLst/>
          </a:prstGeom>
          <a:solidFill>
            <a:srgbClr val="0B3C7D"/>
          </a:solidFill>
          <a:ln/>
        </p:spPr>
      </p:sp>
      <p:sp>
        <p:nvSpPr>
          <p:cNvPr id="10" name="Text 8"/>
          <p:cNvSpPr/>
          <p:nvPr/>
        </p:nvSpPr>
        <p:spPr>
          <a:xfrm>
            <a:off x="6210330" y="1847820"/>
            <a:ext cx="7619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A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0330" y="2324130"/>
            <a:ext cx="529593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小步快跑上场景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10330" y="2733050"/>
            <a:ext cx="5295930" cy="1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每个场景先在一个部门试 30 天，跑通了再推广，失败成本可控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4057650"/>
            <a:ext cx="5295930" cy="28621"/>
          </a:xfrm>
          <a:prstGeom prst="rect">
            <a:avLst/>
          </a:prstGeom>
          <a:solidFill>
            <a:srgbClr val="0B3C7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267230"/>
            <a:ext cx="7619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A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5800" y="4743450"/>
            <a:ext cx="529593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让业务部门出题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85800" y="5152370"/>
            <a:ext cx="5295930" cy="1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场景需求全部由业务部门提出，信息中心负责实现，避免建了没人用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0330" y="4057650"/>
            <a:ext cx="5295930" cy="28621"/>
          </a:xfrm>
          <a:prstGeom prst="rect">
            <a:avLst/>
          </a:prstGeom>
          <a:solidFill>
            <a:srgbClr val="0B3C7D"/>
          </a:solidFill>
          <a:ln/>
        </p:spPr>
      </p:sp>
      <p:sp>
        <p:nvSpPr>
          <p:cNvPr id="18" name="Text 16"/>
          <p:cNvSpPr/>
          <p:nvPr/>
        </p:nvSpPr>
        <p:spPr>
          <a:xfrm>
            <a:off x="6210330" y="4267230"/>
            <a:ext cx="7619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A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10330" y="4743450"/>
            <a:ext cx="529593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用数字考核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210330" y="5152370"/>
            <a:ext cx="5295930" cy="1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每个场景上线前先定好衡量指标，季度复盘不达标就下线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25230" y="6457950"/>
            <a:ext cx="381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24730" y="6457950"/>
            <a:ext cx="3810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5C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B3C7D"/>
          </a:solidFill>
          <a:ln/>
        </p:spPr>
      </p:sp>
      <p:sp>
        <p:nvSpPr>
          <p:cNvPr id="3" name="Shape 1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381280"/>
            <a:ext cx="76170" cy="2095530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830" y="24574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200" kern="0" dirty="0">
                <a:solidFill>
                  <a:srgbClr val="00A0D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部分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66830" y="2857500"/>
            <a:ext cx="10439430" cy="104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1066830" y="4000500"/>
            <a:ext cx="1043943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D6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从「能用」走向「好用」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15000" y="2381280"/>
            <a:ext cx="590547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4000" b="1" dirty="0">
                <a:solidFill>
                  <a:srgbClr val="FFFF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388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00A0D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|  明年工作计划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52480"/>
            <a:ext cx="10820370" cy="7239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 年分四个阶段推进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390620"/>
            <a:ext cx="10820370" cy="0"/>
          </a:xfrm>
          <a:prstGeom prst="line">
            <a:avLst/>
          </a:prstGeom>
          <a:noFill/>
          <a:ln w="15875">
            <a:solidFill>
              <a:srgbClr val="0B3C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562320"/>
            <a:ext cx="10820370" cy="0"/>
          </a:xfrm>
          <a:prstGeom prst="line">
            <a:avLst/>
          </a:prstGeom>
          <a:noFill/>
          <a:ln w="25400">
            <a:solidFill>
              <a:srgbClr val="D3D9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2610" y="3476640"/>
            <a:ext cx="171450" cy="171450"/>
          </a:xfrm>
          <a:prstGeom prst="ellipse">
            <a:avLst/>
          </a:prstGeom>
          <a:solidFill>
            <a:srgbClr val="0B3C7D"/>
          </a:solidFill>
          <a:ln/>
        </p:spPr>
      </p:sp>
      <p:sp>
        <p:nvSpPr>
          <p:cNvPr id="7" name="Text 5"/>
          <p:cNvSpPr/>
          <p:nvPr/>
        </p:nvSpPr>
        <p:spPr>
          <a:xfrm>
            <a:off x="761970" y="2895630"/>
            <a:ext cx="2552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61970" y="3810030"/>
            <a:ext cx="25527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摸底与规划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0100" y="4419570"/>
            <a:ext cx="24764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梳理全部业务流程，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确定第二批场景清单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657771" y="3476640"/>
            <a:ext cx="171450" cy="171450"/>
          </a:xfrm>
          <a:prstGeom prst="ellipse">
            <a:avLst/>
          </a:prstGeom>
          <a:solidFill>
            <a:srgbClr val="0B3C7D"/>
          </a:solidFill>
          <a:ln/>
        </p:spPr>
      </p:sp>
      <p:sp>
        <p:nvSpPr>
          <p:cNvPr id="11" name="Text 9"/>
          <p:cNvSpPr/>
          <p:nvPr/>
        </p:nvSpPr>
        <p:spPr>
          <a:xfrm>
            <a:off x="3467130" y="2895630"/>
            <a:ext cx="2552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467130" y="3810030"/>
            <a:ext cx="25527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平台升级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05170" y="4419570"/>
            <a:ext cx="24764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数据平台扩容，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接入生产一线设备数据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62840" y="3476640"/>
            <a:ext cx="171450" cy="171450"/>
          </a:xfrm>
          <a:prstGeom prst="ellipse">
            <a:avLst/>
          </a:prstGeom>
          <a:solidFill>
            <a:srgbClr val="0B3C7D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895630"/>
            <a:ext cx="2552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172200" y="3810030"/>
            <a:ext cx="25527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智能化试点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0330" y="4419570"/>
            <a:ext cx="24764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在财务和采购两个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部门试点 AI 助手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067910" y="3476640"/>
            <a:ext cx="171450" cy="171450"/>
          </a:xfrm>
          <a:prstGeom prst="ellipse">
            <a:avLst/>
          </a:prstGeom>
          <a:solidFill>
            <a:srgbClr val="0B3C7D"/>
          </a:solidFill>
          <a:ln/>
        </p:spPr>
      </p:sp>
      <p:sp>
        <p:nvSpPr>
          <p:cNvPr id="19" name="Text 17"/>
          <p:cNvSpPr/>
          <p:nvPr/>
        </p:nvSpPr>
        <p:spPr>
          <a:xfrm>
            <a:off x="8877270" y="2895630"/>
            <a:ext cx="2552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877270" y="3810030"/>
            <a:ext cx="25527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全面推广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15400" y="4419570"/>
            <a:ext cx="24764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试点成功的场景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推广到全集团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125230" y="6457950"/>
            <a:ext cx="381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24730" y="6457950"/>
            <a:ext cx="3810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5C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388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00A0D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|  明年工作计划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52480"/>
            <a:ext cx="10820370" cy="7239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新场景上线统一走五步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390620"/>
            <a:ext cx="10820370" cy="0"/>
          </a:xfrm>
          <a:prstGeom prst="line">
            <a:avLst/>
          </a:prstGeom>
          <a:noFill/>
          <a:ln w="15875">
            <a:solidFill>
              <a:srgbClr val="0B3C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51460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0" y="342900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895380" y="264792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业务出题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73377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业务部门写清楚要解决什么问题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03220" y="251460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10" name="Text 8"/>
          <p:cNvSpPr/>
          <p:nvPr/>
        </p:nvSpPr>
        <p:spPr>
          <a:xfrm>
            <a:off x="3112800" y="264792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评估立项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03220" y="342900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03220" y="373377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信息中心评估投入产出，两周内答复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20640" y="251460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330220" y="264792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 30 天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20640" y="342900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373377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在一个部门小范围试用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38060" y="251460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7547640" y="264792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复盘定夺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38060" y="342900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38060" y="373377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看指标决定推广、调整还是下线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55480" y="251460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0B3C7D"/>
          </a:solidFill>
          <a:ln/>
        </p:spPr>
      </p:sp>
      <p:sp>
        <p:nvSpPr>
          <p:cNvPr id="22" name="Text 20"/>
          <p:cNvSpPr/>
          <p:nvPr/>
        </p:nvSpPr>
        <p:spPr>
          <a:xfrm>
            <a:off x="9765060" y="264792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全面推广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555480" y="342900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0B3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73377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形成操作手册，全集团铺开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125230" y="6457950"/>
            <a:ext cx="381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24730" y="6457950"/>
            <a:ext cx="3810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5C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388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00A0D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|  明年工作计划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52480"/>
            <a:ext cx="10820370" cy="7239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从「能用」到「好用」，要补三块短板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390620"/>
            <a:ext cx="10820370" cy="0"/>
          </a:xfrm>
          <a:prstGeom prst="line">
            <a:avLst/>
          </a:prstGeom>
          <a:noFill/>
          <a:ln w="15875">
            <a:solidFill>
              <a:srgbClr val="0B3C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400300"/>
            <a:ext cx="5219670" cy="3086100"/>
          </a:xfrm>
          <a:prstGeom prst="roundRect">
            <a:avLst>
              <a:gd name="adj" fmla="val 1852"/>
            </a:avLst>
          </a:prstGeom>
          <a:solidFill>
            <a:srgbClr val="F2F5F9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400300"/>
            <a:ext cx="5219670" cy="533370"/>
          </a:xfrm>
          <a:prstGeom prst="roundRect">
            <a:avLst>
              <a:gd name="adj" fmla="val 10715"/>
            </a:avLst>
          </a:prstGeom>
          <a:solidFill>
            <a:srgbClr val="C5CED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95580"/>
            <a:ext cx="47624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现在：能用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52530" y="3314700"/>
            <a:ext cx="85771" cy="85771"/>
          </a:xfrm>
          <a:prstGeom prst="ellipse">
            <a:avLst/>
          </a:prstGeom>
          <a:solidFill>
            <a:srgbClr val="56627A"/>
          </a:solidFill>
          <a:ln/>
        </p:spPr>
      </p:sp>
      <p:sp>
        <p:nvSpPr>
          <p:cNvPr id="9" name="Text 7"/>
          <p:cNvSpPr/>
          <p:nvPr/>
        </p:nvSpPr>
        <p:spPr>
          <a:xfrm>
            <a:off x="1162020" y="320040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系统上了，但很多人还是习惯线下填表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52530" y="4038630"/>
            <a:ext cx="85771" cy="85771"/>
          </a:xfrm>
          <a:prstGeom prst="ellipse">
            <a:avLst/>
          </a:prstGeom>
          <a:solidFill>
            <a:srgbClr val="56627A"/>
          </a:solidFill>
          <a:ln/>
        </p:spPr>
      </p:sp>
      <p:sp>
        <p:nvSpPr>
          <p:cNvPr id="11" name="Text 9"/>
          <p:cNvSpPr/>
          <p:nvPr/>
        </p:nvSpPr>
        <p:spPr>
          <a:xfrm>
            <a:off x="1162020" y="392433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数据能查，但要找信息中心导出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52530" y="4762470"/>
            <a:ext cx="85771" cy="85771"/>
          </a:xfrm>
          <a:prstGeom prst="ellipse">
            <a:avLst/>
          </a:prstGeom>
          <a:solidFill>
            <a:srgbClr val="56627A"/>
          </a:solidFill>
          <a:ln/>
        </p:spPr>
      </p:sp>
      <p:sp>
        <p:nvSpPr>
          <p:cNvPr id="13" name="Text 11"/>
          <p:cNvSpPr/>
          <p:nvPr/>
        </p:nvSpPr>
        <p:spPr>
          <a:xfrm>
            <a:off x="1162020" y="464817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每个系统一套账号密码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86500" y="2400300"/>
            <a:ext cx="5219670" cy="3086100"/>
          </a:xfrm>
          <a:prstGeom prst="roundRect">
            <a:avLst>
              <a:gd name="adj" fmla="val 1852"/>
            </a:avLst>
          </a:prstGeom>
          <a:solidFill>
            <a:srgbClr val="F2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286500" y="2400300"/>
            <a:ext cx="5219670" cy="533370"/>
          </a:xfrm>
          <a:prstGeom prst="roundRect">
            <a:avLst>
              <a:gd name="adj" fmla="val 10715"/>
            </a:avLst>
          </a:prstGeom>
          <a:solidFill>
            <a:srgbClr val="0B3C7D"/>
          </a:solidFill>
          <a:ln/>
        </p:spPr>
      </p:sp>
      <p:sp>
        <p:nvSpPr>
          <p:cNvPr id="16" name="Text 14"/>
          <p:cNvSpPr/>
          <p:nvPr/>
        </p:nvSpPr>
        <p:spPr>
          <a:xfrm>
            <a:off x="6515100" y="2495580"/>
            <a:ext cx="47624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明年：好用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53230" y="3314700"/>
            <a:ext cx="85771" cy="85771"/>
          </a:xfrm>
          <a:prstGeom prst="ellipse">
            <a:avLst/>
          </a:prstGeom>
          <a:solidFill>
            <a:srgbClr val="0B3C7D"/>
          </a:solidFill>
          <a:ln/>
        </p:spPr>
      </p:sp>
      <p:sp>
        <p:nvSpPr>
          <p:cNvPr id="18" name="Text 16"/>
          <p:cNvSpPr/>
          <p:nvPr/>
        </p:nvSpPr>
        <p:spPr>
          <a:xfrm>
            <a:off x="6762720" y="320040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手机上就能办完 80% 的日常审批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53230" y="4038630"/>
            <a:ext cx="85771" cy="85771"/>
          </a:xfrm>
          <a:prstGeom prst="ellipse">
            <a:avLst/>
          </a:prstGeom>
          <a:solidFill>
            <a:srgbClr val="0B3C7D"/>
          </a:solidFill>
          <a:ln/>
        </p:spPr>
      </p:sp>
      <p:sp>
        <p:nvSpPr>
          <p:cNvPr id="20" name="Text 18"/>
          <p:cNvSpPr/>
          <p:nvPr/>
        </p:nvSpPr>
        <p:spPr>
          <a:xfrm>
            <a:off x="6762720" y="392433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业务人员自己拖拽出报表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553230" y="4762470"/>
            <a:ext cx="85771" cy="85771"/>
          </a:xfrm>
          <a:prstGeom prst="ellipse">
            <a:avLst/>
          </a:prstGeom>
          <a:solidFill>
            <a:srgbClr val="0B3C7D"/>
          </a:solidFill>
          <a:ln/>
        </p:spPr>
      </p:sp>
      <p:sp>
        <p:nvSpPr>
          <p:cNvPr id="22" name="Text 20"/>
          <p:cNvSpPr/>
          <p:nvPr/>
        </p:nvSpPr>
        <p:spPr>
          <a:xfrm>
            <a:off x="6762720" y="464817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一个账号登录所有系统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125230" y="6457950"/>
            <a:ext cx="381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24730" y="6457950"/>
            <a:ext cx="3810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5C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3880"/>
            <a:ext cx="5715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00A0D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|  明年工作计划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52480"/>
            <a:ext cx="10820370" cy="7239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F1F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 年重点项目与预算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390620"/>
            <a:ext cx="10820370" cy="0"/>
          </a:xfrm>
          <a:prstGeom prst="line">
            <a:avLst/>
          </a:prstGeom>
          <a:noFill/>
          <a:ln w="15875">
            <a:solidFill>
              <a:srgbClr val="0B3C7D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38330"/>
          <a:ext cx="10820370" cy="914400"/>
        </p:xfrm>
        <a:graphic>
          <a:graphicData uri="http://schemas.openxmlformats.org/drawingml/2006/table">
            <a:tbl>
              <a:tblPr/>
              <a:tblGrid>
                <a:gridCol w="2705070"/>
                <a:gridCol w="2705070"/>
                <a:gridCol w="2705070"/>
                <a:gridCol w="2705070"/>
              </a:tblGrid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7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牵头部门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7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完成时间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7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预算（万元）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7D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数据平台扩容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信息中心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2027年6月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移动办公升级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办公室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2027年4月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财务AI助手试点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财务部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2027年9月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统一身份认证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信息中心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2027年3月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设备数据接入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生产部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2027年10月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F1F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125230" y="6457950"/>
            <a:ext cx="381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24730" y="6457950"/>
            <a:ext cx="3810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5C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04970"/>
            <a:ext cx="76170" cy="2857500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3" name="Text 1"/>
          <p:cNvSpPr/>
          <p:nvPr/>
        </p:nvSpPr>
        <p:spPr>
          <a:xfrm>
            <a:off x="1162020" y="1904970"/>
            <a:ext cx="967737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0B3C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数字化不是买系统，而是让每个人每天少做一件重复的事。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62020" y="4381530"/>
            <a:ext cx="76199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 集团数字化工作会议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6457950"/>
            <a:ext cx="76199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662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资料来源：集团数字化工作会议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25230" y="6457950"/>
            <a:ext cx="381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6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24730" y="6457950"/>
            <a:ext cx="3810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5C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B3C7D"/>
          </a:solidFill>
          <a:ln/>
        </p:spPr>
      </p:sp>
      <p:sp>
        <p:nvSpPr>
          <p:cNvPr id="3" name="Shape 1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857500"/>
            <a:ext cx="533370" cy="57150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047970"/>
            <a:ext cx="1082037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</a:t>
            </a:r>
            <a:endParaRPr lang="en-US" sz="5100" dirty="0"/>
          </a:p>
        </p:txBody>
      </p:sp>
      <p:sp>
        <p:nvSpPr>
          <p:cNvPr id="20" name="Text 18"/>
          <p:cNvSpPr/>
          <p:nvPr/>
        </p:nvSpPr>
        <p:spPr>
          <a:xfrm>
            <a:off x="685800" y="4000500"/>
            <a:ext cx="108203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D6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敬请各位领导批评指正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" y="590547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9D6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2026年数字化转型工作汇报</dc:title>
  <dc:subject>PptxGenJS Presentation</dc:subject>
  <dc:creator>汇报人：张三</dc:creator>
  <cp:lastModifiedBy>汇报人：张三</cp:lastModifiedBy>
  <cp:revision>1</cp:revision>
  <dcterms:created xsi:type="dcterms:W3CDTF">2026-10-14T15:27:32Z</dcterms:created>
  <dcterms:modified xsi:type="dcterms:W3CDTF">2026-10-14T15:27:32Z</dcterms:modified>
</cp:coreProperties>
</file>