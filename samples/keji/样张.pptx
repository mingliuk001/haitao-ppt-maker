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运维成本</c:v>
                </c:pt>
              </c:strCache>
            </c:strRef>
          </c:tx>
          <c:spPr>
            <a:solidFill>
              <a:srgbClr val="2A3A5A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F2FF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3A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3A5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3A5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3A5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2350</c:v>
                </c:pt>
                <c:pt idx="1">
                  <c:v>2210</c:v>
                </c:pt>
                <c:pt idx="2">
                  <c:v>1960</c:v>
                </c:pt>
                <c:pt idx="3">
                  <c:v>1660</c:v>
                </c:pt>
                <c:pt idx="4">
                  <c:v>1280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0" i="0" strike="noStrike" sz="1200" u="none">
                  <a:solidFill>
                    <a:srgbClr val="EAF2FF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C2842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3C2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8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3C2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60A14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60A14">
        <a:alpha val="0"/>
      </a:srgbClr>
    </a:solidFill>
    <a:ln w="3175" cap="flat">
      <a:solidFill>
        <a:srgbClr val="060A14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30" y="952530"/>
            <a:ext cx="4953030" cy="495303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86500" y="571500"/>
            <a:ext cx="5715000" cy="5715000"/>
          </a:xfrm>
          <a:prstGeom prst="ellipse">
            <a:avLst/>
          </a:prstGeom>
          <a:ln w="12700">
            <a:solidFill>
              <a:srgbClr val="22D3EE">
                <a:alpha val="35000"/>
              </a:srgbClr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7048470" y="1333470"/>
            <a:ext cx="4190970" cy="4190970"/>
          </a:xfrm>
          <a:prstGeom prst="ellipse">
            <a:avLst/>
          </a:prstGeom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10530" y="2095530"/>
            <a:ext cx="2667030" cy="2667030"/>
          </a:xfrm>
          <a:prstGeom prst="ellipse">
            <a:avLst/>
          </a:prstGeom>
          <a:ln w="12700">
            <a:solidFill>
              <a:srgbClr val="22D3EE">
                <a:alpha val="25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286000"/>
            <a:ext cx="2286000" cy="228600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762970" y="3047970"/>
            <a:ext cx="761970" cy="761970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11944350" y="3371850"/>
            <a:ext cx="114300" cy="1143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2" name="Shape 28"/>
          <p:cNvSpPr/>
          <p:nvPr/>
        </p:nvSpPr>
        <p:spPr>
          <a:xfrm>
            <a:off x="7600950" y="1885950"/>
            <a:ext cx="114300" cy="1143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3" name="Shape 29"/>
          <p:cNvSpPr/>
          <p:nvPr/>
        </p:nvSpPr>
        <p:spPr>
          <a:xfrm>
            <a:off x="10029871" y="4314871"/>
            <a:ext cx="114300" cy="1143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266730" y="266730"/>
            <a:ext cx="247620" cy="247620"/>
          </a:xfrm>
          <a:custGeom>
            <a:avLst/>
            <a:gdLst/>
            <a:ahLst/>
            <a:cxnLst/>
            <a:rect l="l" t="t" r="r" b="b"/>
            <a:pathLst>
              <a:path w="247620" h="247620">
                <a:moveTo>
                  <a:pt x="0" y="247620"/>
                </a:moveTo>
                <a:lnTo>
                  <a:pt x="0" y="0"/>
                </a:lnTo>
                <a:lnTo>
                  <a:pt x="247620" y="0"/>
                </a:lnTo>
              </a:path>
            </a:pathLst>
          </a:custGeom>
          <a:ln w="190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1677620" y="266730"/>
            <a:ext cx="247620" cy="247620"/>
          </a:xfrm>
          <a:custGeom>
            <a:avLst/>
            <a:gdLst/>
            <a:ahLst/>
            <a:cxnLst/>
            <a:rect l="l" t="t" r="r" b="b"/>
            <a:pathLst>
              <a:path w="247620" h="247620">
                <a:moveTo>
                  <a:pt x="0" y="0"/>
                </a:moveTo>
                <a:lnTo>
                  <a:pt x="247620" y="0"/>
                </a:lnTo>
                <a:lnTo>
                  <a:pt x="247620" y="247620"/>
                </a:lnTo>
              </a:path>
            </a:pathLst>
          </a:custGeom>
          <a:ln w="190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66730" y="6343650"/>
            <a:ext cx="247620" cy="247620"/>
          </a:xfrm>
          <a:custGeom>
            <a:avLst/>
            <a:gdLst/>
            <a:ahLst/>
            <a:cxnLst/>
            <a:rect l="l" t="t" r="r" b="b"/>
            <a:pathLst>
              <a:path w="247620" h="247620">
                <a:moveTo>
                  <a:pt x="0" y="0"/>
                </a:moveTo>
                <a:lnTo>
                  <a:pt x="0" y="247620"/>
                </a:lnTo>
                <a:lnTo>
                  <a:pt x="247620" y="247620"/>
                </a:lnTo>
              </a:path>
            </a:pathLst>
          </a:custGeom>
          <a:ln w="190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677620" y="6343650"/>
            <a:ext cx="247620" cy="247620"/>
          </a:xfrm>
          <a:custGeom>
            <a:avLst/>
            <a:gdLst/>
            <a:ahLst/>
            <a:cxnLst/>
            <a:rect l="l" t="t" r="r" b="b"/>
            <a:pathLst>
              <a:path w="247620" h="247620">
                <a:moveTo>
                  <a:pt x="0" y="247620"/>
                </a:moveTo>
                <a:lnTo>
                  <a:pt x="247620" y="247620"/>
                </a:lnTo>
                <a:lnTo>
                  <a:pt x="247620" y="0"/>
                </a:lnTo>
              </a:path>
            </a:pathLst>
          </a:custGeom>
          <a:ln w="1905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85800" y="1866930"/>
            <a:ext cx="1265895" cy="285750"/>
          </a:xfrm>
          <a:prstGeom prst="roundRect">
            <a:avLst>
              <a:gd name="adj" fmla="val 50016"/>
            </a:avLst>
          </a:prstGeom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85800" y="1866930"/>
            <a:ext cx="126589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2026年10月</a:t>
            </a:r>
            <a:endParaRPr lang="en-US" sz="1300" dirty="0"/>
          </a:p>
        </p:txBody>
      </p:sp>
      <p:sp>
        <p:nvSpPr>
          <p:cNvPr id="40" name="Text 36"/>
          <p:cNvSpPr/>
          <p:nvPr/>
        </p:nvSpPr>
        <p:spPr>
          <a:xfrm>
            <a:off x="685800" y="2324130"/>
            <a:ext cx="6858000" cy="161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2026年数字化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转型工作汇报</a:t>
            </a:r>
            <a:endParaRPr lang="en-US" sz="4400" dirty="0"/>
          </a:p>
        </p:txBody>
      </p:sp>
      <p:sp>
        <p:nvSpPr>
          <p:cNvPr id="41" name="Text 37"/>
          <p:cNvSpPr/>
          <p:nvPr/>
        </p:nvSpPr>
        <p:spPr>
          <a:xfrm>
            <a:off x="685800" y="4095780"/>
            <a:ext cx="64769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以数据驱动管理提效，推动业务全面上云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685800" y="5333970"/>
            <a:ext cx="1143000" cy="190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3" name="Text 39"/>
          <p:cNvSpPr/>
          <p:nvPr/>
        </p:nvSpPr>
        <p:spPr>
          <a:xfrm>
            <a:off x="685800" y="5486400"/>
            <a:ext cx="66675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  ·  汇报人：张三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02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000" dirty="0"/>
          </a:p>
        </p:txBody>
      </p:sp>
      <p:sp>
        <p:nvSpPr>
          <p:cNvPr id="32" name="Shape 29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3" name="Shape 30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4" name="Text 31"/>
          <p:cNvSpPr/>
          <p:nvPr/>
        </p:nvSpPr>
        <p:spPr>
          <a:xfrm>
            <a:off x="685800" y="291465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3400" dirty="0"/>
          </a:p>
        </p:txBody>
      </p:sp>
      <p:sp>
        <p:nvSpPr>
          <p:cNvPr id="35" name="Text 32"/>
          <p:cNvSpPr/>
          <p:nvPr/>
        </p:nvSpPr>
        <p:spPr>
          <a:xfrm>
            <a:off x="1638330" y="3181380"/>
            <a:ext cx="98679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2300" dirty="0"/>
          </a:p>
        </p:txBody>
      </p:sp>
      <p:sp>
        <p:nvSpPr>
          <p:cNvPr id="36" name="Shape 33"/>
          <p:cNvSpPr/>
          <p:nvPr/>
        </p:nvSpPr>
        <p:spPr>
          <a:xfrm>
            <a:off x="1638330" y="3781410"/>
            <a:ext cx="9867930" cy="0"/>
          </a:xfrm>
          <a:prstGeom prst="line">
            <a:avLst/>
          </a:prstGeom>
          <a:noFill/>
          <a:ln w="9525">
            <a:solidFill>
              <a:srgbClr val="1C28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" y="3790920"/>
            <a:ext cx="761970" cy="876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3400" dirty="0"/>
          </a:p>
        </p:txBody>
      </p:sp>
      <p:sp>
        <p:nvSpPr>
          <p:cNvPr id="38" name="Text 35"/>
          <p:cNvSpPr/>
          <p:nvPr/>
        </p:nvSpPr>
        <p:spPr>
          <a:xfrm>
            <a:off x="1638330" y="4057650"/>
            <a:ext cx="98679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2300" dirty="0"/>
          </a:p>
        </p:txBody>
      </p:sp>
      <p:sp>
        <p:nvSpPr>
          <p:cNvPr id="39" name="Shape 36"/>
          <p:cNvSpPr/>
          <p:nvPr/>
        </p:nvSpPr>
        <p:spPr>
          <a:xfrm>
            <a:off x="1638330" y="4657771"/>
            <a:ext cx="9867930" cy="0"/>
          </a:xfrm>
          <a:prstGeom prst="line">
            <a:avLst/>
          </a:prstGeom>
          <a:noFill/>
          <a:ln w="9525">
            <a:solidFill>
              <a:srgbClr val="1C284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2" name="Text 39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00"/>
            <a:ext cx="5715000" cy="5715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5800" y="1619220"/>
            <a:ext cx="476247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0" b="1" dirty="0">
                <a:solidFill>
                  <a:srgbClr val="22D3EE">
                    <a:alpha val="95000"/>
                  </a:srgbClr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0000" dirty="0"/>
          </a:p>
        </p:txBody>
      </p:sp>
      <p:sp>
        <p:nvSpPr>
          <p:cNvPr id="27" name="Shape 24"/>
          <p:cNvSpPr/>
          <p:nvPr/>
        </p:nvSpPr>
        <p:spPr>
          <a:xfrm>
            <a:off x="5333970" y="1904970"/>
            <a:ext cx="0" cy="304797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0280" y="2571750"/>
            <a:ext cx="476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810280" y="2895630"/>
            <a:ext cx="569598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4400" dirty="0"/>
          </a:p>
        </p:txBody>
      </p:sp>
      <p:sp>
        <p:nvSpPr>
          <p:cNvPr id="30" name="Text 27"/>
          <p:cNvSpPr/>
          <p:nvPr/>
        </p:nvSpPr>
        <p:spPr>
          <a:xfrm>
            <a:off x="5810280" y="4000500"/>
            <a:ext cx="56959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四项核心指标全部超额完成年度目标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2457450"/>
            <a:ext cx="2562240" cy="2857500"/>
          </a:xfrm>
          <a:prstGeom prst="roundRect">
            <a:avLst>
              <a:gd name="adj" fmla="val 297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2457450"/>
            <a:ext cx="34290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Shape 34"/>
          <p:cNvSpPr/>
          <p:nvPr/>
        </p:nvSpPr>
        <p:spPr>
          <a:xfrm>
            <a:off x="76197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0" y="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07659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95280" y="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197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0" y="9528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07659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95280" y="9528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" y="3086100"/>
            <a:ext cx="210504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98.6</a:t>
            </a:r>
            <a:endParaRPr lang="en-US" sz="4400" dirty="0"/>
          </a:p>
        </p:txBody>
      </p:sp>
      <p:sp>
        <p:nvSpPr>
          <p:cNvPr id="42" name="Text 39"/>
          <p:cNvSpPr/>
          <p:nvPr/>
        </p:nvSpPr>
        <p:spPr>
          <a:xfrm>
            <a:off x="2122231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%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914400" y="3813780"/>
            <a:ext cx="21050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业务系统上云率</a:t>
            </a:r>
            <a:endParaRPr lang="en-US" sz="1700" dirty="0"/>
          </a:p>
        </p:txBody>
      </p:sp>
      <p:sp>
        <p:nvSpPr>
          <p:cNvPr id="44" name="Text 41"/>
          <p:cNvSpPr/>
          <p:nvPr/>
        </p:nvSpPr>
        <p:spPr>
          <a:xfrm>
            <a:off x="914400" y="4156680"/>
            <a:ext cx="2105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年初目标 90%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3438510" y="2457450"/>
            <a:ext cx="2562240" cy="2857500"/>
          </a:xfrm>
          <a:prstGeom prst="roundRect">
            <a:avLst>
              <a:gd name="adj" fmla="val 297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667110" y="2457450"/>
            <a:ext cx="34290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7" name="Shape 44"/>
          <p:cNvSpPr/>
          <p:nvPr/>
        </p:nvSpPr>
        <p:spPr>
          <a:xfrm>
            <a:off x="3514771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0" y="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2930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95280" y="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514771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0" y="9528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82930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95280" y="9528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67110" y="3086100"/>
            <a:ext cx="210504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1,280</a:t>
            </a:r>
            <a:endParaRPr lang="en-US" sz="4400" dirty="0"/>
          </a:p>
        </p:txBody>
      </p:sp>
      <p:sp>
        <p:nvSpPr>
          <p:cNvPr id="52" name="Text 49"/>
          <p:cNvSpPr/>
          <p:nvPr/>
        </p:nvSpPr>
        <p:spPr>
          <a:xfrm>
            <a:off x="5200376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万元</a:t>
            </a:r>
            <a:endParaRPr lang="en-US" sz="1800" dirty="0"/>
          </a:p>
        </p:txBody>
      </p:sp>
      <p:sp>
        <p:nvSpPr>
          <p:cNvPr id="53" name="Text 50"/>
          <p:cNvSpPr/>
          <p:nvPr/>
        </p:nvSpPr>
        <p:spPr>
          <a:xfrm>
            <a:off x="3667110" y="3813780"/>
            <a:ext cx="21050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年度节约运维成本</a:t>
            </a:r>
            <a:endParaRPr lang="en-US" sz="1700" dirty="0"/>
          </a:p>
        </p:txBody>
      </p:sp>
      <p:sp>
        <p:nvSpPr>
          <p:cNvPr id="54" name="Text 51"/>
          <p:cNvSpPr/>
          <p:nvPr/>
        </p:nvSpPr>
        <p:spPr>
          <a:xfrm>
            <a:off x="3667110" y="4156680"/>
            <a:ext cx="2105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同比下降 23%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191220" y="2457450"/>
            <a:ext cx="2562240" cy="2857500"/>
          </a:xfrm>
          <a:prstGeom prst="roundRect">
            <a:avLst>
              <a:gd name="adj" fmla="val 297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419820" y="2457450"/>
            <a:ext cx="34290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7" name="Shape 54"/>
          <p:cNvSpPr/>
          <p:nvPr/>
        </p:nvSpPr>
        <p:spPr>
          <a:xfrm>
            <a:off x="626748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0" y="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58201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95280" y="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26748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0" y="9528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58201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95280" y="9528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19820" y="3086100"/>
            <a:ext cx="210504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36</a:t>
            </a:r>
            <a:endParaRPr lang="en-US" sz="4400" dirty="0"/>
          </a:p>
        </p:txBody>
      </p:sp>
      <p:sp>
        <p:nvSpPr>
          <p:cNvPr id="62" name="Text 59"/>
          <p:cNvSpPr/>
          <p:nvPr/>
        </p:nvSpPr>
        <p:spPr>
          <a:xfrm>
            <a:off x="7127931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2D3E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</a:t>
            </a:r>
            <a:endParaRPr lang="en-US" sz="1800" dirty="0"/>
          </a:p>
        </p:txBody>
      </p:sp>
      <p:sp>
        <p:nvSpPr>
          <p:cNvPr id="63" name="Text 60"/>
          <p:cNvSpPr/>
          <p:nvPr/>
        </p:nvSpPr>
        <p:spPr>
          <a:xfrm>
            <a:off x="6419820" y="3813780"/>
            <a:ext cx="21050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上线数字化场景</a:t>
            </a:r>
            <a:endParaRPr lang="en-US" sz="1700" dirty="0"/>
          </a:p>
        </p:txBody>
      </p:sp>
      <p:sp>
        <p:nvSpPr>
          <p:cNvPr id="64" name="Text 61"/>
          <p:cNvSpPr/>
          <p:nvPr/>
        </p:nvSpPr>
        <p:spPr>
          <a:xfrm>
            <a:off x="6419820" y="4156680"/>
            <a:ext cx="2105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个业务部门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44021" y="2457450"/>
            <a:ext cx="2562240" cy="2857500"/>
          </a:xfrm>
          <a:prstGeom prst="roundRect">
            <a:avLst>
              <a:gd name="adj" fmla="val 297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172621" y="2457450"/>
            <a:ext cx="34290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7" name="Shape 64"/>
          <p:cNvSpPr/>
          <p:nvPr/>
        </p:nvSpPr>
        <p:spPr>
          <a:xfrm>
            <a:off x="902019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0" y="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1334720" y="253362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95280" y="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902019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0"/>
                </a:moveTo>
                <a:lnTo>
                  <a:pt x="0" y="95280"/>
                </a:lnTo>
                <a:lnTo>
                  <a:pt x="95280" y="9528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1334720" y="5143500"/>
            <a:ext cx="95280" cy="95280"/>
          </a:xfrm>
          <a:custGeom>
            <a:avLst/>
            <a:gdLst/>
            <a:ahLst/>
            <a:cxnLst/>
            <a:rect l="l" t="t" r="r" b="b"/>
            <a:pathLst>
              <a:path w="95280" h="95280">
                <a:moveTo>
                  <a:pt x="0" y="95280"/>
                </a:moveTo>
                <a:lnTo>
                  <a:pt x="95280" y="95280"/>
                </a:lnTo>
                <a:lnTo>
                  <a:pt x="95280" y="0"/>
                </a:lnTo>
              </a:path>
            </a:pathLst>
          </a:custGeom>
          <a:ln w="190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9172621" y="3086100"/>
            <a:ext cx="2105040" cy="670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4.8</a:t>
            </a:r>
            <a:endParaRPr lang="en-US" sz="4400" dirty="0"/>
          </a:p>
        </p:txBody>
      </p:sp>
      <p:sp>
        <p:nvSpPr>
          <p:cNvPr id="72" name="Text 69"/>
          <p:cNvSpPr/>
          <p:nvPr/>
        </p:nvSpPr>
        <p:spPr>
          <a:xfrm>
            <a:off x="10054925" y="3367735"/>
            <a:ext cx="952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9172621" y="3813780"/>
            <a:ext cx="21050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审批平均时长</a:t>
            </a:r>
            <a:endParaRPr lang="en-US" sz="1700" dirty="0"/>
          </a:p>
        </p:txBody>
      </p:sp>
      <p:sp>
        <p:nvSpPr>
          <p:cNvPr id="74" name="Text 71"/>
          <p:cNvSpPr/>
          <p:nvPr/>
        </p:nvSpPr>
        <p:spPr>
          <a:xfrm>
            <a:off x="9172621" y="4156680"/>
            <a:ext cx="210504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去年同期 11.2 天</a:t>
            </a:r>
            <a:endParaRPr lang="en-US" sz="1500" dirty="0"/>
          </a:p>
        </p:txBody>
      </p:sp>
      <p:sp>
        <p:nvSpPr>
          <p:cNvPr id="75" name="Text 72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7" name="Text 74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运维成本连续三年下降，今年降幅最大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graphicFrame>
        <p:nvGraphicFramePr>
          <p:cNvPr id="35" name="Chart 0" descr=""/>
          <p:cNvGraphicFramePr/>
          <p:nvPr/>
        </p:nvGraphicFramePr>
        <p:xfrm>
          <a:off x="685800" y="1638330"/>
          <a:ext cx="6206490" cy="4286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6" name="Text 32"/>
          <p:cNvSpPr/>
          <p:nvPr/>
        </p:nvSpPr>
        <p:spPr>
          <a:xfrm>
            <a:off x="685800" y="5943600"/>
            <a:ext cx="1904970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单位：万元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273320" y="1714500"/>
            <a:ext cx="38130" cy="124459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8" name="Text 34"/>
          <p:cNvSpPr/>
          <p:nvPr/>
        </p:nvSpPr>
        <p:spPr>
          <a:xfrm>
            <a:off x="7482810" y="1676370"/>
            <a:ext cx="402336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年运维成本 1280 万元，比 2022 年少了近一半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7273320" y="3187690"/>
            <a:ext cx="38130" cy="1244590"/>
          </a:xfrm>
          <a:prstGeom prst="rect">
            <a:avLst/>
          </a:prstGeom>
          <a:solidFill>
            <a:srgbClr val="1C2842"/>
          </a:solidFill>
          <a:ln/>
        </p:spPr>
      </p:sp>
      <p:sp>
        <p:nvSpPr>
          <p:cNvPr id="40" name="Text 36"/>
          <p:cNvSpPr/>
          <p:nvPr/>
        </p:nvSpPr>
        <p:spPr>
          <a:xfrm>
            <a:off x="7482810" y="3149559"/>
            <a:ext cx="402336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主要来自服务器整合和老旧系统下线</a:t>
            </a:r>
            <a:endParaRPr lang="en-US" sz="1700" dirty="0"/>
          </a:p>
        </p:txBody>
      </p:sp>
      <p:sp>
        <p:nvSpPr>
          <p:cNvPr id="41" name="Shape 37"/>
          <p:cNvSpPr/>
          <p:nvPr/>
        </p:nvSpPr>
        <p:spPr>
          <a:xfrm>
            <a:off x="7273320" y="4660880"/>
            <a:ext cx="38130" cy="1244590"/>
          </a:xfrm>
          <a:prstGeom prst="rect">
            <a:avLst/>
          </a:prstGeom>
          <a:solidFill>
            <a:srgbClr val="1C2842"/>
          </a:solidFill>
          <a:ln/>
        </p:spPr>
      </p:sp>
      <p:sp>
        <p:nvSpPr>
          <p:cNvPr id="42" name="Text 38"/>
          <p:cNvSpPr/>
          <p:nvPr/>
        </p:nvSpPr>
        <p:spPr>
          <a:xfrm>
            <a:off x="7482810" y="4622841"/>
            <a:ext cx="4023360" cy="1320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明年预计还能再降 10% 左右</a:t>
            </a:r>
            <a:endParaRPr lang="en-US" sz="1700" dirty="0"/>
          </a:p>
        </p:txBody>
      </p:sp>
      <p:sp>
        <p:nvSpPr>
          <p:cNvPr id="43" name="Text 39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5" name="Text 41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06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年度工作成效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今年做对了四件事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1581180"/>
            <a:ext cx="5295930" cy="2190720"/>
          </a:xfrm>
          <a:prstGeom prst="roundRect">
            <a:avLst>
              <a:gd name="adj" fmla="val 34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4400" y="1581180"/>
            <a:ext cx="34290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" y="18288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01</a:t>
            </a:r>
            <a:endParaRPr lang="en-US" sz="2600" dirty="0"/>
          </a:p>
        </p:txBody>
      </p:sp>
      <p:sp>
        <p:nvSpPr>
          <p:cNvPr id="38" name="Shape 35"/>
          <p:cNvSpPr/>
          <p:nvPr/>
        </p:nvSpPr>
        <p:spPr>
          <a:xfrm>
            <a:off x="1352580" y="2000250"/>
            <a:ext cx="419070" cy="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14400" y="2266980"/>
            <a:ext cx="48387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先打通数据</a:t>
            </a:r>
            <a:endParaRPr lang="en-US" sz="1900" dirty="0"/>
          </a:p>
        </p:txBody>
      </p:sp>
      <p:sp>
        <p:nvSpPr>
          <p:cNvPr id="40" name="Text 37"/>
          <p:cNvSpPr/>
          <p:nvPr/>
        </p:nvSpPr>
        <p:spPr>
          <a:xfrm>
            <a:off x="914400" y="2675900"/>
            <a:ext cx="483873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建成集团统一数据平台，34 个系统的数据第一次能在一张表里查到</a:t>
            </a:r>
            <a:endParaRPr lang="en-US" sz="1800" dirty="0"/>
          </a:p>
        </p:txBody>
      </p:sp>
      <p:sp>
        <p:nvSpPr>
          <p:cNvPr id="41" name="Shape 38"/>
          <p:cNvSpPr/>
          <p:nvPr/>
        </p:nvSpPr>
        <p:spPr>
          <a:xfrm>
            <a:off x="6210330" y="1581180"/>
            <a:ext cx="5295930" cy="2190720"/>
          </a:xfrm>
          <a:prstGeom prst="roundRect">
            <a:avLst>
              <a:gd name="adj" fmla="val 34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38930" y="1581180"/>
            <a:ext cx="34290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3" name="Text 40"/>
          <p:cNvSpPr/>
          <p:nvPr/>
        </p:nvSpPr>
        <p:spPr>
          <a:xfrm>
            <a:off x="6438930" y="182880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600" dirty="0"/>
          </a:p>
        </p:txBody>
      </p:sp>
      <p:sp>
        <p:nvSpPr>
          <p:cNvPr id="44" name="Shape 41"/>
          <p:cNvSpPr/>
          <p:nvPr/>
        </p:nvSpPr>
        <p:spPr>
          <a:xfrm>
            <a:off x="6877020" y="2000250"/>
            <a:ext cx="419070" cy="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38930" y="2266980"/>
            <a:ext cx="48387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小步快跑上场景</a:t>
            </a:r>
            <a:endParaRPr lang="en-US" sz="1900" dirty="0"/>
          </a:p>
        </p:txBody>
      </p:sp>
      <p:sp>
        <p:nvSpPr>
          <p:cNvPr id="46" name="Text 43"/>
          <p:cNvSpPr/>
          <p:nvPr/>
        </p:nvSpPr>
        <p:spPr>
          <a:xfrm>
            <a:off x="6438930" y="2675900"/>
            <a:ext cx="483873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每个场景先在一个部门试 30 天，跑通了再推广，失败成本可控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685800" y="4000500"/>
            <a:ext cx="5295930" cy="2190720"/>
          </a:xfrm>
          <a:prstGeom prst="roundRect">
            <a:avLst>
              <a:gd name="adj" fmla="val 34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14400" y="4000500"/>
            <a:ext cx="34290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9" name="Text 46"/>
          <p:cNvSpPr/>
          <p:nvPr/>
        </p:nvSpPr>
        <p:spPr>
          <a:xfrm>
            <a:off x="914400" y="424812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03</a:t>
            </a:r>
            <a:endParaRPr lang="en-US" sz="2600" dirty="0"/>
          </a:p>
        </p:txBody>
      </p:sp>
      <p:sp>
        <p:nvSpPr>
          <p:cNvPr id="50" name="Shape 47"/>
          <p:cNvSpPr/>
          <p:nvPr/>
        </p:nvSpPr>
        <p:spPr>
          <a:xfrm>
            <a:off x="1352580" y="4419570"/>
            <a:ext cx="419070" cy="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14400" y="4686300"/>
            <a:ext cx="48387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让业务部门出题</a:t>
            </a:r>
            <a:endParaRPr lang="en-US" sz="1900" dirty="0"/>
          </a:p>
        </p:txBody>
      </p:sp>
      <p:sp>
        <p:nvSpPr>
          <p:cNvPr id="52" name="Text 49"/>
          <p:cNvSpPr/>
          <p:nvPr/>
        </p:nvSpPr>
        <p:spPr>
          <a:xfrm>
            <a:off x="914400" y="5095220"/>
            <a:ext cx="483873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场景需求全部由业务部门提出，信息中心负责实现，避免建了没人用</a:t>
            </a:r>
            <a:endParaRPr lang="en-US" sz="1800" dirty="0"/>
          </a:p>
        </p:txBody>
      </p:sp>
      <p:sp>
        <p:nvSpPr>
          <p:cNvPr id="53" name="Shape 50"/>
          <p:cNvSpPr/>
          <p:nvPr/>
        </p:nvSpPr>
        <p:spPr>
          <a:xfrm>
            <a:off x="6210330" y="4000500"/>
            <a:ext cx="5295930" cy="2190720"/>
          </a:xfrm>
          <a:prstGeom prst="roundRect">
            <a:avLst>
              <a:gd name="adj" fmla="val 3477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438930" y="4000500"/>
            <a:ext cx="34290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5" name="Text 52"/>
          <p:cNvSpPr/>
          <p:nvPr/>
        </p:nvSpPr>
        <p:spPr>
          <a:xfrm>
            <a:off x="6438930" y="4248120"/>
            <a:ext cx="57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A78BF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04</a:t>
            </a:r>
            <a:endParaRPr lang="en-US" sz="2600" dirty="0"/>
          </a:p>
        </p:txBody>
      </p:sp>
      <p:sp>
        <p:nvSpPr>
          <p:cNvPr id="56" name="Shape 53"/>
          <p:cNvSpPr/>
          <p:nvPr/>
        </p:nvSpPr>
        <p:spPr>
          <a:xfrm>
            <a:off x="6877020" y="4419570"/>
            <a:ext cx="419070" cy="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38930" y="4686300"/>
            <a:ext cx="4838730" cy="3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用数字考核</a:t>
            </a:r>
            <a:endParaRPr lang="en-US" sz="1900" dirty="0"/>
          </a:p>
        </p:txBody>
      </p:sp>
      <p:sp>
        <p:nvSpPr>
          <p:cNvPr id="58" name="Text 55"/>
          <p:cNvSpPr/>
          <p:nvPr/>
        </p:nvSpPr>
        <p:spPr>
          <a:xfrm>
            <a:off x="6438930" y="5095220"/>
            <a:ext cx="4838730" cy="886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每个场景上线前先定好衡量指标，季度复盘不达标就下线</a:t>
            </a:r>
            <a:endParaRPr lang="en-US" sz="1800" dirty="0"/>
          </a:p>
        </p:txBody>
      </p:sp>
      <p:sp>
        <p:nvSpPr>
          <p:cNvPr id="59" name="Text 56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1" name="Text 58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00"/>
            <a:ext cx="5715000" cy="57150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85800" y="1619220"/>
            <a:ext cx="476247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0" b="1" dirty="0">
                <a:solidFill>
                  <a:srgbClr val="22D3EE">
                    <a:alpha val="95000"/>
                  </a:srgbClr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02</a:t>
            </a:r>
            <a:endParaRPr lang="en-US" sz="20000" dirty="0"/>
          </a:p>
        </p:txBody>
      </p:sp>
      <p:sp>
        <p:nvSpPr>
          <p:cNvPr id="27" name="Shape 24"/>
          <p:cNvSpPr/>
          <p:nvPr/>
        </p:nvSpPr>
        <p:spPr>
          <a:xfrm>
            <a:off x="5333970" y="1904970"/>
            <a:ext cx="0" cy="3047970"/>
          </a:xfrm>
          <a:prstGeom prst="line">
            <a:avLst/>
          </a:prstGeom>
          <a:noFill/>
          <a:ln w="12700">
            <a:solidFill>
              <a:srgbClr val="1C28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10280" y="2571750"/>
            <a:ext cx="4762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 02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810280" y="2895630"/>
            <a:ext cx="5695980" cy="104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4400" dirty="0"/>
          </a:p>
        </p:txBody>
      </p:sp>
      <p:sp>
        <p:nvSpPr>
          <p:cNvPr id="30" name="Text 27"/>
          <p:cNvSpPr/>
          <p:nvPr/>
        </p:nvSpPr>
        <p:spPr>
          <a:xfrm>
            <a:off x="5810280" y="4000500"/>
            <a:ext cx="56959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从「能用」走向「好用」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08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年分四个阶段推进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3505170"/>
            <a:ext cx="10820370" cy="0"/>
          </a:xfrm>
          <a:prstGeom prst="line">
            <a:avLst/>
          </a:prstGeom>
          <a:noFill/>
          <a:ln w="25400">
            <a:solidFill>
              <a:srgbClr val="1C284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952610" y="3419490"/>
            <a:ext cx="171450" cy="1714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7" name="Text 34"/>
          <p:cNvSpPr/>
          <p:nvPr/>
        </p:nvSpPr>
        <p:spPr>
          <a:xfrm>
            <a:off x="761970" y="283848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Q1</a:t>
            </a:r>
            <a:endParaRPr lang="en-US" sz="2300" dirty="0"/>
          </a:p>
        </p:txBody>
      </p:sp>
      <p:sp>
        <p:nvSpPr>
          <p:cNvPr id="38" name="Text 35"/>
          <p:cNvSpPr/>
          <p:nvPr/>
        </p:nvSpPr>
        <p:spPr>
          <a:xfrm>
            <a:off x="761970" y="375288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摸底与规划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800100" y="436242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梳理全部业务流程，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确定第二批场景清单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4657771" y="3419490"/>
            <a:ext cx="171450" cy="1714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1" name="Text 38"/>
          <p:cNvSpPr/>
          <p:nvPr/>
        </p:nvSpPr>
        <p:spPr>
          <a:xfrm>
            <a:off x="3467130" y="283848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Q2</a:t>
            </a:r>
            <a:endParaRPr lang="en-US" sz="2300" dirty="0"/>
          </a:p>
        </p:txBody>
      </p:sp>
      <p:sp>
        <p:nvSpPr>
          <p:cNvPr id="42" name="Text 39"/>
          <p:cNvSpPr/>
          <p:nvPr/>
        </p:nvSpPr>
        <p:spPr>
          <a:xfrm>
            <a:off x="3467130" y="375288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平台升级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3505170" y="436242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数据平台扩容，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接入生产一线设备数据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7362840" y="3419490"/>
            <a:ext cx="171450" cy="1714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5" name="Text 42"/>
          <p:cNvSpPr/>
          <p:nvPr/>
        </p:nvSpPr>
        <p:spPr>
          <a:xfrm>
            <a:off x="6172200" y="283848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Q3</a:t>
            </a:r>
            <a:endParaRPr lang="en-US" sz="2300" dirty="0"/>
          </a:p>
        </p:txBody>
      </p:sp>
      <p:sp>
        <p:nvSpPr>
          <p:cNvPr id="46" name="Text 43"/>
          <p:cNvSpPr/>
          <p:nvPr/>
        </p:nvSpPr>
        <p:spPr>
          <a:xfrm>
            <a:off x="6172200" y="375288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智能化试点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6210330" y="436242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在财务和采购两个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部门试点 AI 助手</a:t>
            </a:r>
            <a:endParaRPr lang="en-US" sz="1700" dirty="0"/>
          </a:p>
        </p:txBody>
      </p:sp>
      <p:sp>
        <p:nvSpPr>
          <p:cNvPr id="48" name="Shape 45"/>
          <p:cNvSpPr/>
          <p:nvPr/>
        </p:nvSpPr>
        <p:spPr>
          <a:xfrm>
            <a:off x="10067910" y="3419490"/>
            <a:ext cx="171450" cy="1714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9" name="Text 46"/>
          <p:cNvSpPr/>
          <p:nvPr/>
        </p:nvSpPr>
        <p:spPr>
          <a:xfrm>
            <a:off x="8877270" y="2838480"/>
            <a:ext cx="255273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Q4</a:t>
            </a:r>
            <a:endParaRPr lang="en-US" sz="2300" dirty="0"/>
          </a:p>
        </p:txBody>
      </p:sp>
      <p:sp>
        <p:nvSpPr>
          <p:cNvPr id="50" name="Text 47"/>
          <p:cNvSpPr/>
          <p:nvPr/>
        </p:nvSpPr>
        <p:spPr>
          <a:xfrm>
            <a:off x="8877270" y="3752880"/>
            <a:ext cx="2552730" cy="53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8915400" y="4362420"/>
            <a:ext cx="24764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试点成功的场景</a:t>
            </a:r>
            <a:endParaRPr lang="en-US" sz="1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推广到全集团</a:t>
            </a:r>
            <a:endParaRPr lang="en-US" sz="1700" dirty="0"/>
          </a:p>
        </p:txBody>
      </p:sp>
      <p:sp>
        <p:nvSpPr>
          <p:cNvPr id="52" name="Text 49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4" name="Text 51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09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新场景上线统一走五步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245745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0" y="342900"/>
                </a:lnTo>
                <a:close/>
              </a:path>
            </a:pathLst>
          </a:custGeom>
          <a:solidFill>
            <a:srgbClr val="0D1526"/>
          </a:solidFill>
          <a:ln/>
        </p:spPr>
      </p:sp>
      <p:sp>
        <p:nvSpPr>
          <p:cNvPr id="36" name="Text 33"/>
          <p:cNvSpPr/>
          <p:nvPr/>
        </p:nvSpPr>
        <p:spPr>
          <a:xfrm>
            <a:off x="895380" y="259077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业务出题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85800" y="337185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STEP 1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85800" y="367662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业务部门写清楚要解决什么问题</a:t>
            </a:r>
            <a:endParaRPr lang="en-US" sz="1800" dirty="0"/>
          </a:p>
        </p:txBody>
      </p:sp>
      <p:sp>
        <p:nvSpPr>
          <p:cNvPr id="39" name="Shape 36"/>
          <p:cNvSpPr/>
          <p:nvPr/>
        </p:nvSpPr>
        <p:spPr>
          <a:xfrm>
            <a:off x="2903220" y="245745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0D1526"/>
          </a:solidFill>
          <a:ln/>
        </p:spPr>
      </p:sp>
      <p:sp>
        <p:nvSpPr>
          <p:cNvPr id="40" name="Text 37"/>
          <p:cNvSpPr/>
          <p:nvPr/>
        </p:nvSpPr>
        <p:spPr>
          <a:xfrm>
            <a:off x="3112800" y="259077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评估立项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2903220" y="337185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STEP 2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2903220" y="367662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信息中心评估投入产出，两周内答复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5120640" y="245745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0D1526"/>
          </a:solidFill>
          <a:ln/>
        </p:spPr>
      </p:sp>
      <p:sp>
        <p:nvSpPr>
          <p:cNvPr id="44" name="Text 41"/>
          <p:cNvSpPr/>
          <p:nvPr/>
        </p:nvSpPr>
        <p:spPr>
          <a:xfrm>
            <a:off x="5330220" y="259077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试点 30 天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5120640" y="337185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STEP 3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5120640" y="367662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在一个部门小范围试用</a:t>
            </a:r>
            <a:endParaRPr lang="en-US" sz="1800" dirty="0"/>
          </a:p>
        </p:txBody>
      </p:sp>
      <p:sp>
        <p:nvSpPr>
          <p:cNvPr id="47" name="Shape 44"/>
          <p:cNvSpPr/>
          <p:nvPr/>
        </p:nvSpPr>
        <p:spPr>
          <a:xfrm>
            <a:off x="7338060" y="245745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0D1526"/>
          </a:solidFill>
          <a:ln/>
        </p:spPr>
      </p:sp>
      <p:sp>
        <p:nvSpPr>
          <p:cNvPr id="48" name="Text 45"/>
          <p:cNvSpPr/>
          <p:nvPr/>
        </p:nvSpPr>
        <p:spPr>
          <a:xfrm>
            <a:off x="7547640" y="259077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复盘定夺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7338060" y="337185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STEP 4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7338060" y="367662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看指标决定推广、调整还是下线</a:t>
            </a:r>
            <a:endParaRPr lang="en-US" sz="1800" dirty="0"/>
          </a:p>
        </p:txBody>
      </p:sp>
      <p:sp>
        <p:nvSpPr>
          <p:cNvPr id="51" name="Shape 48"/>
          <p:cNvSpPr/>
          <p:nvPr/>
        </p:nvSpPr>
        <p:spPr>
          <a:xfrm>
            <a:off x="9555480" y="2457450"/>
            <a:ext cx="1988820" cy="685800"/>
          </a:xfrm>
          <a:custGeom>
            <a:avLst/>
            <a:gdLst/>
            <a:ahLst/>
            <a:cxnLst/>
            <a:rect l="l" t="t" r="r" b="b"/>
            <a:pathLst>
              <a:path w="1988820" h="685800">
                <a:moveTo>
                  <a:pt x="0" y="0"/>
                </a:moveTo>
                <a:lnTo>
                  <a:pt x="1779240" y="0"/>
                </a:lnTo>
                <a:lnTo>
                  <a:pt x="1988820" y="342900"/>
                </a:lnTo>
                <a:lnTo>
                  <a:pt x="1779240" y="685800"/>
                </a:lnTo>
                <a:lnTo>
                  <a:pt x="0" y="685800"/>
                </a:lnTo>
                <a:lnTo>
                  <a:pt x="209580" y="342900"/>
                </a:lnTo>
                <a:close/>
              </a:path>
            </a:pathLst>
          </a:custGeom>
          <a:solidFill>
            <a:srgbClr val="22D3EE"/>
          </a:solidFill>
          <a:ln/>
        </p:spPr>
      </p:sp>
      <p:sp>
        <p:nvSpPr>
          <p:cNvPr id="52" name="Text 49"/>
          <p:cNvSpPr/>
          <p:nvPr/>
        </p:nvSpPr>
        <p:spPr>
          <a:xfrm>
            <a:off x="9765060" y="2590770"/>
            <a:ext cx="1569750" cy="419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313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全面推广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9555480" y="3371850"/>
            <a:ext cx="1950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STEP 5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9555480" y="3676620"/>
            <a:ext cx="195069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形成操作手册，全集团铺开</a:t>
            </a:r>
            <a:endParaRPr lang="en-US" sz="1800" dirty="0"/>
          </a:p>
        </p:txBody>
      </p:sp>
      <p:sp>
        <p:nvSpPr>
          <p:cNvPr id="55" name="Text 52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1100" dirty="0"/>
          </a:p>
        </p:txBody>
      </p:sp>
      <p:sp>
        <p:nvSpPr>
          <p:cNvPr id="56" name="Shape 53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7" name="Text 54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从「能用」到「好用」，要补三块短板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Shape 32"/>
          <p:cNvSpPr/>
          <p:nvPr/>
        </p:nvSpPr>
        <p:spPr>
          <a:xfrm>
            <a:off x="685800" y="234315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0D1526">
              <a:alpha val="6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234315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2A3A5A"/>
          </a:solidFill>
          <a:ln/>
        </p:spPr>
      </p:sp>
      <p:sp>
        <p:nvSpPr>
          <p:cNvPr id="37" name="Text 34"/>
          <p:cNvSpPr/>
          <p:nvPr/>
        </p:nvSpPr>
        <p:spPr>
          <a:xfrm>
            <a:off x="914400" y="243843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现在：能用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952530" y="3257550"/>
            <a:ext cx="85771" cy="85771"/>
          </a:xfrm>
          <a:prstGeom prst="ellipse">
            <a:avLst/>
          </a:prstGeom>
          <a:solidFill>
            <a:srgbClr val="8FA3C2"/>
          </a:solidFill>
          <a:ln/>
        </p:spPr>
      </p:sp>
      <p:sp>
        <p:nvSpPr>
          <p:cNvPr id="39" name="Text 36"/>
          <p:cNvSpPr/>
          <p:nvPr/>
        </p:nvSpPr>
        <p:spPr>
          <a:xfrm>
            <a:off x="1162020" y="314325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系统上了，但很多人还是习惯线下填表</a:t>
            </a:r>
            <a:endParaRPr lang="en-US" sz="1900" dirty="0"/>
          </a:p>
        </p:txBody>
      </p:sp>
      <p:sp>
        <p:nvSpPr>
          <p:cNvPr id="40" name="Shape 37"/>
          <p:cNvSpPr/>
          <p:nvPr/>
        </p:nvSpPr>
        <p:spPr>
          <a:xfrm>
            <a:off x="952530" y="3981480"/>
            <a:ext cx="85771" cy="85771"/>
          </a:xfrm>
          <a:prstGeom prst="ellipse">
            <a:avLst/>
          </a:prstGeom>
          <a:solidFill>
            <a:srgbClr val="8FA3C2"/>
          </a:solidFill>
          <a:ln/>
        </p:spPr>
      </p:sp>
      <p:sp>
        <p:nvSpPr>
          <p:cNvPr id="41" name="Text 38"/>
          <p:cNvSpPr/>
          <p:nvPr/>
        </p:nvSpPr>
        <p:spPr>
          <a:xfrm>
            <a:off x="1162020" y="386718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数据能查，但要找信息中心导出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952530" y="4705320"/>
            <a:ext cx="85771" cy="85771"/>
          </a:xfrm>
          <a:prstGeom prst="ellipse">
            <a:avLst/>
          </a:prstGeom>
          <a:solidFill>
            <a:srgbClr val="8FA3C2"/>
          </a:solidFill>
          <a:ln/>
        </p:spPr>
      </p:sp>
      <p:sp>
        <p:nvSpPr>
          <p:cNvPr id="43" name="Text 40"/>
          <p:cNvSpPr/>
          <p:nvPr/>
        </p:nvSpPr>
        <p:spPr>
          <a:xfrm>
            <a:off x="1162020" y="459102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每个系统一套账号密码</a:t>
            </a:r>
            <a:endParaRPr lang="en-US" sz="2000" dirty="0"/>
          </a:p>
        </p:txBody>
      </p:sp>
      <p:sp>
        <p:nvSpPr>
          <p:cNvPr id="44" name="Shape 41"/>
          <p:cNvSpPr/>
          <p:nvPr/>
        </p:nvSpPr>
        <p:spPr>
          <a:xfrm>
            <a:off x="6286500" y="2343150"/>
            <a:ext cx="5219670" cy="3086100"/>
          </a:xfrm>
          <a:prstGeom prst="roundRect">
            <a:avLst>
              <a:gd name="adj" fmla="val 1852"/>
            </a:avLst>
          </a:prstGeom>
          <a:solidFill>
            <a:srgbClr val="0D1526"/>
          </a:solidFill>
          <a:ln/>
        </p:spPr>
      </p:sp>
      <p:sp>
        <p:nvSpPr>
          <p:cNvPr id="45" name="Shape 42"/>
          <p:cNvSpPr/>
          <p:nvPr/>
        </p:nvSpPr>
        <p:spPr>
          <a:xfrm>
            <a:off x="6286500" y="2343150"/>
            <a:ext cx="5219670" cy="533370"/>
          </a:xfrm>
          <a:prstGeom prst="roundRect">
            <a:avLst>
              <a:gd name="adj" fmla="val 10715"/>
            </a:avLst>
          </a:prstGeom>
          <a:solidFill>
            <a:srgbClr val="22D3EE"/>
          </a:solidFill>
          <a:ln/>
        </p:spPr>
      </p:sp>
      <p:sp>
        <p:nvSpPr>
          <p:cNvPr id="46" name="Text 43"/>
          <p:cNvSpPr/>
          <p:nvPr/>
        </p:nvSpPr>
        <p:spPr>
          <a:xfrm>
            <a:off x="6515100" y="2438430"/>
            <a:ext cx="476247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313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明年：好用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6553230" y="3257550"/>
            <a:ext cx="85771" cy="85771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8" name="Text 45"/>
          <p:cNvSpPr/>
          <p:nvPr/>
        </p:nvSpPr>
        <p:spPr>
          <a:xfrm>
            <a:off x="6762720" y="314325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手机上就能办完 80% 的日常审批</a:t>
            </a:r>
            <a:endParaRPr lang="en-US" sz="2000" dirty="0"/>
          </a:p>
        </p:txBody>
      </p:sp>
      <p:sp>
        <p:nvSpPr>
          <p:cNvPr id="49" name="Shape 46"/>
          <p:cNvSpPr/>
          <p:nvPr/>
        </p:nvSpPr>
        <p:spPr>
          <a:xfrm>
            <a:off x="6553230" y="3981480"/>
            <a:ext cx="85771" cy="85771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0" name="Text 47"/>
          <p:cNvSpPr/>
          <p:nvPr/>
        </p:nvSpPr>
        <p:spPr>
          <a:xfrm>
            <a:off x="6762720" y="386718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业务人员自己拖拽出报表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6553230" y="4705320"/>
            <a:ext cx="85771" cy="85771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2" name="Text 49"/>
          <p:cNvSpPr/>
          <p:nvPr/>
        </p:nvSpPr>
        <p:spPr>
          <a:xfrm>
            <a:off x="6762720" y="4591020"/>
            <a:ext cx="45529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一个账号登录所有系统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5" name="Text 52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76220"/>
            <a:ext cx="19049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352580" y="476220"/>
            <a:ext cx="4762470" cy="209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spc="200" kern="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明年工作计划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5800" y="723930"/>
            <a:ext cx="10820370" cy="49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2027 年重点项目与预算</a:t>
            </a:r>
            <a:endParaRPr lang="en-US" sz="3000" dirty="0"/>
          </a:p>
        </p:txBody>
      </p:sp>
      <p:sp>
        <p:nvSpPr>
          <p:cNvPr id="33" name="Shape 30"/>
          <p:cNvSpPr/>
          <p:nvPr/>
        </p:nvSpPr>
        <p:spPr>
          <a:xfrm>
            <a:off x="685800" y="1295430"/>
            <a:ext cx="609630" cy="28621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4" name="Shape 31"/>
          <p:cNvSpPr/>
          <p:nvPr/>
        </p:nvSpPr>
        <p:spPr>
          <a:xfrm>
            <a:off x="1333470" y="1295430"/>
            <a:ext cx="76170" cy="28621"/>
          </a:xfrm>
          <a:prstGeom prst="rect">
            <a:avLst/>
          </a:prstGeom>
          <a:solidFill>
            <a:srgbClr val="A78BF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81180"/>
          <a:ext cx="10820370" cy="914400"/>
        </p:xfrm>
        <a:graphic>
          <a:graphicData uri="http://schemas.openxmlformats.org/drawingml/2006/table">
            <a:tbl>
              <a:tblPr/>
              <a:tblGrid>
                <a:gridCol w="2705070"/>
                <a:gridCol w="2705070"/>
                <a:gridCol w="2705070"/>
                <a:gridCol w="2705070"/>
              </a:tblGrid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313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313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牵头部门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313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完成时间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0313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预算（万元）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数据平台扩容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2027年6月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移动办公升级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办公室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2027年4月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财务AI助手试点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财务部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2027年9月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90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统一身份认证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信息中心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2027年3月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609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设备数据接入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生产部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2027年10月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AF2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210</a:t>
                      </a:r>
                      <a:endParaRPr lang="en-US" sz="18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28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A14"/>
                    </a:solidFill>
                  </a:tcPr>
                </a:tc>
              </a:tr>
            </a:tbl>
          </a:graphicData>
        </a:graphic>
      </p:graphicFrame>
      <p:sp>
        <p:nvSpPr>
          <p:cNvPr id="36" name="Text 32"/>
          <p:cNvSpPr/>
          <p:nvPr/>
        </p:nvSpPr>
        <p:spPr>
          <a:xfrm>
            <a:off x="10553730" y="6305520"/>
            <a:ext cx="95253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685800" y="6362670"/>
            <a:ext cx="57150" cy="5715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34"/>
          <p:cNvSpPr/>
          <p:nvPr/>
        </p:nvSpPr>
        <p:spPr>
          <a:xfrm>
            <a:off x="838230" y="6305520"/>
            <a:ext cx="571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某某集团信息中心（示例）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70" y="-1333470"/>
            <a:ext cx="3429000" cy="34290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26673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0" y="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715750" y="26673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209580" y="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6673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0"/>
                </a:moveTo>
                <a:lnTo>
                  <a:pt x="0" y="209580"/>
                </a:lnTo>
                <a:lnTo>
                  <a:pt x="209580" y="20958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1715750" y="6381780"/>
            <a:ext cx="209580" cy="209580"/>
          </a:xfrm>
          <a:custGeom>
            <a:avLst/>
            <a:gdLst/>
            <a:ahLst/>
            <a:cxnLst/>
            <a:rect l="l" t="t" r="r" b="b"/>
            <a:pathLst>
              <a:path w="209580" h="209580">
                <a:moveTo>
                  <a:pt x="0" y="209580"/>
                </a:moveTo>
                <a:lnTo>
                  <a:pt x="209580" y="209580"/>
                </a:lnTo>
                <a:lnTo>
                  <a:pt x="209580" y="0"/>
                </a:lnTo>
              </a:path>
            </a:pathLst>
          </a:custGeom>
          <a:ln w="1905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1970"/>
            <a:ext cx="5333970" cy="533397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1714500" y="161922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85750"/>
                </a:moveTo>
                <a:lnTo>
                  <a:pt x="0" y="0"/>
                </a:lnTo>
                <a:lnTo>
                  <a:pt x="285750" y="0"/>
                </a:lnTo>
              </a:path>
            </a:pathLst>
          </a:custGeom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191720" y="161922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</a:path>
            </a:pathLst>
          </a:custGeom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714500" y="49530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0"/>
                </a:moveTo>
                <a:lnTo>
                  <a:pt x="0" y="285750"/>
                </a:lnTo>
                <a:lnTo>
                  <a:pt x="285750" y="285750"/>
                </a:lnTo>
              </a:path>
            </a:pathLst>
          </a:custGeom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0191720" y="495303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285750"/>
                </a:moveTo>
                <a:lnTo>
                  <a:pt x="285750" y="285750"/>
                </a:lnTo>
                <a:lnTo>
                  <a:pt x="285750" y="0"/>
                </a:lnTo>
              </a:path>
            </a:pathLst>
          </a:custGeom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286000" y="2095530"/>
            <a:ext cx="761997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数字化不是买系统，</a:t>
            </a:r>
            <a:endParaRPr lang="en-US" sz="3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而是让每个人每天少做一件重复的事。</a:t>
            </a:r>
            <a:endParaRPr lang="en-US" sz="3100" dirty="0"/>
          </a:p>
        </p:txBody>
      </p:sp>
      <p:sp>
        <p:nvSpPr>
          <p:cNvPr id="36" name="Text 32"/>
          <p:cNvSpPr/>
          <p:nvPr/>
        </p:nvSpPr>
        <p:spPr>
          <a:xfrm>
            <a:off x="2286000" y="4552980"/>
            <a:ext cx="761997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集团数字化工作会议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4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7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33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9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82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0597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6803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0" y="0"/>
            <a:ext cx="0" cy="685800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761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524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286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3047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810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57200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533397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6096030"/>
            <a:ext cx="12191970" cy="0"/>
          </a:xfrm>
          <a:prstGeom prst="line">
            <a:avLst/>
          </a:prstGeom>
          <a:noFill/>
          <a:ln w="6350">
            <a:solidFill>
              <a:srgbClr val="22D3EE">
                <a:alpha val="6000"/>
              </a:srgbClr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970" y="381030"/>
            <a:ext cx="6096030" cy="609603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3619470" y="952530"/>
            <a:ext cx="4953030" cy="4953030"/>
          </a:xfrm>
          <a:prstGeom prst="ellipse">
            <a:avLst/>
          </a:prstGeom>
          <a:ln w="12700">
            <a:solidFill>
              <a:srgbClr val="22D3EE">
                <a:alpha val="30000"/>
              </a:srgbClr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4286250" y="1619220"/>
            <a:ext cx="3619470" cy="3619470"/>
          </a:xfrm>
          <a:prstGeom prst="ellipse">
            <a:avLst/>
          </a:prstGeom>
          <a:ln w="1270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43000" y="2762220"/>
            <a:ext cx="990597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700" b="1" spc="400" kern="0" dirty="0">
                <a:solidFill>
                  <a:srgbClr val="EAF2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</a:t>
            </a:r>
            <a:endParaRPr lang="en-US" sz="5700" dirty="0"/>
          </a:p>
        </p:txBody>
      </p:sp>
      <p:sp>
        <p:nvSpPr>
          <p:cNvPr id="29" name="Text 26"/>
          <p:cNvSpPr/>
          <p:nvPr/>
        </p:nvSpPr>
        <p:spPr>
          <a:xfrm>
            <a:off x="1143000" y="3810030"/>
            <a:ext cx="9905970" cy="38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8FA3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敬请各位领导批评指正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2026年数字化转型工作汇报</dc:title>
  <dc:subject>PptxGenJS Presentation</dc:subject>
  <dc:creator>汇报人：张三</dc:creator>
  <cp:lastModifiedBy>汇报人：张三</cp:lastModifiedBy>
  <cp:revision>1</cp:revision>
  <dcterms:created xsi:type="dcterms:W3CDTF">2026-10-14T15:27:40Z</dcterms:created>
  <dcterms:modified xsi:type="dcterms:W3CDTF">2026-10-14T15:27:40Z</dcterms:modified>
</cp:coreProperties>
</file>