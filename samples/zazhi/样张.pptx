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charts/chart1.xml" ContentType="application/vnd.openxmlformats-officedocument.drawingml.chart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</p:sldIdLst>
  <p:notesMasterIdLst>
    <p:notesMasterId r:id="rId15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notesMaster" Target="notesMasters/notesMaster1.xml"/><Relationship Id="rId16" Type="http://schemas.openxmlformats.org/officeDocument/2006/relationships/presProps" Target="presProps.xml"/><Relationship Id="rId17" Type="http://schemas.openxmlformats.org/officeDocument/2006/relationships/viewProps" Target="viewProps.xml"/><Relationship Id="rId18" Type="http://schemas.openxmlformats.org/officeDocument/2006/relationships/theme" Target="theme/theme1.xml"/><Relationship Id="rId19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0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运维成本</c:v>
                </c:pt>
              </c:strCache>
            </c:strRef>
          </c:tx>
          <c:spPr>
            <a:solidFill>
              <a:srgbClr val="BDB6A8"/>
            </a:solidFill>
            <a:effectLst/>
          </c:spPr>
          <c:invertIfNegative val="0"/>
          <c:dLbls>
            <c:numFmt formatCode="#,##0.##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141414"/>
                    </a:solidFill>
                    <a:latin typeface="微软雅黑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dPt>
            <c:idx val="0"/>
            <c:invertIfNegative val="0"/>
            <c:bubble3D val="0"/>
            <c:spPr>
              <a:solidFill>
                <a:srgbClr val="BDB6A8"/>
              </a:solidFill>
              <a:effectLst/>
            </c:spPr>
          </c:dPt>
          <c:dPt>
            <c:idx val="1"/>
            <c:invertIfNegative val="0"/>
            <c:bubble3D val="0"/>
            <c:spPr>
              <a:solidFill>
                <a:srgbClr val="BDB6A8"/>
              </a:solidFill>
              <a:effectLst/>
            </c:spPr>
          </c:dPt>
          <c:dPt>
            <c:idx val="2"/>
            <c:invertIfNegative val="0"/>
            <c:bubble3D val="0"/>
            <c:spPr>
              <a:solidFill>
                <a:srgbClr val="BDB6A8"/>
              </a:solidFill>
              <a:effectLst/>
            </c:spPr>
          </c:dPt>
          <c:dPt>
            <c:idx val="3"/>
            <c:invertIfNegative val="0"/>
            <c:bubble3D val="0"/>
            <c:spPr>
              <a:solidFill>
                <a:srgbClr val="BDB6A8"/>
              </a:solidFill>
              <a:effectLst/>
            </c:spPr>
          </c:dPt>
          <c:dPt>
            <c:idx val="4"/>
            <c:invertIfNegative val="0"/>
            <c:bubble3D val="0"/>
            <c:spPr>
              <a:solidFill>
                <a:srgbClr val="141414"/>
              </a:solidFill>
              <a:effectLst/>
            </c:spPr>
          </c:dPt>
          <c:cat>
            <c:multiLvlStrRef>
              <c:f>Sheet1!$A$2:$A$6</c:f>
              <c:multiLvlStrCache>
                <c:ptCount val="5"/>
                <c:lvl>
                  <c:pt idx="0">
                    <c:v>2022</c:v>
                  </c:pt>
                  <c:pt idx="1">
                    <c:v>2023</c:v>
                  </c:pt>
                  <c:pt idx="2">
                    <c:v>2024</c:v>
                  </c:pt>
                  <c:pt idx="3">
                    <c:v>2025</c:v>
                  </c:pt>
                  <c:pt idx="4">
                    <c:v>2026</c:v>
                  </c:pt>
                </c:lvl>
              </c:multiLvlStrCache>
            </c:multiLvl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2350</c:v>
                </c:pt>
                <c:pt idx="1">
                  <c:v>2210</c:v>
                </c:pt>
                <c:pt idx="2">
                  <c:v>1960</c:v>
                </c:pt>
                <c:pt idx="3">
                  <c:v>1660</c:v>
                </c:pt>
                <c:pt idx="4">
                  <c:v>1280</c:v>
                </c:pt>
              </c:numCache>
            </c:numRef>
          </c:val>
        </c:ser>
        <c:dLbls>
          <c:numFmt formatCode="#,##0.##" sourceLinked="0"/>
          <c:txPr>
            <a:bodyPr/>
            <a:lstStyle/>
            <a:p>
              <a:pPr>
                <a:defRPr b="0" i="0" strike="noStrike" sz="1200" u="none">
                  <a:solidFill>
                    <a:srgbClr val="141414"/>
                  </a:solidFill>
                  <a:latin typeface="微软雅黑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7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CBC3B3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5E584D"/>
                </a:solidFill>
                <a:latin typeface="微软雅黑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6350" cap="flat">
              <a:solidFill>
                <a:srgbClr val="CBC3B3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noFill/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5E584D"/>
                </a:solidFill>
                <a:latin typeface="微软雅黑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solidFill>
          <a:srgbClr val="F3EFE6">
            <a:alpha val="0"/>
          </a:srgbClr>
        </a:solidFill>
        <a:ln>
          <a:noFill/>
        </a:ln>
        <a:effectLst/>
      </c:spPr>
    </c:plotArea>
    <c:plotVisOnly val="1"/>
    <c:dispBlanksAs val="span"/>
  </c:chart>
  <c:spPr>
    <a:solidFill>
      <a:srgbClr val="F3EFE6">
        <a:alpha val="0"/>
      </a:srgbClr>
    </a:solidFill>
    <a:ln w="3175" cap="flat">
      <a:solidFill>
        <a:srgbClr val="F3EFE6"/>
      </a:solidFill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3EFE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61970" y="571500"/>
            <a:ext cx="10668030" cy="57150"/>
          </a:xfrm>
          <a:prstGeom prst="rect">
            <a:avLst/>
          </a:prstGeom>
          <a:solidFill>
            <a:srgbClr val="141414"/>
          </a:solidFill>
          <a:ln/>
        </p:spPr>
      </p:sp>
      <p:sp>
        <p:nvSpPr>
          <p:cNvPr id="3" name="Text 1"/>
          <p:cNvSpPr/>
          <p:nvPr/>
        </p:nvSpPr>
        <p:spPr>
          <a:xfrm>
            <a:off x="761970" y="761970"/>
            <a:ext cx="5715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300" i="1" dirty="0">
                <a:solidFill>
                  <a:srgbClr val="5E584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VOL.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1238280" y="761970"/>
            <a:ext cx="381003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300" b="1" dirty="0">
                <a:solidFill>
                  <a:srgbClr val="141414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2026年10月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6667530" y="761970"/>
            <a:ext cx="476247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lnSpc>
                <a:spcPct val="100000"/>
              </a:lnSpc>
              <a:buNone/>
            </a:pPr>
            <a:r>
              <a:rPr lang="en-US" sz="1300" dirty="0">
                <a:solidFill>
                  <a:srgbClr val="5E584D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某某集团信息中心（示例）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761970" y="1066830"/>
            <a:ext cx="10668030" cy="0"/>
          </a:xfrm>
          <a:prstGeom prst="line">
            <a:avLst/>
          </a:prstGeom>
          <a:noFill/>
          <a:ln w="9525">
            <a:solidFill>
              <a:srgbClr val="141414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61970" y="1428750"/>
            <a:ext cx="7239030" cy="2857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6600" b="1" dirty="0">
                <a:solidFill>
                  <a:srgbClr val="141414"/>
                </a:solidFill>
                <a:latin typeface="宋体" pitchFamily="34" charset="0"/>
                <a:ea typeface="宋体" pitchFamily="34" charset="-122"/>
                <a:cs typeface="宋体" pitchFamily="34" charset="-120"/>
              </a:rPr>
              <a:t>2026年数字化</a:t>
            </a:r>
            <a:endParaRPr lang="en-US" sz="6600" dirty="0"/>
          </a:p>
          <a:p>
            <a:pPr algn="l" indent="0" marL="0">
              <a:lnSpc>
                <a:spcPct val="108000"/>
              </a:lnSpc>
              <a:buNone/>
            </a:pPr>
            <a:r>
              <a:rPr lang="en-US" sz="6600" b="1" dirty="0">
                <a:solidFill>
                  <a:srgbClr val="141414"/>
                </a:solidFill>
                <a:latin typeface="宋体" pitchFamily="34" charset="0"/>
                <a:ea typeface="宋体" pitchFamily="34" charset="-122"/>
                <a:cs typeface="宋体" pitchFamily="34" charset="-120"/>
              </a:rPr>
              <a:t>转型工作汇报</a:t>
            </a:r>
            <a:endParaRPr lang="en-US" sz="6600" dirty="0"/>
          </a:p>
        </p:txBody>
      </p:sp>
      <p:sp>
        <p:nvSpPr>
          <p:cNvPr id="8" name="Shape 6"/>
          <p:cNvSpPr/>
          <p:nvPr/>
        </p:nvSpPr>
        <p:spPr>
          <a:xfrm>
            <a:off x="761970" y="4476720"/>
            <a:ext cx="533370" cy="76170"/>
          </a:xfrm>
          <a:prstGeom prst="rect">
            <a:avLst/>
          </a:prstGeom>
          <a:solidFill>
            <a:srgbClr val="D7261E"/>
          </a:solidFill>
          <a:ln/>
        </p:spPr>
      </p:sp>
      <p:sp>
        <p:nvSpPr>
          <p:cNvPr id="9" name="Text 7"/>
          <p:cNvSpPr/>
          <p:nvPr/>
        </p:nvSpPr>
        <p:spPr>
          <a:xfrm>
            <a:off x="761970" y="4762470"/>
            <a:ext cx="6858000" cy="6667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2200" dirty="0">
                <a:solidFill>
                  <a:srgbClr val="5E584D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以数据驱动管理提效，推动业务全面上云</a:t>
            </a:r>
            <a:endParaRPr lang="en-US" sz="2200" dirty="0"/>
          </a:p>
        </p:txBody>
      </p:sp>
      <p:sp>
        <p:nvSpPr>
          <p:cNvPr id="10" name="Shape 8"/>
          <p:cNvSpPr/>
          <p:nvPr/>
        </p:nvSpPr>
        <p:spPr>
          <a:xfrm>
            <a:off x="8477220" y="1428750"/>
            <a:ext cx="0" cy="4286250"/>
          </a:xfrm>
          <a:prstGeom prst="line">
            <a:avLst/>
          </a:prstGeom>
          <a:noFill/>
          <a:ln w="9525">
            <a:solidFill>
              <a:srgbClr val="CBC3B3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8762970" y="1428750"/>
            <a:ext cx="266703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300" b="1" spc="200" kern="0" dirty="0">
                <a:solidFill>
                  <a:srgbClr val="D7261E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本期要点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8762970" y="1866930"/>
            <a:ext cx="476220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2200" i="1" dirty="0">
                <a:solidFill>
                  <a:srgbClr val="14141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01</a:t>
            </a:r>
            <a:endParaRPr lang="en-US" sz="2200" dirty="0"/>
          </a:p>
        </p:txBody>
      </p:sp>
      <p:sp>
        <p:nvSpPr>
          <p:cNvPr id="13" name="Text 11"/>
          <p:cNvSpPr/>
          <p:nvPr/>
        </p:nvSpPr>
        <p:spPr>
          <a:xfrm>
            <a:off x="9220170" y="1885950"/>
            <a:ext cx="2209830" cy="514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700" b="1" dirty="0">
                <a:solidFill>
                  <a:srgbClr val="141414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年度工作成效</a:t>
            </a:r>
            <a:endParaRPr lang="en-US" sz="1700" dirty="0"/>
          </a:p>
        </p:txBody>
      </p:sp>
      <p:sp>
        <p:nvSpPr>
          <p:cNvPr id="14" name="Text 12"/>
          <p:cNvSpPr/>
          <p:nvPr/>
        </p:nvSpPr>
        <p:spPr>
          <a:xfrm>
            <a:off x="8762970" y="2609880"/>
            <a:ext cx="476220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2200" i="1" dirty="0">
                <a:solidFill>
                  <a:srgbClr val="14141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02</a:t>
            </a:r>
            <a:endParaRPr lang="en-US" sz="2200" dirty="0"/>
          </a:p>
        </p:txBody>
      </p:sp>
      <p:sp>
        <p:nvSpPr>
          <p:cNvPr id="15" name="Text 13"/>
          <p:cNvSpPr/>
          <p:nvPr/>
        </p:nvSpPr>
        <p:spPr>
          <a:xfrm>
            <a:off x="9220170" y="2628900"/>
            <a:ext cx="2209830" cy="514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700" b="1" dirty="0">
                <a:solidFill>
                  <a:srgbClr val="141414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明年工作计划</a:t>
            </a:r>
            <a:endParaRPr lang="en-US" sz="1700" dirty="0"/>
          </a:p>
        </p:txBody>
      </p:sp>
      <p:sp>
        <p:nvSpPr>
          <p:cNvPr id="16" name="Shape 14"/>
          <p:cNvSpPr/>
          <p:nvPr/>
        </p:nvSpPr>
        <p:spPr>
          <a:xfrm>
            <a:off x="761970" y="6229350"/>
            <a:ext cx="10668030" cy="19020"/>
          </a:xfrm>
          <a:prstGeom prst="rect">
            <a:avLst/>
          </a:prstGeom>
          <a:solidFill>
            <a:srgbClr val="141414"/>
          </a:solidFill>
          <a:ln/>
        </p:spPr>
      </p:sp>
      <p:sp>
        <p:nvSpPr>
          <p:cNvPr id="17" name="Text 15"/>
          <p:cNvSpPr/>
          <p:nvPr/>
        </p:nvSpPr>
        <p:spPr>
          <a:xfrm>
            <a:off x="761970" y="6324630"/>
            <a:ext cx="5715000" cy="2095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300" dirty="0">
                <a:solidFill>
                  <a:srgbClr val="141414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汇报人：张三</a:t>
            </a:r>
            <a:endParaRPr lang="en-US" sz="13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3EFE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61970" y="381030"/>
            <a:ext cx="10668030" cy="28621"/>
          </a:xfrm>
          <a:prstGeom prst="rect">
            <a:avLst/>
          </a:prstGeom>
          <a:solidFill>
            <a:srgbClr val="141414"/>
          </a:solidFill>
          <a:ln/>
        </p:spPr>
      </p:sp>
      <p:sp>
        <p:nvSpPr>
          <p:cNvPr id="3" name="Text 1"/>
          <p:cNvSpPr/>
          <p:nvPr/>
        </p:nvSpPr>
        <p:spPr>
          <a:xfrm>
            <a:off x="10477470" y="476220"/>
            <a:ext cx="952530" cy="19047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lnSpc>
                <a:spcPct val="100000"/>
              </a:lnSpc>
              <a:buNone/>
            </a:pPr>
            <a:r>
              <a:rPr lang="en-US" sz="1100" i="1" dirty="0">
                <a:solidFill>
                  <a:srgbClr val="5E584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P.02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61970" y="742950"/>
            <a:ext cx="10668030" cy="571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3200" b="1" dirty="0">
                <a:solidFill>
                  <a:srgbClr val="141414"/>
                </a:solidFill>
                <a:latin typeface="宋体" pitchFamily="34" charset="0"/>
                <a:ea typeface="宋体" pitchFamily="34" charset="-122"/>
                <a:cs typeface="宋体" pitchFamily="34" charset="-120"/>
              </a:rPr>
              <a:t>目录</a:t>
            </a:r>
            <a:endParaRPr lang="en-US" sz="3200" dirty="0"/>
          </a:p>
        </p:txBody>
      </p:sp>
      <p:sp>
        <p:nvSpPr>
          <p:cNvPr id="5" name="Shape 3"/>
          <p:cNvSpPr/>
          <p:nvPr/>
        </p:nvSpPr>
        <p:spPr>
          <a:xfrm>
            <a:off x="761970" y="1409730"/>
            <a:ext cx="10668030" cy="0"/>
          </a:xfrm>
          <a:prstGeom prst="line">
            <a:avLst/>
          </a:prstGeom>
          <a:noFill/>
          <a:ln w="9525">
            <a:solidFill>
              <a:srgbClr val="CBC3B3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61970" y="3009930"/>
            <a:ext cx="761970" cy="87627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3400" b="1" dirty="0">
                <a:solidFill>
                  <a:srgbClr val="D7261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01</a:t>
            </a:r>
            <a:endParaRPr lang="en-US" sz="3400" dirty="0"/>
          </a:p>
        </p:txBody>
      </p:sp>
      <p:sp>
        <p:nvSpPr>
          <p:cNvPr id="7" name="Text 5"/>
          <p:cNvSpPr/>
          <p:nvPr/>
        </p:nvSpPr>
        <p:spPr>
          <a:xfrm>
            <a:off x="1714500" y="3276570"/>
            <a:ext cx="9715500" cy="38103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2300" dirty="0">
                <a:solidFill>
                  <a:srgbClr val="141414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年度工作成效</a:t>
            </a:r>
            <a:endParaRPr lang="en-US" sz="2300" dirty="0"/>
          </a:p>
        </p:txBody>
      </p:sp>
      <p:sp>
        <p:nvSpPr>
          <p:cNvPr id="8" name="Shape 6"/>
          <p:cNvSpPr/>
          <p:nvPr/>
        </p:nvSpPr>
        <p:spPr>
          <a:xfrm>
            <a:off x="1714500" y="3876690"/>
            <a:ext cx="9715500" cy="0"/>
          </a:xfrm>
          <a:prstGeom prst="line">
            <a:avLst/>
          </a:prstGeom>
          <a:noFill/>
          <a:ln w="9525">
            <a:solidFill>
              <a:srgbClr val="CBC3B3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761970" y="3886200"/>
            <a:ext cx="761970" cy="87627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3400" b="1" dirty="0">
                <a:solidFill>
                  <a:srgbClr val="D7261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02</a:t>
            </a:r>
            <a:endParaRPr lang="en-US" sz="3400" dirty="0"/>
          </a:p>
        </p:txBody>
      </p:sp>
      <p:sp>
        <p:nvSpPr>
          <p:cNvPr id="10" name="Text 8"/>
          <p:cNvSpPr/>
          <p:nvPr/>
        </p:nvSpPr>
        <p:spPr>
          <a:xfrm>
            <a:off x="1714500" y="4152930"/>
            <a:ext cx="9715500" cy="38103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2300" dirty="0">
                <a:solidFill>
                  <a:srgbClr val="141414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明年工作计划</a:t>
            </a:r>
            <a:endParaRPr lang="en-US" sz="2300" dirty="0"/>
          </a:p>
        </p:txBody>
      </p:sp>
      <p:sp>
        <p:nvSpPr>
          <p:cNvPr id="11" name="Shape 9"/>
          <p:cNvSpPr/>
          <p:nvPr/>
        </p:nvSpPr>
        <p:spPr>
          <a:xfrm>
            <a:off x="1714500" y="4752960"/>
            <a:ext cx="9715500" cy="0"/>
          </a:xfrm>
          <a:prstGeom prst="line">
            <a:avLst/>
          </a:prstGeom>
          <a:noFill/>
          <a:ln w="9525">
            <a:solidFill>
              <a:srgbClr val="CBC3B3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761970" y="6438930"/>
            <a:ext cx="10668030" cy="0"/>
          </a:xfrm>
          <a:prstGeom prst="line">
            <a:avLst/>
          </a:prstGeom>
          <a:noFill/>
          <a:ln w="9525">
            <a:solidFill>
              <a:srgbClr val="CBC3B3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761970" y="6515100"/>
            <a:ext cx="6667530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000" dirty="0">
                <a:solidFill>
                  <a:srgbClr val="5E584D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2026年数字化转型工作汇报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3EFE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66780" y="666780"/>
            <a:ext cx="4953030" cy="533397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90000"/>
              </a:lnSpc>
              <a:buNone/>
            </a:pPr>
            <a:r>
              <a:rPr lang="en-US" sz="38000" i="1" dirty="0">
                <a:solidFill>
                  <a:srgbClr val="D7261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</a:t>
            </a:r>
            <a:endParaRPr lang="en-US" sz="38000" dirty="0"/>
          </a:p>
        </p:txBody>
      </p:sp>
      <p:sp>
        <p:nvSpPr>
          <p:cNvPr id="3" name="Shape 1"/>
          <p:cNvSpPr/>
          <p:nvPr/>
        </p:nvSpPr>
        <p:spPr>
          <a:xfrm>
            <a:off x="5715000" y="2857500"/>
            <a:ext cx="5715000" cy="28621"/>
          </a:xfrm>
          <a:prstGeom prst="rect">
            <a:avLst/>
          </a:prstGeom>
          <a:solidFill>
            <a:srgbClr val="141414"/>
          </a:solidFill>
          <a:ln/>
        </p:spPr>
      </p:sp>
      <p:sp>
        <p:nvSpPr>
          <p:cNvPr id="4" name="Text 2"/>
          <p:cNvSpPr/>
          <p:nvPr/>
        </p:nvSpPr>
        <p:spPr>
          <a:xfrm>
            <a:off x="5715000" y="2571750"/>
            <a:ext cx="3810030" cy="2095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200" spc="400" kern="0" dirty="0">
                <a:solidFill>
                  <a:srgbClr val="5E584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CHAPTER 01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5715000" y="3028950"/>
            <a:ext cx="5715000" cy="133347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4800" b="1" dirty="0">
                <a:solidFill>
                  <a:srgbClr val="141414"/>
                </a:solidFill>
                <a:latin typeface="宋体" pitchFamily="34" charset="0"/>
                <a:ea typeface="宋体" pitchFamily="34" charset="-122"/>
                <a:cs typeface="宋体" pitchFamily="34" charset="-120"/>
              </a:rPr>
              <a:t>年度工作成效</a:t>
            </a:r>
            <a:endParaRPr lang="en-US" sz="4800" dirty="0"/>
          </a:p>
        </p:txBody>
      </p:sp>
      <p:sp>
        <p:nvSpPr>
          <p:cNvPr id="6" name="Text 4"/>
          <p:cNvSpPr/>
          <p:nvPr/>
        </p:nvSpPr>
        <p:spPr>
          <a:xfrm>
            <a:off x="5715000" y="4476720"/>
            <a:ext cx="5715000" cy="571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2000" dirty="0">
                <a:solidFill>
                  <a:srgbClr val="5E584D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四项核心指标全部超额完成</a:t>
            </a:r>
            <a:endParaRPr lang="en-US" sz="2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3EFE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61970" y="381030"/>
            <a:ext cx="10668030" cy="28621"/>
          </a:xfrm>
          <a:prstGeom prst="rect">
            <a:avLst/>
          </a:prstGeom>
          <a:solidFill>
            <a:srgbClr val="141414"/>
          </a:solidFill>
          <a:ln/>
        </p:spPr>
      </p:sp>
      <p:sp>
        <p:nvSpPr>
          <p:cNvPr id="3" name="Text 1"/>
          <p:cNvSpPr/>
          <p:nvPr/>
        </p:nvSpPr>
        <p:spPr>
          <a:xfrm>
            <a:off x="761970" y="476220"/>
            <a:ext cx="5715000" cy="19047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100" spc="200" kern="0" dirty="0">
                <a:solidFill>
                  <a:srgbClr val="5E584D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01 — 年度工作成效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10477470" y="476220"/>
            <a:ext cx="952530" cy="19047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lnSpc>
                <a:spcPct val="100000"/>
              </a:lnSpc>
              <a:buNone/>
            </a:pPr>
            <a:r>
              <a:rPr lang="en-US" sz="1100" i="1" dirty="0">
                <a:solidFill>
                  <a:srgbClr val="5E584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P.04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61970" y="742950"/>
            <a:ext cx="10668030" cy="571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3200" b="1" dirty="0">
                <a:solidFill>
                  <a:srgbClr val="141414"/>
                </a:solidFill>
                <a:latin typeface="宋体" pitchFamily="34" charset="0"/>
                <a:ea typeface="宋体" pitchFamily="34" charset="-122"/>
                <a:cs typeface="宋体" pitchFamily="34" charset="-120"/>
              </a:rPr>
              <a:t>四项核心指标全部超额完成年度目标</a:t>
            </a:r>
            <a:endParaRPr lang="en-US" sz="3200" dirty="0"/>
          </a:p>
        </p:txBody>
      </p:sp>
      <p:sp>
        <p:nvSpPr>
          <p:cNvPr id="6" name="Shape 4"/>
          <p:cNvSpPr/>
          <p:nvPr/>
        </p:nvSpPr>
        <p:spPr>
          <a:xfrm>
            <a:off x="761970" y="1409730"/>
            <a:ext cx="10668030" cy="0"/>
          </a:xfrm>
          <a:prstGeom prst="line">
            <a:avLst/>
          </a:prstGeom>
          <a:noFill/>
          <a:ln w="9525">
            <a:solidFill>
              <a:srgbClr val="CBC3B3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61970" y="2438430"/>
            <a:ext cx="2409810" cy="8001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5600" dirty="0">
                <a:solidFill>
                  <a:srgbClr val="D7261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98.6</a:t>
            </a:r>
            <a:endParaRPr lang="en-US" sz="5600" dirty="0"/>
          </a:p>
        </p:txBody>
      </p:sp>
      <p:sp>
        <p:nvSpPr>
          <p:cNvPr id="8" name="Text 6"/>
          <p:cNvSpPr/>
          <p:nvPr/>
        </p:nvSpPr>
        <p:spPr>
          <a:xfrm>
            <a:off x="2227296" y="2838480"/>
            <a:ext cx="571500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600" b="1" dirty="0">
                <a:solidFill>
                  <a:srgbClr val="5E584D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%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761970" y="3619470"/>
            <a:ext cx="381030" cy="0"/>
          </a:xfrm>
          <a:prstGeom prst="line">
            <a:avLst/>
          </a:prstGeom>
          <a:noFill/>
          <a:ln w="25400">
            <a:solidFill>
              <a:srgbClr val="141414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761970" y="3752880"/>
            <a:ext cx="2352660" cy="53337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900" b="1" dirty="0">
                <a:solidFill>
                  <a:srgbClr val="141414"/>
                </a:solidFill>
                <a:latin typeface="宋体" pitchFamily="34" charset="0"/>
                <a:ea typeface="宋体" pitchFamily="34" charset="-122"/>
                <a:cs typeface="宋体" pitchFamily="34" charset="-120"/>
              </a:rPr>
              <a:t>业务系统上云率</a:t>
            </a:r>
            <a:endParaRPr lang="en-US" sz="1900" dirty="0"/>
          </a:p>
        </p:txBody>
      </p:sp>
      <p:sp>
        <p:nvSpPr>
          <p:cNvPr id="11" name="Text 9"/>
          <p:cNvSpPr/>
          <p:nvPr/>
        </p:nvSpPr>
        <p:spPr>
          <a:xfrm>
            <a:off x="761970" y="4324380"/>
            <a:ext cx="2352660" cy="4762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500" dirty="0">
                <a:solidFill>
                  <a:srgbClr val="5E584D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年初目标 90%</a:t>
            </a:r>
            <a:endParaRPr lang="en-US" sz="1500" dirty="0"/>
          </a:p>
        </p:txBody>
      </p:sp>
      <p:sp>
        <p:nvSpPr>
          <p:cNvPr id="12" name="Shape 10"/>
          <p:cNvSpPr/>
          <p:nvPr/>
        </p:nvSpPr>
        <p:spPr>
          <a:xfrm>
            <a:off x="3343321" y="2152680"/>
            <a:ext cx="0" cy="3943350"/>
          </a:xfrm>
          <a:prstGeom prst="line">
            <a:avLst/>
          </a:prstGeom>
          <a:noFill/>
          <a:ln w="9525">
            <a:solidFill>
              <a:srgbClr val="CBC3B3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3514771" y="2438430"/>
            <a:ext cx="2409810" cy="8001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5600" dirty="0">
                <a:solidFill>
                  <a:srgbClr val="14141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1,280</a:t>
            </a:r>
            <a:endParaRPr lang="en-US" sz="5600" dirty="0"/>
          </a:p>
        </p:txBody>
      </p:sp>
      <p:sp>
        <p:nvSpPr>
          <p:cNvPr id="14" name="Text 12"/>
          <p:cNvSpPr/>
          <p:nvPr/>
        </p:nvSpPr>
        <p:spPr>
          <a:xfrm>
            <a:off x="5378318" y="2838480"/>
            <a:ext cx="571500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600" b="1" dirty="0">
                <a:solidFill>
                  <a:srgbClr val="5E584D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万元</a:t>
            </a:r>
            <a:endParaRPr lang="en-US" sz="1600" dirty="0"/>
          </a:p>
        </p:txBody>
      </p:sp>
      <p:sp>
        <p:nvSpPr>
          <p:cNvPr id="15" name="Shape 13"/>
          <p:cNvSpPr/>
          <p:nvPr/>
        </p:nvSpPr>
        <p:spPr>
          <a:xfrm>
            <a:off x="3514771" y="3619470"/>
            <a:ext cx="381030" cy="0"/>
          </a:xfrm>
          <a:prstGeom prst="line">
            <a:avLst/>
          </a:prstGeom>
          <a:noFill/>
          <a:ln w="25400">
            <a:solidFill>
              <a:srgbClr val="141414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3514771" y="3752880"/>
            <a:ext cx="2352660" cy="53337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900" b="1" dirty="0">
                <a:solidFill>
                  <a:srgbClr val="141414"/>
                </a:solidFill>
                <a:latin typeface="宋体" pitchFamily="34" charset="0"/>
                <a:ea typeface="宋体" pitchFamily="34" charset="-122"/>
                <a:cs typeface="宋体" pitchFamily="34" charset="-120"/>
              </a:rPr>
              <a:t>年度节约运维成本</a:t>
            </a:r>
            <a:endParaRPr lang="en-US" sz="1900" dirty="0"/>
          </a:p>
        </p:txBody>
      </p:sp>
      <p:sp>
        <p:nvSpPr>
          <p:cNvPr id="17" name="Text 15"/>
          <p:cNvSpPr/>
          <p:nvPr/>
        </p:nvSpPr>
        <p:spPr>
          <a:xfrm>
            <a:off x="3514771" y="4324380"/>
            <a:ext cx="2352660" cy="4762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500" dirty="0">
                <a:solidFill>
                  <a:srgbClr val="5E584D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同比下降 23%</a:t>
            </a:r>
            <a:endParaRPr lang="en-US" sz="1500" dirty="0"/>
          </a:p>
        </p:txBody>
      </p:sp>
      <p:sp>
        <p:nvSpPr>
          <p:cNvPr id="18" name="Shape 16"/>
          <p:cNvSpPr/>
          <p:nvPr/>
        </p:nvSpPr>
        <p:spPr>
          <a:xfrm>
            <a:off x="6096030" y="2152680"/>
            <a:ext cx="0" cy="3943350"/>
          </a:xfrm>
          <a:prstGeom prst="line">
            <a:avLst/>
          </a:prstGeom>
          <a:noFill/>
          <a:ln w="9525">
            <a:solidFill>
              <a:srgbClr val="CBC3B3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6267480" y="2438430"/>
            <a:ext cx="2409810" cy="8001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5600" dirty="0">
                <a:solidFill>
                  <a:srgbClr val="14141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36</a:t>
            </a:r>
            <a:endParaRPr lang="en-US" sz="5600" dirty="0"/>
          </a:p>
        </p:txBody>
      </p:sp>
      <p:sp>
        <p:nvSpPr>
          <p:cNvPr id="20" name="Text 18"/>
          <p:cNvSpPr/>
          <p:nvPr/>
        </p:nvSpPr>
        <p:spPr>
          <a:xfrm>
            <a:off x="7121164" y="2838480"/>
            <a:ext cx="571500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600" b="1" dirty="0">
                <a:solidFill>
                  <a:srgbClr val="5E584D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个</a:t>
            </a:r>
            <a:endParaRPr lang="en-US" sz="1600" dirty="0"/>
          </a:p>
        </p:txBody>
      </p:sp>
      <p:sp>
        <p:nvSpPr>
          <p:cNvPr id="21" name="Shape 19"/>
          <p:cNvSpPr/>
          <p:nvPr/>
        </p:nvSpPr>
        <p:spPr>
          <a:xfrm>
            <a:off x="6267480" y="3619470"/>
            <a:ext cx="381030" cy="0"/>
          </a:xfrm>
          <a:prstGeom prst="line">
            <a:avLst/>
          </a:prstGeom>
          <a:noFill/>
          <a:ln w="25400">
            <a:solidFill>
              <a:srgbClr val="141414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6267480" y="3752880"/>
            <a:ext cx="2352660" cy="53337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900" b="1" dirty="0">
                <a:solidFill>
                  <a:srgbClr val="141414"/>
                </a:solidFill>
                <a:latin typeface="宋体" pitchFamily="34" charset="0"/>
                <a:ea typeface="宋体" pitchFamily="34" charset="-122"/>
                <a:cs typeface="宋体" pitchFamily="34" charset="-120"/>
              </a:rPr>
              <a:t>上线数字化场景</a:t>
            </a:r>
            <a:endParaRPr lang="en-US" sz="1900" dirty="0"/>
          </a:p>
        </p:txBody>
      </p:sp>
      <p:sp>
        <p:nvSpPr>
          <p:cNvPr id="23" name="Text 21"/>
          <p:cNvSpPr/>
          <p:nvPr/>
        </p:nvSpPr>
        <p:spPr>
          <a:xfrm>
            <a:off x="6267480" y="4324380"/>
            <a:ext cx="2352660" cy="4762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500" dirty="0">
                <a:solidFill>
                  <a:srgbClr val="5E584D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覆盖 9 个业务部门</a:t>
            </a:r>
            <a:endParaRPr lang="en-US" sz="1500" dirty="0"/>
          </a:p>
        </p:txBody>
      </p:sp>
      <p:sp>
        <p:nvSpPr>
          <p:cNvPr id="24" name="Shape 22"/>
          <p:cNvSpPr/>
          <p:nvPr/>
        </p:nvSpPr>
        <p:spPr>
          <a:xfrm>
            <a:off x="8848740" y="2152680"/>
            <a:ext cx="0" cy="3943350"/>
          </a:xfrm>
          <a:prstGeom prst="line">
            <a:avLst/>
          </a:prstGeom>
          <a:noFill/>
          <a:ln w="9525">
            <a:solidFill>
              <a:srgbClr val="CBC3B3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9020190" y="2438430"/>
            <a:ext cx="2409810" cy="8001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5600" dirty="0">
                <a:solidFill>
                  <a:srgbClr val="14141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4.8</a:t>
            </a:r>
            <a:endParaRPr lang="en-US" sz="5600" dirty="0"/>
          </a:p>
        </p:txBody>
      </p:sp>
      <p:sp>
        <p:nvSpPr>
          <p:cNvPr id="26" name="Text 24"/>
          <p:cNvSpPr/>
          <p:nvPr/>
        </p:nvSpPr>
        <p:spPr>
          <a:xfrm>
            <a:off x="10087204" y="2838480"/>
            <a:ext cx="571500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600" b="1" dirty="0">
                <a:solidFill>
                  <a:srgbClr val="5E584D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天</a:t>
            </a:r>
            <a:endParaRPr lang="en-US" sz="1600" dirty="0"/>
          </a:p>
        </p:txBody>
      </p:sp>
      <p:sp>
        <p:nvSpPr>
          <p:cNvPr id="27" name="Shape 25"/>
          <p:cNvSpPr/>
          <p:nvPr/>
        </p:nvSpPr>
        <p:spPr>
          <a:xfrm>
            <a:off x="9020190" y="3619470"/>
            <a:ext cx="381030" cy="0"/>
          </a:xfrm>
          <a:prstGeom prst="line">
            <a:avLst/>
          </a:prstGeom>
          <a:noFill/>
          <a:ln w="25400">
            <a:solidFill>
              <a:srgbClr val="141414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9020190" y="3752880"/>
            <a:ext cx="2352660" cy="53337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900" b="1" dirty="0">
                <a:solidFill>
                  <a:srgbClr val="141414"/>
                </a:solidFill>
                <a:latin typeface="宋体" pitchFamily="34" charset="0"/>
                <a:ea typeface="宋体" pitchFamily="34" charset="-122"/>
                <a:cs typeface="宋体" pitchFamily="34" charset="-120"/>
              </a:rPr>
              <a:t>审批平均时长</a:t>
            </a:r>
            <a:endParaRPr lang="en-US" sz="1900" dirty="0"/>
          </a:p>
        </p:txBody>
      </p:sp>
      <p:sp>
        <p:nvSpPr>
          <p:cNvPr id="29" name="Text 27"/>
          <p:cNvSpPr/>
          <p:nvPr/>
        </p:nvSpPr>
        <p:spPr>
          <a:xfrm>
            <a:off x="9020190" y="4324380"/>
            <a:ext cx="2352660" cy="4762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500" dirty="0">
                <a:solidFill>
                  <a:srgbClr val="5E584D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去年同期 11.2 天</a:t>
            </a:r>
            <a:endParaRPr lang="en-US" sz="1500" dirty="0"/>
          </a:p>
        </p:txBody>
      </p:sp>
      <p:sp>
        <p:nvSpPr>
          <p:cNvPr id="30" name="Shape 28"/>
          <p:cNvSpPr/>
          <p:nvPr/>
        </p:nvSpPr>
        <p:spPr>
          <a:xfrm>
            <a:off x="761970" y="6438930"/>
            <a:ext cx="10668030" cy="0"/>
          </a:xfrm>
          <a:prstGeom prst="line">
            <a:avLst/>
          </a:prstGeom>
          <a:noFill/>
          <a:ln w="9525">
            <a:solidFill>
              <a:srgbClr val="CBC3B3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761970" y="6515100"/>
            <a:ext cx="6667530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000" dirty="0">
                <a:solidFill>
                  <a:srgbClr val="5E584D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2026年数字化转型工作汇报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3EFE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61970" y="381030"/>
            <a:ext cx="10668030" cy="28621"/>
          </a:xfrm>
          <a:prstGeom prst="rect">
            <a:avLst/>
          </a:prstGeom>
          <a:solidFill>
            <a:srgbClr val="141414"/>
          </a:solidFill>
          <a:ln/>
        </p:spPr>
      </p:sp>
      <p:sp>
        <p:nvSpPr>
          <p:cNvPr id="3" name="Text 1"/>
          <p:cNvSpPr/>
          <p:nvPr/>
        </p:nvSpPr>
        <p:spPr>
          <a:xfrm>
            <a:off x="761970" y="476220"/>
            <a:ext cx="5715000" cy="19047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100" spc="200" kern="0" dirty="0">
                <a:solidFill>
                  <a:srgbClr val="5E584D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01 — 年度工作成效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10477470" y="476220"/>
            <a:ext cx="952530" cy="19047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lnSpc>
                <a:spcPct val="100000"/>
              </a:lnSpc>
              <a:buNone/>
            </a:pPr>
            <a:r>
              <a:rPr lang="en-US" sz="1100" i="1" dirty="0">
                <a:solidFill>
                  <a:srgbClr val="5E584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P.05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61970" y="742950"/>
            <a:ext cx="10668030" cy="571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3200" b="1" dirty="0">
                <a:solidFill>
                  <a:srgbClr val="141414"/>
                </a:solidFill>
                <a:latin typeface="宋体" pitchFamily="34" charset="0"/>
                <a:ea typeface="宋体" pitchFamily="34" charset="-122"/>
                <a:cs typeface="宋体" pitchFamily="34" charset="-120"/>
              </a:rPr>
              <a:t>运维成本连续三年下降，今年降幅最大</a:t>
            </a:r>
            <a:endParaRPr lang="en-US" sz="3200" dirty="0"/>
          </a:p>
        </p:txBody>
      </p:sp>
      <p:sp>
        <p:nvSpPr>
          <p:cNvPr id="6" name="Shape 4"/>
          <p:cNvSpPr/>
          <p:nvPr/>
        </p:nvSpPr>
        <p:spPr>
          <a:xfrm>
            <a:off x="761970" y="1409730"/>
            <a:ext cx="10668030" cy="0"/>
          </a:xfrm>
          <a:prstGeom prst="line">
            <a:avLst/>
          </a:prstGeom>
          <a:noFill/>
          <a:ln w="9525">
            <a:solidFill>
              <a:srgbClr val="CBC3B3"/>
            </a:solidFill>
            <a:prstDash val="solid"/>
          </a:ln>
        </p:spPr>
      </p:sp>
      <p:graphicFrame>
        <p:nvGraphicFramePr>
          <p:cNvPr id="7" name="Chart 0" descr=""/>
          <p:cNvGraphicFramePr/>
          <p:nvPr/>
        </p:nvGraphicFramePr>
        <p:xfrm>
          <a:off x="761970" y="1733520"/>
          <a:ext cx="6115050" cy="428625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8" name="Text 5"/>
          <p:cNvSpPr/>
          <p:nvPr/>
        </p:nvSpPr>
        <p:spPr>
          <a:xfrm>
            <a:off x="761970" y="6038880"/>
            <a:ext cx="1904970" cy="19047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rgbClr val="5E584D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单位：万元</a:t>
            </a:r>
            <a:endParaRPr lang="en-US" sz="1100" dirty="0"/>
          </a:p>
        </p:txBody>
      </p:sp>
      <p:sp>
        <p:nvSpPr>
          <p:cNvPr id="9" name="Shape 6"/>
          <p:cNvSpPr/>
          <p:nvPr/>
        </p:nvSpPr>
        <p:spPr>
          <a:xfrm>
            <a:off x="7258050" y="1809780"/>
            <a:ext cx="38130" cy="1244590"/>
          </a:xfrm>
          <a:prstGeom prst="rect">
            <a:avLst/>
          </a:prstGeom>
          <a:solidFill>
            <a:srgbClr val="D7261E"/>
          </a:solidFill>
          <a:ln/>
        </p:spPr>
      </p:sp>
      <p:sp>
        <p:nvSpPr>
          <p:cNvPr id="10" name="Text 7"/>
          <p:cNvSpPr/>
          <p:nvPr/>
        </p:nvSpPr>
        <p:spPr>
          <a:xfrm>
            <a:off x="7467630" y="1771650"/>
            <a:ext cx="3962370" cy="132075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2000" b="1" dirty="0">
                <a:solidFill>
                  <a:srgbClr val="141414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2026 年运维成本 1280 万元，比 2022 年少了近一半</a:t>
            </a:r>
            <a:endParaRPr lang="en-US" sz="2000" dirty="0"/>
          </a:p>
        </p:txBody>
      </p:sp>
      <p:sp>
        <p:nvSpPr>
          <p:cNvPr id="11" name="Shape 8"/>
          <p:cNvSpPr/>
          <p:nvPr/>
        </p:nvSpPr>
        <p:spPr>
          <a:xfrm>
            <a:off x="7258050" y="3282970"/>
            <a:ext cx="38130" cy="1244590"/>
          </a:xfrm>
          <a:prstGeom prst="rect">
            <a:avLst/>
          </a:prstGeom>
          <a:solidFill>
            <a:srgbClr val="CBC3B3"/>
          </a:solidFill>
          <a:ln/>
        </p:spPr>
      </p:sp>
      <p:sp>
        <p:nvSpPr>
          <p:cNvPr id="12" name="Text 9"/>
          <p:cNvSpPr/>
          <p:nvPr/>
        </p:nvSpPr>
        <p:spPr>
          <a:xfrm>
            <a:off x="7467630" y="3244840"/>
            <a:ext cx="3962370" cy="132075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700" dirty="0">
                <a:solidFill>
                  <a:srgbClr val="5E584D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主要来自服务器整合和老旧系统下线</a:t>
            </a:r>
            <a:endParaRPr lang="en-US" sz="1700" dirty="0"/>
          </a:p>
        </p:txBody>
      </p:sp>
      <p:sp>
        <p:nvSpPr>
          <p:cNvPr id="13" name="Shape 10"/>
          <p:cNvSpPr/>
          <p:nvPr/>
        </p:nvSpPr>
        <p:spPr>
          <a:xfrm>
            <a:off x="7258050" y="4756160"/>
            <a:ext cx="38130" cy="1244590"/>
          </a:xfrm>
          <a:prstGeom prst="rect">
            <a:avLst/>
          </a:prstGeom>
          <a:solidFill>
            <a:srgbClr val="CBC3B3"/>
          </a:solidFill>
          <a:ln/>
        </p:spPr>
      </p:sp>
      <p:sp>
        <p:nvSpPr>
          <p:cNvPr id="14" name="Text 11"/>
          <p:cNvSpPr/>
          <p:nvPr/>
        </p:nvSpPr>
        <p:spPr>
          <a:xfrm>
            <a:off x="7467630" y="4718030"/>
            <a:ext cx="3962370" cy="132075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700" dirty="0">
                <a:solidFill>
                  <a:srgbClr val="5E584D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明年预计还能再降 10% 左右</a:t>
            </a:r>
            <a:endParaRPr lang="en-US" sz="1700" dirty="0"/>
          </a:p>
        </p:txBody>
      </p:sp>
      <p:sp>
        <p:nvSpPr>
          <p:cNvPr id="15" name="Shape 12"/>
          <p:cNvSpPr/>
          <p:nvPr/>
        </p:nvSpPr>
        <p:spPr>
          <a:xfrm>
            <a:off x="761970" y="6438930"/>
            <a:ext cx="10668030" cy="0"/>
          </a:xfrm>
          <a:prstGeom prst="line">
            <a:avLst/>
          </a:prstGeom>
          <a:noFill/>
          <a:ln w="9525">
            <a:solidFill>
              <a:srgbClr val="CBC3B3"/>
            </a:solidFill>
            <a:prstDash val="solid"/>
          </a:ln>
        </p:spPr>
      </p:sp>
      <p:sp>
        <p:nvSpPr>
          <p:cNvPr id="16" name="Text 13"/>
          <p:cNvSpPr/>
          <p:nvPr/>
        </p:nvSpPr>
        <p:spPr>
          <a:xfrm>
            <a:off x="761970" y="6515100"/>
            <a:ext cx="6667530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000" dirty="0">
                <a:solidFill>
                  <a:srgbClr val="5E584D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2026年数字化转型工作汇报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3EFE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61970" y="381030"/>
            <a:ext cx="10668030" cy="28621"/>
          </a:xfrm>
          <a:prstGeom prst="rect">
            <a:avLst/>
          </a:prstGeom>
          <a:solidFill>
            <a:srgbClr val="141414"/>
          </a:solidFill>
          <a:ln/>
        </p:spPr>
      </p:sp>
      <p:sp>
        <p:nvSpPr>
          <p:cNvPr id="3" name="Text 1"/>
          <p:cNvSpPr/>
          <p:nvPr/>
        </p:nvSpPr>
        <p:spPr>
          <a:xfrm>
            <a:off x="761970" y="476220"/>
            <a:ext cx="5715000" cy="19047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100" spc="200" kern="0" dirty="0">
                <a:solidFill>
                  <a:srgbClr val="5E584D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01 — 年度工作成效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10477470" y="476220"/>
            <a:ext cx="952530" cy="19047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lnSpc>
                <a:spcPct val="100000"/>
              </a:lnSpc>
              <a:buNone/>
            </a:pPr>
            <a:r>
              <a:rPr lang="en-US" sz="1100" i="1" dirty="0">
                <a:solidFill>
                  <a:srgbClr val="5E584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P.06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61970" y="742950"/>
            <a:ext cx="10668030" cy="571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3200" b="1" dirty="0">
                <a:solidFill>
                  <a:srgbClr val="141414"/>
                </a:solidFill>
                <a:latin typeface="宋体" pitchFamily="34" charset="0"/>
                <a:ea typeface="宋体" pitchFamily="34" charset="-122"/>
                <a:cs typeface="宋体" pitchFamily="34" charset="-120"/>
              </a:rPr>
              <a:t>今年做对了四件事</a:t>
            </a:r>
            <a:endParaRPr lang="en-US" sz="3200" dirty="0"/>
          </a:p>
        </p:txBody>
      </p:sp>
      <p:sp>
        <p:nvSpPr>
          <p:cNvPr id="6" name="Shape 4"/>
          <p:cNvSpPr/>
          <p:nvPr/>
        </p:nvSpPr>
        <p:spPr>
          <a:xfrm>
            <a:off x="761970" y="1409730"/>
            <a:ext cx="10668030" cy="0"/>
          </a:xfrm>
          <a:prstGeom prst="line">
            <a:avLst/>
          </a:prstGeom>
          <a:noFill/>
          <a:ln w="9525">
            <a:solidFill>
              <a:srgbClr val="CBC3B3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61970" y="1600200"/>
            <a:ext cx="761970" cy="76197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4800" i="1" dirty="0">
                <a:solidFill>
                  <a:srgbClr val="D7261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</a:t>
            </a:r>
            <a:endParaRPr lang="en-US" sz="4800" dirty="0"/>
          </a:p>
        </p:txBody>
      </p:sp>
      <p:sp>
        <p:nvSpPr>
          <p:cNvPr id="8" name="Shape 6"/>
          <p:cNvSpPr/>
          <p:nvPr/>
        </p:nvSpPr>
        <p:spPr>
          <a:xfrm>
            <a:off x="761970" y="2438430"/>
            <a:ext cx="381030" cy="0"/>
          </a:xfrm>
          <a:prstGeom prst="line">
            <a:avLst/>
          </a:prstGeom>
          <a:noFill/>
          <a:ln w="25400">
            <a:solidFill>
              <a:srgbClr val="141414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761970" y="2590770"/>
            <a:ext cx="2352660" cy="571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2200" b="1" dirty="0">
                <a:solidFill>
                  <a:srgbClr val="141414"/>
                </a:solidFill>
                <a:latin typeface="宋体" pitchFamily="34" charset="0"/>
                <a:ea typeface="宋体" pitchFamily="34" charset="-122"/>
                <a:cs typeface="宋体" pitchFamily="34" charset="-120"/>
              </a:rPr>
              <a:t>先打通数据</a:t>
            </a:r>
            <a:endParaRPr lang="en-US" sz="2200" dirty="0"/>
          </a:p>
        </p:txBody>
      </p:sp>
      <p:sp>
        <p:nvSpPr>
          <p:cNvPr id="10" name="Text 8"/>
          <p:cNvSpPr/>
          <p:nvPr/>
        </p:nvSpPr>
        <p:spPr>
          <a:xfrm>
            <a:off x="761970" y="3049250"/>
            <a:ext cx="2352660" cy="314197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1700" dirty="0">
                <a:solidFill>
                  <a:srgbClr val="5E584D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建成集团统一数据平台，34 个系统的数据第一次能在一张表里查到</a:t>
            </a:r>
            <a:endParaRPr lang="en-US" sz="1700" dirty="0"/>
          </a:p>
        </p:txBody>
      </p:sp>
      <p:sp>
        <p:nvSpPr>
          <p:cNvPr id="11" name="Shape 9"/>
          <p:cNvSpPr/>
          <p:nvPr/>
        </p:nvSpPr>
        <p:spPr>
          <a:xfrm>
            <a:off x="3343321" y="1676370"/>
            <a:ext cx="0" cy="4610130"/>
          </a:xfrm>
          <a:prstGeom prst="line">
            <a:avLst/>
          </a:prstGeom>
          <a:noFill/>
          <a:ln w="9525">
            <a:solidFill>
              <a:srgbClr val="CBC3B3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514771" y="1600200"/>
            <a:ext cx="761970" cy="76197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4800" i="1" dirty="0">
                <a:solidFill>
                  <a:srgbClr val="D7261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</a:t>
            </a:r>
            <a:endParaRPr lang="en-US" sz="4800" dirty="0"/>
          </a:p>
        </p:txBody>
      </p:sp>
      <p:sp>
        <p:nvSpPr>
          <p:cNvPr id="13" name="Shape 11"/>
          <p:cNvSpPr/>
          <p:nvPr/>
        </p:nvSpPr>
        <p:spPr>
          <a:xfrm>
            <a:off x="3514771" y="2438430"/>
            <a:ext cx="381030" cy="0"/>
          </a:xfrm>
          <a:prstGeom prst="line">
            <a:avLst/>
          </a:prstGeom>
          <a:noFill/>
          <a:ln w="25400">
            <a:solidFill>
              <a:srgbClr val="141414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3514771" y="2590770"/>
            <a:ext cx="2352660" cy="571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2200" b="1" dirty="0">
                <a:solidFill>
                  <a:srgbClr val="141414"/>
                </a:solidFill>
                <a:latin typeface="宋体" pitchFamily="34" charset="0"/>
                <a:ea typeface="宋体" pitchFamily="34" charset="-122"/>
                <a:cs typeface="宋体" pitchFamily="34" charset="-120"/>
              </a:rPr>
              <a:t>小步快跑上场景</a:t>
            </a:r>
            <a:endParaRPr lang="en-US" sz="2200" dirty="0"/>
          </a:p>
        </p:txBody>
      </p:sp>
      <p:sp>
        <p:nvSpPr>
          <p:cNvPr id="15" name="Text 13"/>
          <p:cNvSpPr/>
          <p:nvPr/>
        </p:nvSpPr>
        <p:spPr>
          <a:xfrm>
            <a:off x="3514771" y="3049250"/>
            <a:ext cx="2352660" cy="314197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1700" dirty="0">
                <a:solidFill>
                  <a:srgbClr val="5E584D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每个场景先在一个部门试 30 天，跑通了再推广，失败成本可控</a:t>
            </a:r>
            <a:endParaRPr lang="en-US" sz="1700" dirty="0"/>
          </a:p>
        </p:txBody>
      </p:sp>
      <p:sp>
        <p:nvSpPr>
          <p:cNvPr id="16" name="Shape 14"/>
          <p:cNvSpPr/>
          <p:nvPr/>
        </p:nvSpPr>
        <p:spPr>
          <a:xfrm>
            <a:off x="6096030" y="1676370"/>
            <a:ext cx="0" cy="4610130"/>
          </a:xfrm>
          <a:prstGeom prst="line">
            <a:avLst/>
          </a:prstGeom>
          <a:noFill/>
          <a:ln w="9525">
            <a:solidFill>
              <a:srgbClr val="CBC3B3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267480" y="1600200"/>
            <a:ext cx="761970" cy="76197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4800" i="1" dirty="0">
                <a:solidFill>
                  <a:srgbClr val="D7261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3</a:t>
            </a:r>
            <a:endParaRPr lang="en-US" sz="4800" dirty="0"/>
          </a:p>
        </p:txBody>
      </p:sp>
      <p:sp>
        <p:nvSpPr>
          <p:cNvPr id="18" name="Shape 16"/>
          <p:cNvSpPr/>
          <p:nvPr/>
        </p:nvSpPr>
        <p:spPr>
          <a:xfrm>
            <a:off x="6267480" y="2438430"/>
            <a:ext cx="381030" cy="0"/>
          </a:xfrm>
          <a:prstGeom prst="line">
            <a:avLst/>
          </a:prstGeom>
          <a:noFill/>
          <a:ln w="25400">
            <a:solidFill>
              <a:srgbClr val="141414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6267480" y="2590770"/>
            <a:ext cx="2352660" cy="571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2200" b="1" dirty="0">
                <a:solidFill>
                  <a:srgbClr val="141414"/>
                </a:solidFill>
                <a:latin typeface="宋体" pitchFamily="34" charset="0"/>
                <a:ea typeface="宋体" pitchFamily="34" charset="-122"/>
                <a:cs typeface="宋体" pitchFamily="34" charset="-120"/>
              </a:rPr>
              <a:t>让业务部门出题</a:t>
            </a:r>
            <a:endParaRPr lang="en-US" sz="2200" dirty="0"/>
          </a:p>
        </p:txBody>
      </p:sp>
      <p:sp>
        <p:nvSpPr>
          <p:cNvPr id="20" name="Text 18"/>
          <p:cNvSpPr/>
          <p:nvPr/>
        </p:nvSpPr>
        <p:spPr>
          <a:xfrm>
            <a:off x="6267480" y="3049250"/>
            <a:ext cx="2352660" cy="314197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1700" dirty="0">
                <a:solidFill>
                  <a:srgbClr val="5E584D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场景需求全部由业务部门提出，信息中心负责实现，避免建了没人用</a:t>
            </a:r>
            <a:endParaRPr lang="en-US" sz="1700" dirty="0"/>
          </a:p>
        </p:txBody>
      </p:sp>
      <p:sp>
        <p:nvSpPr>
          <p:cNvPr id="21" name="Shape 19"/>
          <p:cNvSpPr/>
          <p:nvPr/>
        </p:nvSpPr>
        <p:spPr>
          <a:xfrm>
            <a:off x="8848740" y="1676370"/>
            <a:ext cx="0" cy="4610130"/>
          </a:xfrm>
          <a:prstGeom prst="line">
            <a:avLst/>
          </a:prstGeom>
          <a:noFill/>
          <a:ln w="9525">
            <a:solidFill>
              <a:srgbClr val="CBC3B3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9020190" y="1600200"/>
            <a:ext cx="761970" cy="76197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4800" i="1" dirty="0">
                <a:solidFill>
                  <a:srgbClr val="D7261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4</a:t>
            </a:r>
            <a:endParaRPr lang="en-US" sz="4800" dirty="0"/>
          </a:p>
        </p:txBody>
      </p:sp>
      <p:sp>
        <p:nvSpPr>
          <p:cNvPr id="23" name="Shape 21"/>
          <p:cNvSpPr/>
          <p:nvPr/>
        </p:nvSpPr>
        <p:spPr>
          <a:xfrm>
            <a:off x="9020190" y="2438430"/>
            <a:ext cx="381030" cy="0"/>
          </a:xfrm>
          <a:prstGeom prst="line">
            <a:avLst/>
          </a:prstGeom>
          <a:noFill/>
          <a:ln w="25400">
            <a:solidFill>
              <a:srgbClr val="141414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9020190" y="2590770"/>
            <a:ext cx="2352660" cy="571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2200" b="1" dirty="0">
                <a:solidFill>
                  <a:srgbClr val="141414"/>
                </a:solidFill>
                <a:latin typeface="宋体" pitchFamily="34" charset="0"/>
                <a:ea typeface="宋体" pitchFamily="34" charset="-122"/>
                <a:cs typeface="宋体" pitchFamily="34" charset="-120"/>
              </a:rPr>
              <a:t>用数字考核</a:t>
            </a:r>
            <a:endParaRPr lang="en-US" sz="2200" dirty="0"/>
          </a:p>
        </p:txBody>
      </p:sp>
      <p:sp>
        <p:nvSpPr>
          <p:cNvPr id="25" name="Text 23"/>
          <p:cNvSpPr/>
          <p:nvPr/>
        </p:nvSpPr>
        <p:spPr>
          <a:xfrm>
            <a:off x="9020190" y="3049250"/>
            <a:ext cx="2352660" cy="314197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1700" dirty="0">
                <a:solidFill>
                  <a:srgbClr val="5E584D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每个场景上线前先定好衡量指标，季度复盘不达标就下线</a:t>
            </a:r>
            <a:endParaRPr lang="en-US" sz="1700" dirty="0"/>
          </a:p>
        </p:txBody>
      </p:sp>
      <p:sp>
        <p:nvSpPr>
          <p:cNvPr id="26" name="Shape 24"/>
          <p:cNvSpPr/>
          <p:nvPr/>
        </p:nvSpPr>
        <p:spPr>
          <a:xfrm>
            <a:off x="761970" y="6438930"/>
            <a:ext cx="10668030" cy="0"/>
          </a:xfrm>
          <a:prstGeom prst="line">
            <a:avLst/>
          </a:prstGeom>
          <a:noFill/>
          <a:ln w="9525">
            <a:solidFill>
              <a:srgbClr val="CBC3B3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761970" y="6515100"/>
            <a:ext cx="6667530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000" dirty="0">
                <a:solidFill>
                  <a:srgbClr val="5E584D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2026年数字化转型工作汇报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3EFE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66780" y="666780"/>
            <a:ext cx="4953030" cy="533397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90000"/>
              </a:lnSpc>
              <a:buNone/>
            </a:pPr>
            <a:r>
              <a:rPr lang="en-US" sz="38000" i="1" dirty="0">
                <a:solidFill>
                  <a:srgbClr val="D7261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</a:t>
            </a:r>
            <a:endParaRPr lang="en-US" sz="38000" dirty="0"/>
          </a:p>
        </p:txBody>
      </p:sp>
      <p:sp>
        <p:nvSpPr>
          <p:cNvPr id="3" name="Shape 1"/>
          <p:cNvSpPr/>
          <p:nvPr/>
        </p:nvSpPr>
        <p:spPr>
          <a:xfrm>
            <a:off x="5715000" y="2857500"/>
            <a:ext cx="5715000" cy="28621"/>
          </a:xfrm>
          <a:prstGeom prst="rect">
            <a:avLst/>
          </a:prstGeom>
          <a:solidFill>
            <a:srgbClr val="141414"/>
          </a:solidFill>
          <a:ln/>
        </p:spPr>
      </p:sp>
      <p:sp>
        <p:nvSpPr>
          <p:cNvPr id="4" name="Text 2"/>
          <p:cNvSpPr/>
          <p:nvPr/>
        </p:nvSpPr>
        <p:spPr>
          <a:xfrm>
            <a:off x="5715000" y="2571750"/>
            <a:ext cx="3810030" cy="2095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200" spc="400" kern="0" dirty="0">
                <a:solidFill>
                  <a:srgbClr val="5E584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CHAPTER 02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5715000" y="3028950"/>
            <a:ext cx="5715000" cy="133347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4800" b="1" dirty="0">
                <a:solidFill>
                  <a:srgbClr val="141414"/>
                </a:solidFill>
                <a:latin typeface="宋体" pitchFamily="34" charset="0"/>
                <a:ea typeface="宋体" pitchFamily="34" charset="-122"/>
                <a:cs typeface="宋体" pitchFamily="34" charset="-120"/>
              </a:rPr>
              <a:t>明年工作计划</a:t>
            </a:r>
            <a:endParaRPr lang="en-US" sz="4800" dirty="0"/>
          </a:p>
        </p:txBody>
      </p:sp>
      <p:sp>
        <p:nvSpPr>
          <p:cNvPr id="6" name="Text 4"/>
          <p:cNvSpPr/>
          <p:nvPr/>
        </p:nvSpPr>
        <p:spPr>
          <a:xfrm>
            <a:off x="5715000" y="4476720"/>
            <a:ext cx="5715000" cy="571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2000" dirty="0">
                <a:solidFill>
                  <a:srgbClr val="5E584D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从「能用」走向「好用」</a:t>
            </a:r>
            <a:endParaRPr lang="en-US" sz="2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3EFE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61970" y="381030"/>
            <a:ext cx="10668030" cy="28621"/>
          </a:xfrm>
          <a:prstGeom prst="rect">
            <a:avLst/>
          </a:prstGeom>
          <a:solidFill>
            <a:srgbClr val="141414"/>
          </a:solidFill>
          <a:ln/>
        </p:spPr>
      </p:sp>
      <p:sp>
        <p:nvSpPr>
          <p:cNvPr id="3" name="Text 1"/>
          <p:cNvSpPr/>
          <p:nvPr/>
        </p:nvSpPr>
        <p:spPr>
          <a:xfrm>
            <a:off x="761970" y="476220"/>
            <a:ext cx="5715000" cy="19047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100" spc="200" kern="0" dirty="0">
                <a:solidFill>
                  <a:srgbClr val="5E584D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02 — 明年工作计划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10477470" y="476220"/>
            <a:ext cx="952530" cy="19047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lnSpc>
                <a:spcPct val="100000"/>
              </a:lnSpc>
              <a:buNone/>
            </a:pPr>
            <a:r>
              <a:rPr lang="en-US" sz="1100" i="1" dirty="0">
                <a:solidFill>
                  <a:srgbClr val="5E584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P.08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61970" y="742950"/>
            <a:ext cx="10668030" cy="571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3200" b="1" dirty="0">
                <a:solidFill>
                  <a:srgbClr val="141414"/>
                </a:solidFill>
                <a:latin typeface="宋体" pitchFamily="34" charset="0"/>
                <a:ea typeface="宋体" pitchFamily="34" charset="-122"/>
                <a:cs typeface="宋体" pitchFamily="34" charset="-120"/>
              </a:rPr>
              <a:t>2027 年分四个阶段推进</a:t>
            </a:r>
            <a:endParaRPr lang="en-US" sz="3200" dirty="0"/>
          </a:p>
        </p:txBody>
      </p:sp>
      <p:sp>
        <p:nvSpPr>
          <p:cNvPr id="6" name="Shape 4"/>
          <p:cNvSpPr/>
          <p:nvPr/>
        </p:nvSpPr>
        <p:spPr>
          <a:xfrm>
            <a:off x="761970" y="1409730"/>
            <a:ext cx="10668030" cy="0"/>
          </a:xfrm>
          <a:prstGeom prst="line">
            <a:avLst/>
          </a:prstGeom>
          <a:noFill/>
          <a:ln w="9525">
            <a:solidFill>
              <a:srgbClr val="CBC3B3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761970" y="3600450"/>
            <a:ext cx="10668030" cy="0"/>
          </a:xfrm>
          <a:prstGeom prst="line">
            <a:avLst/>
          </a:prstGeom>
          <a:noFill/>
          <a:ln w="25400">
            <a:solidFill>
              <a:srgbClr val="CBC3B3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2009760" y="3514771"/>
            <a:ext cx="171450" cy="171450"/>
          </a:xfrm>
          <a:prstGeom prst="ellipse">
            <a:avLst/>
          </a:prstGeom>
          <a:solidFill>
            <a:srgbClr val="D7261E"/>
          </a:solidFill>
          <a:ln/>
        </p:spPr>
      </p:sp>
      <p:sp>
        <p:nvSpPr>
          <p:cNvPr id="9" name="Text 7"/>
          <p:cNvSpPr/>
          <p:nvPr/>
        </p:nvSpPr>
        <p:spPr>
          <a:xfrm>
            <a:off x="838230" y="2933670"/>
            <a:ext cx="2514600" cy="3810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2300" b="1" dirty="0">
                <a:solidFill>
                  <a:srgbClr val="D7261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Q1</a:t>
            </a:r>
            <a:endParaRPr lang="en-US" sz="2300" dirty="0"/>
          </a:p>
        </p:txBody>
      </p:sp>
      <p:sp>
        <p:nvSpPr>
          <p:cNvPr id="10" name="Text 8"/>
          <p:cNvSpPr/>
          <p:nvPr/>
        </p:nvSpPr>
        <p:spPr>
          <a:xfrm>
            <a:off x="838230" y="3848070"/>
            <a:ext cx="2514600" cy="53337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2000" b="1" dirty="0">
                <a:solidFill>
                  <a:srgbClr val="141414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摸底与规划</a:t>
            </a:r>
            <a:endParaRPr lang="en-US" sz="2000" dirty="0"/>
          </a:p>
        </p:txBody>
      </p:sp>
      <p:sp>
        <p:nvSpPr>
          <p:cNvPr id="11" name="Text 9"/>
          <p:cNvSpPr/>
          <p:nvPr/>
        </p:nvSpPr>
        <p:spPr>
          <a:xfrm>
            <a:off x="876270" y="4457700"/>
            <a:ext cx="243843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1700" dirty="0">
                <a:solidFill>
                  <a:srgbClr val="5E584D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梳理全部业务流程，</a:t>
            </a:r>
            <a:endParaRPr lang="en-US" sz="1700" dirty="0"/>
          </a:p>
          <a:p>
            <a:pPr algn="ctr" indent="0" marL="0">
              <a:lnSpc>
                <a:spcPct val="110000"/>
              </a:lnSpc>
              <a:buNone/>
            </a:pPr>
            <a:r>
              <a:rPr lang="en-US" sz="1700" dirty="0">
                <a:solidFill>
                  <a:srgbClr val="5E584D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确定第二批场景清单</a:t>
            </a:r>
            <a:endParaRPr lang="en-US" sz="1700" dirty="0"/>
          </a:p>
        </p:txBody>
      </p:sp>
      <p:sp>
        <p:nvSpPr>
          <p:cNvPr id="12" name="Shape 10"/>
          <p:cNvSpPr/>
          <p:nvPr/>
        </p:nvSpPr>
        <p:spPr>
          <a:xfrm>
            <a:off x="4676790" y="3514771"/>
            <a:ext cx="171450" cy="171450"/>
          </a:xfrm>
          <a:prstGeom prst="ellipse">
            <a:avLst/>
          </a:prstGeom>
          <a:solidFill>
            <a:srgbClr val="D7261E"/>
          </a:solidFill>
          <a:ln/>
        </p:spPr>
      </p:sp>
      <p:sp>
        <p:nvSpPr>
          <p:cNvPr id="13" name="Text 11"/>
          <p:cNvSpPr/>
          <p:nvPr/>
        </p:nvSpPr>
        <p:spPr>
          <a:xfrm>
            <a:off x="3505170" y="2933670"/>
            <a:ext cx="2514600" cy="3810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2300" b="1" dirty="0">
                <a:solidFill>
                  <a:srgbClr val="D7261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Q2</a:t>
            </a:r>
            <a:endParaRPr lang="en-US" sz="2300" dirty="0"/>
          </a:p>
        </p:txBody>
      </p:sp>
      <p:sp>
        <p:nvSpPr>
          <p:cNvPr id="14" name="Text 12"/>
          <p:cNvSpPr/>
          <p:nvPr/>
        </p:nvSpPr>
        <p:spPr>
          <a:xfrm>
            <a:off x="3505170" y="3848070"/>
            <a:ext cx="2514600" cy="53337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2000" b="1" dirty="0">
                <a:solidFill>
                  <a:srgbClr val="141414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平台升级</a:t>
            </a:r>
            <a:endParaRPr lang="en-US" sz="2000" dirty="0"/>
          </a:p>
        </p:txBody>
      </p:sp>
      <p:sp>
        <p:nvSpPr>
          <p:cNvPr id="15" name="Text 13"/>
          <p:cNvSpPr/>
          <p:nvPr/>
        </p:nvSpPr>
        <p:spPr>
          <a:xfrm>
            <a:off x="3543300" y="4457700"/>
            <a:ext cx="243843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1700" dirty="0">
                <a:solidFill>
                  <a:srgbClr val="5E584D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数据平台扩容，</a:t>
            </a:r>
            <a:endParaRPr lang="en-US" sz="1700" dirty="0"/>
          </a:p>
          <a:p>
            <a:pPr algn="ctr" indent="0" marL="0">
              <a:lnSpc>
                <a:spcPct val="110000"/>
              </a:lnSpc>
              <a:buNone/>
            </a:pPr>
            <a:r>
              <a:rPr lang="en-US" sz="1700" dirty="0">
                <a:solidFill>
                  <a:srgbClr val="5E584D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接入生产一线设备数据</a:t>
            </a:r>
            <a:endParaRPr lang="en-US" sz="1700" dirty="0"/>
          </a:p>
        </p:txBody>
      </p:sp>
      <p:sp>
        <p:nvSpPr>
          <p:cNvPr id="16" name="Shape 14"/>
          <p:cNvSpPr/>
          <p:nvPr/>
        </p:nvSpPr>
        <p:spPr>
          <a:xfrm>
            <a:off x="7343821" y="3514771"/>
            <a:ext cx="171450" cy="171450"/>
          </a:xfrm>
          <a:prstGeom prst="ellipse">
            <a:avLst/>
          </a:prstGeom>
          <a:solidFill>
            <a:srgbClr val="D7261E"/>
          </a:solidFill>
          <a:ln/>
        </p:spPr>
      </p:sp>
      <p:sp>
        <p:nvSpPr>
          <p:cNvPr id="17" name="Text 15"/>
          <p:cNvSpPr/>
          <p:nvPr/>
        </p:nvSpPr>
        <p:spPr>
          <a:xfrm>
            <a:off x="6172200" y="2933670"/>
            <a:ext cx="2514600" cy="3810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2300" b="1" dirty="0">
                <a:solidFill>
                  <a:srgbClr val="D7261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Q3</a:t>
            </a:r>
            <a:endParaRPr lang="en-US" sz="2300" dirty="0"/>
          </a:p>
        </p:txBody>
      </p:sp>
      <p:sp>
        <p:nvSpPr>
          <p:cNvPr id="18" name="Text 16"/>
          <p:cNvSpPr/>
          <p:nvPr/>
        </p:nvSpPr>
        <p:spPr>
          <a:xfrm>
            <a:off x="6172200" y="3848070"/>
            <a:ext cx="2514600" cy="53337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2000" b="1" dirty="0">
                <a:solidFill>
                  <a:srgbClr val="141414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智能化试点</a:t>
            </a:r>
            <a:endParaRPr lang="en-US" sz="2000" dirty="0"/>
          </a:p>
        </p:txBody>
      </p:sp>
      <p:sp>
        <p:nvSpPr>
          <p:cNvPr id="19" name="Text 17"/>
          <p:cNvSpPr/>
          <p:nvPr/>
        </p:nvSpPr>
        <p:spPr>
          <a:xfrm>
            <a:off x="6210330" y="4457700"/>
            <a:ext cx="243843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1700" dirty="0">
                <a:solidFill>
                  <a:srgbClr val="5E584D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在财务和采购两个</a:t>
            </a:r>
            <a:endParaRPr lang="en-US" sz="1700" dirty="0"/>
          </a:p>
          <a:p>
            <a:pPr algn="ctr" indent="0" marL="0">
              <a:lnSpc>
                <a:spcPct val="110000"/>
              </a:lnSpc>
              <a:buNone/>
            </a:pPr>
            <a:r>
              <a:rPr lang="en-US" sz="1700" dirty="0">
                <a:solidFill>
                  <a:srgbClr val="5E584D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部门试点 AI 助手</a:t>
            </a:r>
            <a:endParaRPr lang="en-US" sz="1700" dirty="0"/>
          </a:p>
        </p:txBody>
      </p:sp>
      <p:sp>
        <p:nvSpPr>
          <p:cNvPr id="20" name="Shape 18"/>
          <p:cNvSpPr/>
          <p:nvPr/>
        </p:nvSpPr>
        <p:spPr>
          <a:xfrm>
            <a:off x="10010760" y="3514771"/>
            <a:ext cx="171450" cy="171450"/>
          </a:xfrm>
          <a:prstGeom prst="ellipse">
            <a:avLst/>
          </a:prstGeom>
          <a:solidFill>
            <a:srgbClr val="D7261E"/>
          </a:solidFill>
          <a:ln/>
        </p:spPr>
      </p:sp>
      <p:sp>
        <p:nvSpPr>
          <p:cNvPr id="21" name="Text 19"/>
          <p:cNvSpPr/>
          <p:nvPr/>
        </p:nvSpPr>
        <p:spPr>
          <a:xfrm>
            <a:off x="8839230" y="2933670"/>
            <a:ext cx="2514600" cy="3810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2300" b="1" dirty="0">
                <a:solidFill>
                  <a:srgbClr val="D7261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Q4</a:t>
            </a:r>
            <a:endParaRPr lang="en-US" sz="2300" dirty="0"/>
          </a:p>
        </p:txBody>
      </p:sp>
      <p:sp>
        <p:nvSpPr>
          <p:cNvPr id="22" name="Text 20"/>
          <p:cNvSpPr/>
          <p:nvPr/>
        </p:nvSpPr>
        <p:spPr>
          <a:xfrm>
            <a:off x="8839230" y="3848070"/>
            <a:ext cx="2514600" cy="53337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2000" b="1" dirty="0">
                <a:solidFill>
                  <a:srgbClr val="141414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全面推广</a:t>
            </a:r>
            <a:endParaRPr lang="en-US" sz="2000" dirty="0"/>
          </a:p>
        </p:txBody>
      </p:sp>
      <p:sp>
        <p:nvSpPr>
          <p:cNvPr id="23" name="Text 21"/>
          <p:cNvSpPr/>
          <p:nvPr/>
        </p:nvSpPr>
        <p:spPr>
          <a:xfrm>
            <a:off x="8877270" y="4457700"/>
            <a:ext cx="243843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1700" dirty="0">
                <a:solidFill>
                  <a:srgbClr val="5E584D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试点成功的场景</a:t>
            </a:r>
            <a:endParaRPr lang="en-US" sz="1700" dirty="0"/>
          </a:p>
          <a:p>
            <a:pPr algn="ctr" indent="0" marL="0">
              <a:lnSpc>
                <a:spcPct val="110000"/>
              </a:lnSpc>
              <a:buNone/>
            </a:pPr>
            <a:r>
              <a:rPr lang="en-US" sz="1700" dirty="0">
                <a:solidFill>
                  <a:srgbClr val="5E584D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推广到全集团</a:t>
            </a:r>
            <a:endParaRPr lang="en-US" sz="1700" dirty="0"/>
          </a:p>
        </p:txBody>
      </p:sp>
      <p:sp>
        <p:nvSpPr>
          <p:cNvPr id="24" name="Shape 22"/>
          <p:cNvSpPr/>
          <p:nvPr/>
        </p:nvSpPr>
        <p:spPr>
          <a:xfrm>
            <a:off x="761970" y="6438930"/>
            <a:ext cx="10668030" cy="0"/>
          </a:xfrm>
          <a:prstGeom prst="line">
            <a:avLst/>
          </a:prstGeom>
          <a:noFill/>
          <a:ln w="9525">
            <a:solidFill>
              <a:srgbClr val="CBC3B3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761970" y="6515100"/>
            <a:ext cx="6667530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000" dirty="0">
                <a:solidFill>
                  <a:srgbClr val="5E584D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2026年数字化转型工作汇报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3EFE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61970" y="381030"/>
            <a:ext cx="10668030" cy="28621"/>
          </a:xfrm>
          <a:prstGeom prst="rect">
            <a:avLst/>
          </a:prstGeom>
          <a:solidFill>
            <a:srgbClr val="141414"/>
          </a:solidFill>
          <a:ln/>
        </p:spPr>
      </p:sp>
      <p:sp>
        <p:nvSpPr>
          <p:cNvPr id="3" name="Text 1"/>
          <p:cNvSpPr/>
          <p:nvPr/>
        </p:nvSpPr>
        <p:spPr>
          <a:xfrm>
            <a:off x="761970" y="476220"/>
            <a:ext cx="5715000" cy="19047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100" spc="200" kern="0" dirty="0">
                <a:solidFill>
                  <a:srgbClr val="5E584D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02 — 明年工作计划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10477470" y="476220"/>
            <a:ext cx="952530" cy="19047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lnSpc>
                <a:spcPct val="100000"/>
              </a:lnSpc>
              <a:buNone/>
            </a:pPr>
            <a:r>
              <a:rPr lang="en-US" sz="1100" i="1" dirty="0">
                <a:solidFill>
                  <a:srgbClr val="5E584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P.09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61970" y="742950"/>
            <a:ext cx="10668030" cy="571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3200" b="1" dirty="0">
                <a:solidFill>
                  <a:srgbClr val="141414"/>
                </a:solidFill>
                <a:latin typeface="宋体" pitchFamily="34" charset="0"/>
                <a:ea typeface="宋体" pitchFamily="34" charset="-122"/>
                <a:cs typeface="宋体" pitchFamily="34" charset="-120"/>
              </a:rPr>
              <a:t>新场景上线统一走五步</a:t>
            </a:r>
            <a:endParaRPr lang="en-US" sz="3200" dirty="0"/>
          </a:p>
        </p:txBody>
      </p:sp>
      <p:sp>
        <p:nvSpPr>
          <p:cNvPr id="6" name="Shape 4"/>
          <p:cNvSpPr/>
          <p:nvPr/>
        </p:nvSpPr>
        <p:spPr>
          <a:xfrm>
            <a:off x="761970" y="1409730"/>
            <a:ext cx="10668030" cy="0"/>
          </a:xfrm>
          <a:prstGeom prst="line">
            <a:avLst/>
          </a:prstGeom>
          <a:noFill/>
          <a:ln w="9525">
            <a:solidFill>
              <a:srgbClr val="CBC3B3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761970" y="2552730"/>
            <a:ext cx="1958370" cy="685800"/>
          </a:xfrm>
          <a:custGeom>
            <a:avLst/>
            <a:gdLst/>
            <a:ahLst/>
            <a:cxnLst/>
            <a:rect l="l" t="t" r="r" b="b"/>
            <a:pathLst>
              <a:path w="1958370" h="685800">
                <a:moveTo>
                  <a:pt x="0" y="0"/>
                </a:moveTo>
                <a:lnTo>
                  <a:pt x="1748790" y="0"/>
                </a:lnTo>
                <a:lnTo>
                  <a:pt x="1958370" y="342900"/>
                </a:lnTo>
                <a:lnTo>
                  <a:pt x="1748790" y="685800"/>
                </a:lnTo>
                <a:lnTo>
                  <a:pt x="0" y="685800"/>
                </a:lnTo>
                <a:lnTo>
                  <a:pt x="0" y="342900"/>
                </a:lnTo>
                <a:close/>
              </a:path>
            </a:pathLst>
          </a:custGeom>
          <a:solidFill>
            <a:srgbClr val="EAE4D7"/>
          </a:solidFill>
          <a:ln/>
        </p:spPr>
      </p:sp>
      <p:sp>
        <p:nvSpPr>
          <p:cNvPr id="8" name="Text 6"/>
          <p:cNvSpPr/>
          <p:nvPr/>
        </p:nvSpPr>
        <p:spPr>
          <a:xfrm>
            <a:off x="971550" y="2686050"/>
            <a:ext cx="1539210" cy="41907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2000" b="1" dirty="0">
                <a:solidFill>
                  <a:srgbClr val="141414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业务出题</a:t>
            </a:r>
            <a:endParaRPr lang="en-US" sz="2000" dirty="0"/>
          </a:p>
        </p:txBody>
      </p:sp>
      <p:sp>
        <p:nvSpPr>
          <p:cNvPr id="9" name="Text 7"/>
          <p:cNvSpPr/>
          <p:nvPr/>
        </p:nvSpPr>
        <p:spPr>
          <a:xfrm>
            <a:off x="761970" y="3467130"/>
            <a:ext cx="19202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200" b="1" spc="200" kern="0" dirty="0">
                <a:solidFill>
                  <a:srgbClr val="D7261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STEP 1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761970" y="3771900"/>
            <a:ext cx="1920240" cy="1428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800" dirty="0">
                <a:solidFill>
                  <a:srgbClr val="5E584D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业务部门写清楚要解决什么问题</a:t>
            </a:r>
            <a:endParaRPr lang="en-US" sz="1800" dirty="0"/>
          </a:p>
        </p:txBody>
      </p:sp>
      <p:sp>
        <p:nvSpPr>
          <p:cNvPr id="11" name="Shape 9"/>
          <p:cNvSpPr/>
          <p:nvPr/>
        </p:nvSpPr>
        <p:spPr>
          <a:xfrm>
            <a:off x="2948940" y="2552730"/>
            <a:ext cx="1958370" cy="685800"/>
          </a:xfrm>
          <a:custGeom>
            <a:avLst/>
            <a:gdLst/>
            <a:ahLst/>
            <a:cxnLst/>
            <a:rect l="l" t="t" r="r" b="b"/>
            <a:pathLst>
              <a:path w="1958370" h="685800">
                <a:moveTo>
                  <a:pt x="0" y="0"/>
                </a:moveTo>
                <a:lnTo>
                  <a:pt x="1748790" y="0"/>
                </a:lnTo>
                <a:lnTo>
                  <a:pt x="1958370" y="342900"/>
                </a:lnTo>
                <a:lnTo>
                  <a:pt x="1748790" y="685800"/>
                </a:lnTo>
                <a:lnTo>
                  <a:pt x="0" y="685800"/>
                </a:lnTo>
                <a:lnTo>
                  <a:pt x="209580" y="342900"/>
                </a:lnTo>
                <a:close/>
              </a:path>
            </a:pathLst>
          </a:custGeom>
          <a:solidFill>
            <a:srgbClr val="EAE4D7"/>
          </a:solidFill>
          <a:ln/>
        </p:spPr>
      </p:sp>
      <p:sp>
        <p:nvSpPr>
          <p:cNvPr id="12" name="Text 10"/>
          <p:cNvSpPr/>
          <p:nvPr/>
        </p:nvSpPr>
        <p:spPr>
          <a:xfrm>
            <a:off x="3158520" y="2686050"/>
            <a:ext cx="1539210" cy="41907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2000" b="1" dirty="0">
                <a:solidFill>
                  <a:srgbClr val="141414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评估立项</a:t>
            </a:r>
            <a:endParaRPr lang="en-US" sz="2000" dirty="0"/>
          </a:p>
        </p:txBody>
      </p:sp>
      <p:sp>
        <p:nvSpPr>
          <p:cNvPr id="13" name="Text 11"/>
          <p:cNvSpPr/>
          <p:nvPr/>
        </p:nvSpPr>
        <p:spPr>
          <a:xfrm>
            <a:off x="2948940" y="3467130"/>
            <a:ext cx="19202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200" b="1" spc="200" kern="0" dirty="0">
                <a:solidFill>
                  <a:srgbClr val="D7261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STEP 2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2948940" y="3771900"/>
            <a:ext cx="1920240" cy="1428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800" dirty="0">
                <a:solidFill>
                  <a:srgbClr val="5E584D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信息中心评估投入产出，两周内答复</a:t>
            </a:r>
            <a:endParaRPr lang="en-US" sz="1800" dirty="0"/>
          </a:p>
        </p:txBody>
      </p:sp>
      <p:sp>
        <p:nvSpPr>
          <p:cNvPr id="15" name="Shape 13"/>
          <p:cNvSpPr/>
          <p:nvPr/>
        </p:nvSpPr>
        <p:spPr>
          <a:xfrm>
            <a:off x="5135910" y="2552730"/>
            <a:ext cx="1958370" cy="685800"/>
          </a:xfrm>
          <a:custGeom>
            <a:avLst/>
            <a:gdLst/>
            <a:ahLst/>
            <a:cxnLst/>
            <a:rect l="l" t="t" r="r" b="b"/>
            <a:pathLst>
              <a:path w="1958370" h="685800">
                <a:moveTo>
                  <a:pt x="0" y="0"/>
                </a:moveTo>
                <a:lnTo>
                  <a:pt x="1748790" y="0"/>
                </a:lnTo>
                <a:lnTo>
                  <a:pt x="1958370" y="342900"/>
                </a:lnTo>
                <a:lnTo>
                  <a:pt x="1748790" y="685800"/>
                </a:lnTo>
                <a:lnTo>
                  <a:pt x="0" y="685800"/>
                </a:lnTo>
                <a:lnTo>
                  <a:pt x="209580" y="342900"/>
                </a:lnTo>
                <a:close/>
              </a:path>
            </a:pathLst>
          </a:custGeom>
          <a:solidFill>
            <a:srgbClr val="EAE4D7"/>
          </a:solidFill>
          <a:ln/>
        </p:spPr>
      </p:sp>
      <p:sp>
        <p:nvSpPr>
          <p:cNvPr id="16" name="Text 14"/>
          <p:cNvSpPr/>
          <p:nvPr/>
        </p:nvSpPr>
        <p:spPr>
          <a:xfrm>
            <a:off x="5345400" y="2686050"/>
            <a:ext cx="1539210" cy="41907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2000" b="1" dirty="0">
                <a:solidFill>
                  <a:srgbClr val="141414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试点 30 天</a:t>
            </a:r>
            <a:endParaRPr lang="en-US" sz="2000" dirty="0"/>
          </a:p>
        </p:txBody>
      </p:sp>
      <p:sp>
        <p:nvSpPr>
          <p:cNvPr id="17" name="Text 15"/>
          <p:cNvSpPr/>
          <p:nvPr/>
        </p:nvSpPr>
        <p:spPr>
          <a:xfrm>
            <a:off x="5135910" y="3467130"/>
            <a:ext cx="19202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200" b="1" spc="200" kern="0" dirty="0">
                <a:solidFill>
                  <a:srgbClr val="D7261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STEP 3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5135910" y="3771900"/>
            <a:ext cx="1920240" cy="1428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800" dirty="0">
                <a:solidFill>
                  <a:srgbClr val="5E584D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在一个部门小范围试用</a:t>
            </a:r>
            <a:endParaRPr lang="en-US" sz="1800" dirty="0"/>
          </a:p>
        </p:txBody>
      </p:sp>
      <p:sp>
        <p:nvSpPr>
          <p:cNvPr id="19" name="Shape 17"/>
          <p:cNvSpPr/>
          <p:nvPr/>
        </p:nvSpPr>
        <p:spPr>
          <a:xfrm>
            <a:off x="7322790" y="2552730"/>
            <a:ext cx="1958370" cy="685800"/>
          </a:xfrm>
          <a:custGeom>
            <a:avLst/>
            <a:gdLst/>
            <a:ahLst/>
            <a:cxnLst/>
            <a:rect l="l" t="t" r="r" b="b"/>
            <a:pathLst>
              <a:path w="1958370" h="685800">
                <a:moveTo>
                  <a:pt x="0" y="0"/>
                </a:moveTo>
                <a:lnTo>
                  <a:pt x="1748790" y="0"/>
                </a:lnTo>
                <a:lnTo>
                  <a:pt x="1958370" y="342900"/>
                </a:lnTo>
                <a:lnTo>
                  <a:pt x="1748790" y="685800"/>
                </a:lnTo>
                <a:lnTo>
                  <a:pt x="0" y="685800"/>
                </a:lnTo>
                <a:lnTo>
                  <a:pt x="209580" y="342900"/>
                </a:lnTo>
                <a:close/>
              </a:path>
            </a:pathLst>
          </a:custGeom>
          <a:solidFill>
            <a:srgbClr val="EAE4D7"/>
          </a:solidFill>
          <a:ln/>
        </p:spPr>
      </p:sp>
      <p:sp>
        <p:nvSpPr>
          <p:cNvPr id="20" name="Text 18"/>
          <p:cNvSpPr/>
          <p:nvPr/>
        </p:nvSpPr>
        <p:spPr>
          <a:xfrm>
            <a:off x="7532370" y="2686050"/>
            <a:ext cx="1539210" cy="41907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2000" b="1" dirty="0">
                <a:solidFill>
                  <a:srgbClr val="141414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复盘定夺</a:t>
            </a:r>
            <a:endParaRPr lang="en-US" sz="2000" dirty="0"/>
          </a:p>
        </p:txBody>
      </p:sp>
      <p:sp>
        <p:nvSpPr>
          <p:cNvPr id="21" name="Text 19"/>
          <p:cNvSpPr/>
          <p:nvPr/>
        </p:nvSpPr>
        <p:spPr>
          <a:xfrm>
            <a:off x="7322790" y="3467130"/>
            <a:ext cx="19202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200" b="1" spc="200" kern="0" dirty="0">
                <a:solidFill>
                  <a:srgbClr val="D7261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STEP 4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7322790" y="3771900"/>
            <a:ext cx="1920240" cy="1428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800" dirty="0">
                <a:solidFill>
                  <a:srgbClr val="5E584D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看指标决定推广、调整还是下线</a:t>
            </a:r>
            <a:endParaRPr lang="en-US" sz="1800" dirty="0"/>
          </a:p>
        </p:txBody>
      </p:sp>
      <p:sp>
        <p:nvSpPr>
          <p:cNvPr id="23" name="Shape 21"/>
          <p:cNvSpPr/>
          <p:nvPr/>
        </p:nvSpPr>
        <p:spPr>
          <a:xfrm>
            <a:off x="9509760" y="2552730"/>
            <a:ext cx="1958370" cy="685800"/>
          </a:xfrm>
          <a:custGeom>
            <a:avLst/>
            <a:gdLst/>
            <a:ahLst/>
            <a:cxnLst/>
            <a:rect l="l" t="t" r="r" b="b"/>
            <a:pathLst>
              <a:path w="1958370" h="685800">
                <a:moveTo>
                  <a:pt x="0" y="0"/>
                </a:moveTo>
                <a:lnTo>
                  <a:pt x="1748790" y="0"/>
                </a:lnTo>
                <a:lnTo>
                  <a:pt x="1958370" y="342900"/>
                </a:lnTo>
                <a:lnTo>
                  <a:pt x="1748790" y="685800"/>
                </a:lnTo>
                <a:lnTo>
                  <a:pt x="0" y="685800"/>
                </a:lnTo>
                <a:lnTo>
                  <a:pt x="209580" y="342900"/>
                </a:lnTo>
                <a:close/>
              </a:path>
            </a:pathLst>
          </a:custGeom>
          <a:solidFill>
            <a:srgbClr val="D7261E"/>
          </a:solidFill>
          <a:ln/>
        </p:spPr>
      </p:sp>
      <p:sp>
        <p:nvSpPr>
          <p:cNvPr id="24" name="Text 22"/>
          <p:cNvSpPr/>
          <p:nvPr/>
        </p:nvSpPr>
        <p:spPr>
          <a:xfrm>
            <a:off x="9719340" y="2686050"/>
            <a:ext cx="1539210" cy="41907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2000" b="1" dirty="0">
                <a:solidFill>
                  <a:srgbClr val="FFFFF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全面推广</a:t>
            </a:r>
            <a:endParaRPr lang="en-US" sz="2000" dirty="0"/>
          </a:p>
        </p:txBody>
      </p:sp>
      <p:sp>
        <p:nvSpPr>
          <p:cNvPr id="25" name="Text 23"/>
          <p:cNvSpPr/>
          <p:nvPr/>
        </p:nvSpPr>
        <p:spPr>
          <a:xfrm>
            <a:off x="9509760" y="3467130"/>
            <a:ext cx="19202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200" b="1" spc="200" kern="0" dirty="0">
                <a:solidFill>
                  <a:srgbClr val="D7261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STEP 5</a:t>
            </a:r>
            <a:endParaRPr lang="en-US" sz="1200" dirty="0"/>
          </a:p>
        </p:txBody>
      </p:sp>
      <p:sp>
        <p:nvSpPr>
          <p:cNvPr id="26" name="Text 24"/>
          <p:cNvSpPr/>
          <p:nvPr/>
        </p:nvSpPr>
        <p:spPr>
          <a:xfrm>
            <a:off x="9509760" y="3771900"/>
            <a:ext cx="1920240" cy="1428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800" dirty="0">
                <a:solidFill>
                  <a:srgbClr val="5E584D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形成操作手册，全集团铺开</a:t>
            </a:r>
            <a:endParaRPr lang="en-US" sz="1800" dirty="0"/>
          </a:p>
        </p:txBody>
      </p:sp>
      <p:sp>
        <p:nvSpPr>
          <p:cNvPr id="27" name="Shape 25"/>
          <p:cNvSpPr/>
          <p:nvPr/>
        </p:nvSpPr>
        <p:spPr>
          <a:xfrm>
            <a:off x="761970" y="6438930"/>
            <a:ext cx="10668030" cy="0"/>
          </a:xfrm>
          <a:prstGeom prst="line">
            <a:avLst/>
          </a:prstGeom>
          <a:noFill/>
          <a:ln w="9525">
            <a:solidFill>
              <a:srgbClr val="CBC3B3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761970" y="6515100"/>
            <a:ext cx="6667530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000" dirty="0">
                <a:solidFill>
                  <a:srgbClr val="5E584D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2026年数字化转型工作汇报</a:t>
            </a:r>
            <a:endParaRPr lang="en-US" sz="10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3EFE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61970" y="381030"/>
            <a:ext cx="10668030" cy="28621"/>
          </a:xfrm>
          <a:prstGeom prst="rect">
            <a:avLst/>
          </a:prstGeom>
          <a:solidFill>
            <a:srgbClr val="141414"/>
          </a:solidFill>
          <a:ln/>
        </p:spPr>
      </p:sp>
      <p:sp>
        <p:nvSpPr>
          <p:cNvPr id="3" name="Text 1"/>
          <p:cNvSpPr/>
          <p:nvPr/>
        </p:nvSpPr>
        <p:spPr>
          <a:xfrm>
            <a:off x="761970" y="476220"/>
            <a:ext cx="5715000" cy="19047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100" spc="200" kern="0" dirty="0">
                <a:solidFill>
                  <a:srgbClr val="5E584D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02 — 明年工作计划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10477470" y="476220"/>
            <a:ext cx="952530" cy="19047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lnSpc>
                <a:spcPct val="100000"/>
              </a:lnSpc>
              <a:buNone/>
            </a:pPr>
            <a:r>
              <a:rPr lang="en-US" sz="1100" i="1" dirty="0">
                <a:solidFill>
                  <a:srgbClr val="5E584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P.10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61970" y="742950"/>
            <a:ext cx="10668030" cy="571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3200" b="1" dirty="0">
                <a:solidFill>
                  <a:srgbClr val="141414"/>
                </a:solidFill>
                <a:latin typeface="宋体" pitchFamily="34" charset="0"/>
                <a:ea typeface="宋体" pitchFamily="34" charset="-122"/>
                <a:cs typeface="宋体" pitchFamily="34" charset="-120"/>
              </a:rPr>
              <a:t>从「能用」到「好用」，要补三块短板</a:t>
            </a:r>
            <a:endParaRPr lang="en-US" sz="3200" dirty="0"/>
          </a:p>
        </p:txBody>
      </p:sp>
      <p:sp>
        <p:nvSpPr>
          <p:cNvPr id="6" name="Shape 4"/>
          <p:cNvSpPr/>
          <p:nvPr/>
        </p:nvSpPr>
        <p:spPr>
          <a:xfrm>
            <a:off x="761970" y="1409730"/>
            <a:ext cx="10668030" cy="0"/>
          </a:xfrm>
          <a:prstGeom prst="line">
            <a:avLst/>
          </a:prstGeom>
          <a:noFill/>
          <a:ln w="9525">
            <a:solidFill>
              <a:srgbClr val="CBC3B3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761970" y="2438430"/>
            <a:ext cx="5143500" cy="3086100"/>
          </a:xfrm>
          <a:prstGeom prst="roundRect">
            <a:avLst>
              <a:gd name="adj" fmla="val 1852"/>
            </a:avLst>
          </a:prstGeom>
          <a:solidFill>
            <a:srgbClr val="EAE4D7">
              <a:alpha val="60000"/>
            </a:srgbClr>
          </a:solidFill>
          <a:ln/>
        </p:spPr>
      </p:sp>
      <p:sp>
        <p:nvSpPr>
          <p:cNvPr id="8" name="Shape 6"/>
          <p:cNvSpPr/>
          <p:nvPr/>
        </p:nvSpPr>
        <p:spPr>
          <a:xfrm>
            <a:off x="761970" y="2438430"/>
            <a:ext cx="5143500" cy="533370"/>
          </a:xfrm>
          <a:prstGeom prst="roundRect">
            <a:avLst>
              <a:gd name="adj" fmla="val 10715"/>
            </a:avLst>
          </a:prstGeom>
          <a:solidFill>
            <a:srgbClr val="BDB6A8"/>
          </a:solidFill>
          <a:ln/>
        </p:spPr>
      </p:sp>
      <p:sp>
        <p:nvSpPr>
          <p:cNvPr id="9" name="Text 7"/>
          <p:cNvSpPr/>
          <p:nvPr/>
        </p:nvSpPr>
        <p:spPr>
          <a:xfrm>
            <a:off x="990570" y="2533620"/>
            <a:ext cx="4686300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2000" b="1" dirty="0">
                <a:solidFill>
                  <a:srgbClr val="141414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现在：能用</a:t>
            </a:r>
            <a:endParaRPr lang="en-US" sz="2000" dirty="0"/>
          </a:p>
        </p:txBody>
      </p:sp>
      <p:sp>
        <p:nvSpPr>
          <p:cNvPr id="10" name="Shape 8"/>
          <p:cNvSpPr/>
          <p:nvPr/>
        </p:nvSpPr>
        <p:spPr>
          <a:xfrm>
            <a:off x="1028700" y="3352830"/>
            <a:ext cx="85771" cy="85771"/>
          </a:xfrm>
          <a:prstGeom prst="ellipse">
            <a:avLst/>
          </a:prstGeom>
          <a:solidFill>
            <a:srgbClr val="5E584D"/>
          </a:solidFill>
          <a:ln/>
        </p:spPr>
      </p:sp>
      <p:sp>
        <p:nvSpPr>
          <p:cNvPr id="11" name="Text 9"/>
          <p:cNvSpPr/>
          <p:nvPr/>
        </p:nvSpPr>
        <p:spPr>
          <a:xfrm>
            <a:off x="1238280" y="3238530"/>
            <a:ext cx="4476720" cy="6286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1900" dirty="0">
                <a:solidFill>
                  <a:srgbClr val="141414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系统上了，但很多人还是习惯线下填表</a:t>
            </a:r>
            <a:endParaRPr lang="en-US" sz="1900" dirty="0"/>
          </a:p>
        </p:txBody>
      </p:sp>
      <p:sp>
        <p:nvSpPr>
          <p:cNvPr id="12" name="Shape 10"/>
          <p:cNvSpPr/>
          <p:nvPr/>
        </p:nvSpPr>
        <p:spPr>
          <a:xfrm>
            <a:off x="1028700" y="4076670"/>
            <a:ext cx="85771" cy="85771"/>
          </a:xfrm>
          <a:prstGeom prst="ellipse">
            <a:avLst/>
          </a:prstGeom>
          <a:solidFill>
            <a:srgbClr val="5E584D"/>
          </a:solidFill>
          <a:ln/>
        </p:spPr>
      </p:sp>
      <p:sp>
        <p:nvSpPr>
          <p:cNvPr id="13" name="Text 11"/>
          <p:cNvSpPr/>
          <p:nvPr/>
        </p:nvSpPr>
        <p:spPr>
          <a:xfrm>
            <a:off x="1238280" y="3962370"/>
            <a:ext cx="4476720" cy="6286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2000" dirty="0">
                <a:solidFill>
                  <a:srgbClr val="141414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数据能查，但要找信息中心导出</a:t>
            </a:r>
            <a:endParaRPr lang="en-US" sz="2000" dirty="0"/>
          </a:p>
        </p:txBody>
      </p:sp>
      <p:sp>
        <p:nvSpPr>
          <p:cNvPr id="14" name="Shape 12"/>
          <p:cNvSpPr/>
          <p:nvPr/>
        </p:nvSpPr>
        <p:spPr>
          <a:xfrm>
            <a:off x="1028700" y="4800600"/>
            <a:ext cx="85771" cy="85771"/>
          </a:xfrm>
          <a:prstGeom prst="ellipse">
            <a:avLst/>
          </a:prstGeom>
          <a:solidFill>
            <a:srgbClr val="5E584D"/>
          </a:solidFill>
          <a:ln/>
        </p:spPr>
      </p:sp>
      <p:sp>
        <p:nvSpPr>
          <p:cNvPr id="15" name="Text 13"/>
          <p:cNvSpPr/>
          <p:nvPr/>
        </p:nvSpPr>
        <p:spPr>
          <a:xfrm>
            <a:off x="1238280" y="4686300"/>
            <a:ext cx="4476720" cy="6286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2000" dirty="0">
                <a:solidFill>
                  <a:srgbClr val="141414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每个系统一套账号密码</a:t>
            </a:r>
            <a:endParaRPr lang="en-US" sz="2000" dirty="0"/>
          </a:p>
        </p:txBody>
      </p:sp>
      <p:sp>
        <p:nvSpPr>
          <p:cNvPr id="16" name="Shape 14"/>
          <p:cNvSpPr/>
          <p:nvPr/>
        </p:nvSpPr>
        <p:spPr>
          <a:xfrm>
            <a:off x="6286500" y="2438430"/>
            <a:ext cx="5143500" cy="3086100"/>
          </a:xfrm>
          <a:prstGeom prst="roundRect">
            <a:avLst>
              <a:gd name="adj" fmla="val 1852"/>
            </a:avLst>
          </a:prstGeom>
          <a:solidFill>
            <a:srgbClr val="EAE4D7"/>
          </a:solidFill>
          <a:ln/>
        </p:spPr>
      </p:sp>
      <p:sp>
        <p:nvSpPr>
          <p:cNvPr id="17" name="Shape 15"/>
          <p:cNvSpPr/>
          <p:nvPr/>
        </p:nvSpPr>
        <p:spPr>
          <a:xfrm>
            <a:off x="6286500" y="2438430"/>
            <a:ext cx="5143500" cy="533370"/>
          </a:xfrm>
          <a:prstGeom prst="roundRect">
            <a:avLst>
              <a:gd name="adj" fmla="val 10715"/>
            </a:avLst>
          </a:prstGeom>
          <a:solidFill>
            <a:srgbClr val="D7261E"/>
          </a:solidFill>
          <a:ln/>
        </p:spPr>
      </p:sp>
      <p:sp>
        <p:nvSpPr>
          <p:cNvPr id="18" name="Text 16"/>
          <p:cNvSpPr/>
          <p:nvPr/>
        </p:nvSpPr>
        <p:spPr>
          <a:xfrm>
            <a:off x="6515100" y="2533620"/>
            <a:ext cx="4686300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2000" b="1" dirty="0">
                <a:solidFill>
                  <a:srgbClr val="FFFFF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明年：好用</a:t>
            </a:r>
            <a:endParaRPr lang="en-US" sz="2000" dirty="0"/>
          </a:p>
        </p:txBody>
      </p:sp>
      <p:sp>
        <p:nvSpPr>
          <p:cNvPr id="19" name="Shape 17"/>
          <p:cNvSpPr/>
          <p:nvPr/>
        </p:nvSpPr>
        <p:spPr>
          <a:xfrm>
            <a:off x="6553230" y="3352830"/>
            <a:ext cx="85771" cy="85771"/>
          </a:xfrm>
          <a:prstGeom prst="ellipse">
            <a:avLst/>
          </a:prstGeom>
          <a:solidFill>
            <a:srgbClr val="D7261E"/>
          </a:solidFill>
          <a:ln/>
        </p:spPr>
      </p:sp>
      <p:sp>
        <p:nvSpPr>
          <p:cNvPr id="20" name="Text 18"/>
          <p:cNvSpPr/>
          <p:nvPr/>
        </p:nvSpPr>
        <p:spPr>
          <a:xfrm>
            <a:off x="6762720" y="3238530"/>
            <a:ext cx="4476720" cy="6286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2000" dirty="0">
                <a:solidFill>
                  <a:srgbClr val="141414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手机上就能办完 80% 的日常审批</a:t>
            </a:r>
            <a:endParaRPr lang="en-US" sz="2000" dirty="0"/>
          </a:p>
        </p:txBody>
      </p:sp>
      <p:sp>
        <p:nvSpPr>
          <p:cNvPr id="21" name="Shape 19"/>
          <p:cNvSpPr/>
          <p:nvPr/>
        </p:nvSpPr>
        <p:spPr>
          <a:xfrm>
            <a:off x="6553230" y="4076670"/>
            <a:ext cx="85771" cy="85771"/>
          </a:xfrm>
          <a:prstGeom prst="ellipse">
            <a:avLst/>
          </a:prstGeom>
          <a:solidFill>
            <a:srgbClr val="D7261E"/>
          </a:solidFill>
          <a:ln/>
        </p:spPr>
      </p:sp>
      <p:sp>
        <p:nvSpPr>
          <p:cNvPr id="22" name="Text 20"/>
          <p:cNvSpPr/>
          <p:nvPr/>
        </p:nvSpPr>
        <p:spPr>
          <a:xfrm>
            <a:off x="6762720" y="3962370"/>
            <a:ext cx="4476720" cy="6286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2000" dirty="0">
                <a:solidFill>
                  <a:srgbClr val="141414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业务人员自己拖拽出报表</a:t>
            </a:r>
            <a:endParaRPr lang="en-US" sz="2000" dirty="0"/>
          </a:p>
        </p:txBody>
      </p:sp>
      <p:sp>
        <p:nvSpPr>
          <p:cNvPr id="23" name="Shape 21"/>
          <p:cNvSpPr/>
          <p:nvPr/>
        </p:nvSpPr>
        <p:spPr>
          <a:xfrm>
            <a:off x="6553230" y="4800600"/>
            <a:ext cx="85771" cy="85771"/>
          </a:xfrm>
          <a:prstGeom prst="ellipse">
            <a:avLst/>
          </a:prstGeom>
          <a:solidFill>
            <a:srgbClr val="D7261E"/>
          </a:solidFill>
          <a:ln/>
        </p:spPr>
      </p:sp>
      <p:sp>
        <p:nvSpPr>
          <p:cNvPr id="24" name="Text 22"/>
          <p:cNvSpPr/>
          <p:nvPr/>
        </p:nvSpPr>
        <p:spPr>
          <a:xfrm>
            <a:off x="6762720" y="4686300"/>
            <a:ext cx="4476720" cy="6286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2000" dirty="0">
                <a:solidFill>
                  <a:srgbClr val="141414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一个账号登录所有系统</a:t>
            </a:r>
            <a:endParaRPr lang="en-US" sz="2000" dirty="0"/>
          </a:p>
        </p:txBody>
      </p:sp>
      <p:sp>
        <p:nvSpPr>
          <p:cNvPr id="25" name="Shape 23"/>
          <p:cNvSpPr/>
          <p:nvPr/>
        </p:nvSpPr>
        <p:spPr>
          <a:xfrm>
            <a:off x="761970" y="6438930"/>
            <a:ext cx="10668030" cy="0"/>
          </a:xfrm>
          <a:prstGeom prst="line">
            <a:avLst/>
          </a:prstGeom>
          <a:noFill/>
          <a:ln w="9525">
            <a:solidFill>
              <a:srgbClr val="CBC3B3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761970" y="6515100"/>
            <a:ext cx="6667530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000" dirty="0">
                <a:solidFill>
                  <a:srgbClr val="5E584D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2026年数字化转型工作汇报</a:t>
            </a:r>
            <a:endParaRPr lang="en-US" sz="10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3EFE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61970" y="381030"/>
            <a:ext cx="10668030" cy="28621"/>
          </a:xfrm>
          <a:prstGeom prst="rect">
            <a:avLst/>
          </a:prstGeom>
          <a:solidFill>
            <a:srgbClr val="141414"/>
          </a:solidFill>
          <a:ln/>
        </p:spPr>
      </p:sp>
      <p:sp>
        <p:nvSpPr>
          <p:cNvPr id="3" name="Text 1"/>
          <p:cNvSpPr/>
          <p:nvPr/>
        </p:nvSpPr>
        <p:spPr>
          <a:xfrm>
            <a:off x="761970" y="476220"/>
            <a:ext cx="5715000" cy="19047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100" spc="200" kern="0" dirty="0">
                <a:solidFill>
                  <a:srgbClr val="5E584D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02 — 明年工作计划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10477470" y="476220"/>
            <a:ext cx="952530" cy="19047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lnSpc>
                <a:spcPct val="100000"/>
              </a:lnSpc>
              <a:buNone/>
            </a:pPr>
            <a:r>
              <a:rPr lang="en-US" sz="1100" i="1" dirty="0">
                <a:solidFill>
                  <a:srgbClr val="5E584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P.11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61970" y="742950"/>
            <a:ext cx="10668030" cy="571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3200" b="1" dirty="0">
                <a:solidFill>
                  <a:srgbClr val="141414"/>
                </a:solidFill>
                <a:latin typeface="宋体" pitchFamily="34" charset="0"/>
                <a:ea typeface="宋体" pitchFamily="34" charset="-122"/>
                <a:cs typeface="宋体" pitchFamily="34" charset="-120"/>
              </a:rPr>
              <a:t>2027 年重点项目与预算</a:t>
            </a:r>
            <a:endParaRPr lang="en-US" sz="3200" dirty="0"/>
          </a:p>
        </p:txBody>
      </p:sp>
      <p:sp>
        <p:nvSpPr>
          <p:cNvPr id="6" name="Shape 4"/>
          <p:cNvSpPr/>
          <p:nvPr/>
        </p:nvSpPr>
        <p:spPr>
          <a:xfrm>
            <a:off x="761970" y="1409730"/>
            <a:ext cx="10668030" cy="0"/>
          </a:xfrm>
          <a:prstGeom prst="line">
            <a:avLst/>
          </a:prstGeom>
          <a:noFill/>
          <a:ln w="9525">
            <a:solidFill>
              <a:srgbClr val="CBC3B3"/>
            </a:solidFill>
            <a:prstDash val="solid"/>
          </a:ln>
        </p:spPr>
      </p:sp>
      <p:graphicFrame>
        <p:nvGraphicFramePr>
          <p:cNvPr id="12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761970" y="1676370"/>
          <a:ext cx="10668030" cy="914400"/>
        </p:xfrm>
        <a:graphic>
          <a:graphicData uri="http://schemas.openxmlformats.org/drawingml/2006/table">
            <a:tbl>
              <a:tblPr/>
              <a:tblGrid>
                <a:gridCol w="2667030"/>
                <a:gridCol w="2667030"/>
                <a:gridCol w="2667030"/>
                <a:gridCol w="2667030"/>
              </a:tblGrid>
              <a:tr h="60963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800" b="1" dirty="0">
                          <a:solidFill>
                            <a:srgbClr val="FFFFFF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项目</a:t>
                      </a:r>
                      <a:endParaRPr lang="en-US" sz="18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109728" marR="109728" marT="0" marB="0" anchor="ctr">
                    <a:lnL w="9525" cap="flat" cmpd="sng" algn="ctr">
                      <a:solidFill>
                        <a:srgbClr val="CBC3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C3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C3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C3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7261E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800" b="1" dirty="0">
                          <a:solidFill>
                            <a:srgbClr val="FFFFFF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牵头部门</a:t>
                      </a:r>
                      <a:endParaRPr lang="en-US" sz="18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109728" marR="109728" marT="0" marB="0" anchor="ctr">
                    <a:lnL w="9525" cap="flat" cmpd="sng" algn="ctr">
                      <a:solidFill>
                        <a:srgbClr val="CBC3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C3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C3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C3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7261E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800" b="1" dirty="0">
                          <a:solidFill>
                            <a:srgbClr val="FFFFFF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完成时间</a:t>
                      </a:r>
                      <a:endParaRPr lang="en-US" sz="18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109728" marR="109728" marT="0" marB="0" anchor="ctr">
                    <a:lnL w="9525" cap="flat" cmpd="sng" algn="ctr">
                      <a:solidFill>
                        <a:srgbClr val="CBC3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C3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C3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C3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7261E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800" b="1" dirty="0">
                          <a:solidFill>
                            <a:srgbClr val="FFFFFF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预算（万元）</a:t>
                      </a:r>
                      <a:endParaRPr lang="en-US" sz="18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109728" marR="109728" marT="0" marB="0" anchor="ctr">
                    <a:lnL w="9525" cap="flat" cmpd="sng" algn="ctr">
                      <a:solidFill>
                        <a:srgbClr val="CBC3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C3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C3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C3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7261E"/>
                    </a:solidFill>
                  </a:tcPr>
                </a:tc>
              </a:tr>
              <a:tr h="60963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800" b="1" dirty="0">
                          <a:solidFill>
                            <a:srgbClr val="141414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数据平台扩容</a:t>
                      </a:r>
                      <a:endParaRPr lang="en-US" sz="18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109728" marR="109728" marT="0" marB="0" anchor="ctr">
                    <a:lnL w="9525" cap="flat" cmpd="sng" algn="ctr">
                      <a:solidFill>
                        <a:srgbClr val="CBC3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C3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C3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C3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EFE6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800" dirty="0">
                          <a:solidFill>
                            <a:srgbClr val="141414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信息中心</a:t>
                      </a:r>
                      <a:endParaRPr lang="en-US" sz="18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109728" marR="109728" marT="0" marB="0" anchor="ctr">
                    <a:lnL w="9525" cap="flat" cmpd="sng" algn="ctr">
                      <a:solidFill>
                        <a:srgbClr val="CBC3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C3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C3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C3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EFE6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800" dirty="0">
                          <a:solidFill>
                            <a:srgbClr val="141414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2027年6月</a:t>
                      </a:r>
                      <a:endParaRPr lang="en-US" sz="18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109728" marR="109728" marT="0" marB="0" anchor="ctr">
                    <a:lnL w="9525" cap="flat" cmpd="sng" algn="ctr">
                      <a:solidFill>
                        <a:srgbClr val="CBC3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C3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C3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C3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EFE6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800" dirty="0">
                          <a:solidFill>
                            <a:srgbClr val="141414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320</a:t>
                      </a:r>
                      <a:endParaRPr lang="en-US" sz="18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109728" marR="109728" marT="0" marB="0" anchor="ctr">
                    <a:lnL w="9525" cap="flat" cmpd="sng" algn="ctr">
                      <a:solidFill>
                        <a:srgbClr val="CBC3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C3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C3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C3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EFE6"/>
                    </a:solidFill>
                  </a:tcPr>
                </a:tc>
              </a:tr>
              <a:tr h="60963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800" b="1" dirty="0">
                          <a:solidFill>
                            <a:srgbClr val="141414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移动办公升级</a:t>
                      </a:r>
                      <a:endParaRPr lang="en-US" sz="18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109728" marR="109728" marT="0" marB="0" anchor="ctr">
                    <a:lnL w="9525" cap="flat" cmpd="sng" algn="ctr">
                      <a:solidFill>
                        <a:srgbClr val="CBC3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C3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C3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C3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E4D7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800" dirty="0">
                          <a:solidFill>
                            <a:srgbClr val="141414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办公室</a:t>
                      </a:r>
                      <a:endParaRPr lang="en-US" sz="18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109728" marR="109728" marT="0" marB="0" anchor="ctr">
                    <a:lnL w="9525" cap="flat" cmpd="sng" algn="ctr">
                      <a:solidFill>
                        <a:srgbClr val="CBC3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C3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C3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C3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E4D7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800" dirty="0">
                          <a:solidFill>
                            <a:srgbClr val="141414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2027年4月</a:t>
                      </a:r>
                      <a:endParaRPr lang="en-US" sz="18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109728" marR="109728" marT="0" marB="0" anchor="ctr">
                    <a:lnL w="9525" cap="flat" cmpd="sng" algn="ctr">
                      <a:solidFill>
                        <a:srgbClr val="CBC3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C3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C3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C3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E4D7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800" dirty="0">
                          <a:solidFill>
                            <a:srgbClr val="141414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150</a:t>
                      </a:r>
                      <a:endParaRPr lang="en-US" sz="18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109728" marR="109728" marT="0" marB="0" anchor="ctr">
                    <a:lnL w="9525" cap="flat" cmpd="sng" algn="ctr">
                      <a:solidFill>
                        <a:srgbClr val="CBC3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C3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C3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C3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E4D7"/>
                    </a:solidFill>
                  </a:tcPr>
                </a:tc>
              </a:tr>
              <a:tr h="60963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800" b="1" dirty="0">
                          <a:solidFill>
                            <a:srgbClr val="141414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财务AI助手试点</a:t>
                      </a:r>
                      <a:endParaRPr lang="en-US" sz="18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109728" marR="109728" marT="0" marB="0" anchor="ctr">
                    <a:lnL w="9525" cap="flat" cmpd="sng" algn="ctr">
                      <a:solidFill>
                        <a:srgbClr val="CBC3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C3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C3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C3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EFE6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800" dirty="0">
                          <a:solidFill>
                            <a:srgbClr val="141414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财务部</a:t>
                      </a:r>
                      <a:endParaRPr lang="en-US" sz="18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109728" marR="109728" marT="0" marB="0" anchor="ctr">
                    <a:lnL w="9525" cap="flat" cmpd="sng" algn="ctr">
                      <a:solidFill>
                        <a:srgbClr val="CBC3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C3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C3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C3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EFE6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800" dirty="0">
                          <a:solidFill>
                            <a:srgbClr val="141414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2027年9月</a:t>
                      </a:r>
                      <a:endParaRPr lang="en-US" sz="18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109728" marR="109728" marT="0" marB="0" anchor="ctr">
                    <a:lnL w="9525" cap="flat" cmpd="sng" algn="ctr">
                      <a:solidFill>
                        <a:srgbClr val="CBC3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C3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C3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C3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EFE6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800" dirty="0">
                          <a:solidFill>
                            <a:srgbClr val="141414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90</a:t>
                      </a:r>
                      <a:endParaRPr lang="en-US" sz="18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109728" marR="109728" marT="0" marB="0" anchor="ctr">
                    <a:lnL w="9525" cap="flat" cmpd="sng" algn="ctr">
                      <a:solidFill>
                        <a:srgbClr val="CBC3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C3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C3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C3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EFE6"/>
                    </a:solidFill>
                  </a:tcPr>
                </a:tc>
              </a:tr>
              <a:tr h="60963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800" b="1" dirty="0">
                          <a:solidFill>
                            <a:srgbClr val="141414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统一身份认证</a:t>
                      </a:r>
                      <a:endParaRPr lang="en-US" sz="18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109728" marR="109728" marT="0" marB="0" anchor="ctr">
                    <a:lnL w="9525" cap="flat" cmpd="sng" algn="ctr">
                      <a:solidFill>
                        <a:srgbClr val="CBC3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C3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C3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C3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E4D7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800" dirty="0">
                          <a:solidFill>
                            <a:srgbClr val="141414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信息中心</a:t>
                      </a:r>
                      <a:endParaRPr lang="en-US" sz="18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109728" marR="109728" marT="0" marB="0" anchor="ctr">
                    <a:lnL w="9525" cap="flat" cmpd="sng" algn="ctr">
                      <a:solidFill>
                        <a:srgbClr val="CBC3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C3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C3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C3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E4D7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800" dirty="0">
                          <a:solidFill>
                            <a:srgbClr val="141414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2027年3月</a:t>
                      </a:r>
                      <a:endParaRPr lang="en-US" sz="18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109728" marR="109728" marT="0" marB="0" anchor="ctr">
                    <a:lnL w="9525" cap="flat" cmpd="sng" algn="ctr">
                      <a:solidFill>
                        <a:srgbClr val="CBC3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C3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C3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C3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E4D7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800" dirty="0">
                          <a:solidFill>
                            <a:srgbClr val="141414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60</a:t>
                      </a:r>
                      <a:endParaRPr lang="en-US" sz="18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109728" marR="109728" marT="0" marB="0" anchor="ctr">
                    <a:lnL w="9525" cap="flat" cmpd="sng" algn="ctr">
                      <a:solidFill>
                        <a:srgbClr val="CBC3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C3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C3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C3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E4D7"/>
                    </a:solidFill>
                  </a:tcPr>
                </a:tc>
              </a:tr>
              <a:tr h="60963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800" b="1" dirty="0">
                          <a:solidFill>
                            <a:srgbClr val="141414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设备数据接入</a:t>
                      </a:r>
                      <a:endParaRPr lang="en-US" sz="18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109728" marR="109728" marT="0" marB="0" anchor="ctr">
                    <a:lnL w="9525" cap="flat" cmpd="sng" algn="ctr">
                      <a:solidFill>
                        <a:srgbClr val="CBC3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C3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C3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C3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EFE6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800" dirty="0">
                          <a:solidFill>
                            <a:srgbClr val="141414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生产部</a:t>
                      </a:r>
                      <a:endParaRPr lang="en-US" sz="18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109728" marR="109728" marT="0" marB="0" anchor="ctr">
                    <a:lnL w="9525" cap="flat" cmpd="sng" algn="ctr">
                      <a:solidFill>
                        <a:srgbClr val="CBC3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C3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C3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C3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EFE6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800" dirty="0">
                          <a:solidFill>
                            <a:srgbClr val="141414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2027年10月</a:t>
                      </a:r>
                      <a:endParaRPr lang="en-US" sz="18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109728" marR="109728" marT="0" marB="0" anchor="ctr">
                    <a:lnL w="9525" cap="flat" cmpd="sng" algn="ctr">
                      <a:solidFill>
                        <a:srgbClr val="CBC3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C3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C3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C3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EFE6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800" dirty="0">
                          <a:solidFill>
                            <a:srgbClr val="141414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210</a:t>
                      </a:r>
                      <a:endParaRPr lang="en-US" sz="18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109728" marR="109728" marT="0" marB="0" anchor="ctr">
                    <a:lnL w="9525" cap="flat" cmpd="sng" algn="ctr">
                      <a:solidFill>
                        <a:srgbClr val="CBC3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C3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C3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C3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EFE6"/>
                    </a:solidFill>
                  </a:tcPr>
                </a:tc>
              </a:tr>
            </a:tbl>
          </a:graphicData>
        </a:graphic>
      </p:graphicFrame>
      <p:sp>
        <p:nvSpPr>
          <p:cNvPr id="8" name="Shape 5"/>
          <p:cNvSpPr/>
          <p:nvPr/>
        </p:nvSpPr>
        <p:spPr>
          <a:xfrm>
            <a:off x="761970" y="6438930"/>
            <a:ext cx="10668030" cy="0"/>
          </a:xfrm>
          <a:prstGeom prst="line">
            <a:avLst/>
          </a:prstGeom>
          <a:noFill/>
          <a:ln w="9525">
            <a:solidFill>
              <a:srgbClr val="CBC3B3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761970" y="6515100"/>
            <a:ext cx="6667530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000" dirty="0">
                <a:solidFill>
                  <a:srgbClr val="5E584D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2026年数字化转型工作汇报</a:t>
            </a:r>
            <a:endParaRPr lang="en-US" sz="10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3EFE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61970" y="571500"/>
            <a:ext cx="2857500" cy="2857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30000" dirty="0">
                <a:solidFill>
                  <a:srgbClr val="D7261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“</a:t>
            </a:r>
            <a:endParaRPr lang="en-US" sz="30000" dirty="0"/>
          </a:p>
        </p:txBody>
      </p:sp>
      <p:sp>
        <p:nvSpPr>
          <p:cNvPr id="3" name="Text 1"/>
          <p:cNvSpPr/>
          <p:nvPr/>
        </p:nvSpPr>
        <p:spPr>
          <a:xfrm>
            <a:off x="1904970" y="1904970"/>
            <a:ext cx="8762970" cy="2857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4600" b="1" dirty="0">
                <a:solidFill>
                  <a:srgbClr val="141414"/>
                </a:solidFill>
                <a:latin typeface="宋体" pitchFamily="34" charset="0"/>
                <a:ea typeface="宋体" pitchFamily="34" charset="-122"/>
                <a:cs typeface="宋体" pitchFamily="34" charset="-120"/>
              </a:rPr>
              <a:t>数字化不是买系统，而是让每个人每天少做一件重复的事。</a:t>
            </a:r>
            <a:endParaRPr lang="en-US" sz="4600" dirty="0"/>
          </a:p>
        </p:txBody>
      </p:sp>
      <p:sp>
        <p:nvSpPr>
          <p:cNvPr id="4" name="Shape 2"/>
          <p:cNvSpPr/>
          <p:nvPr/>
        </p:nvSpPr>
        <p:spPr>
          <a:xfrm>
            <a:off x="1904970" y="5048220"/>
            <a:ext cx="381030" cy="28621"/>
          </a:xfrm>
          <a:prstGeom prst="rect">
            <a:avLst/>
          </a:prstGeom>
          <a:solidFill>
            <a:srgbClr val="141414"/>
          </a:solidFill>
          <a:ln/>
        </p:spPr>
      </p:sp>
      <p:sp>
        <p:nvSpPr>
          <p:cNvPr id="5" name="Text 3"/>
          <p:cNvSpPr/>
          <p:nvPr/>
        </p:nvSpPr>
        <p:spPr>
          <a:xfrm>
            <a:off x="2476470" y="4933920"/>
            <a:ext cx="7619970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500" i="1" dirty="0">
                <a:solidFill>
                  <a:srgbClr val="5E584D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集团数字化工作会议</a:t>
            </a:r>
            <a:endParaRPr lang="en-US" sz="15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3EFE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61970" y="571500"/>
            <a:ext cx="10668030" cy="57150"/>
          </a:xfrm>
          <a:prstGeom prst="rect">
            <a:avLst/>
          </a:prstGeom>
          <a:solidFill>
            <a:srgbClr val="141414"/>
          </a:solidFill>
          <a:ln/>
        </p:spPr>
      </p:sp>
      <p:sp>
        <p:nvSpPr>
          <p:cNvPr id="3" name="Text 1"/>
          <p:cNvSpPr/>
          <p:nvPr/>
        </p:nvSpPr>
        <p:spPr>
          <a:xfrm>
            <a:off x="761970" y="2190720"/>
            <a:ext cx="10668030" cy="15240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9200" b="1" dirty="0">
                <a:solidFill>
                  <a:srgbClr val="141414"/>
                </a:solidFill>
                <a:latin typeface="宋体" pitchFamily="34" charset="0"/>
                <a:ea typeface="宋体" pitchFamily="34" charset="-122"/>
                <a:cs typeface="宋体" pitchFamily="34" charset="-120"/>
              </a:rPr>
              <a:t>谢谢</a:t>
            </a:r>
            <a:endParaRPr lang="en-US" sz="9200" dirty="0"/>
          </a:p>
        </p:txBody>
      </p:sp>
      <p:sp>
        <p:nvSpPr>
          <p:cNvPr id="4" name="Shape 2"/>
          <p:cNvSpPr/>
          <p:nvPr/>
        </p:nvSpPr>
        <p:spPr>
          <a:xfrm>
            <a:off x="761970" y="3905220"/>
            <a:ext cx="533370" cy="76170"/>
          </a:xfrm>
          <a:prstGeom prst="rect">
            <a:avLst/>
          </a:prstGeom>
          <a:solidFill>
            <a:srgbClr val="D7261E"/>
          </a:solidFill>
          <a:ln/>
        </p:spPr>
      </p:sp>
      <p:sp>
        <p:nvSpPr>
          <p:cNvPr id="5" name="Text 3"/>
          <p:cNvSpPr/>
          <p:nvPr/>
        </p:nvSpPr>
        <p:spPr>
          <a:xfrm>
            <a:off x="761970" y="4190970"/>
            <a:ext cx="10668030" cy="3810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2200" dirty="0">
                <a:solidFill>
                  <a:srgbClr val="5E584D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敬请各位领导批评指正</a:t>
            </a:r>
            <a:endParaRPr lang="en-US" sz="2200" dirty="0"/>
          </a:p>
        </p:txBody>
      </p:sp>
      <p:sp>
        <p:nvSpPr>
          <p:cNvPr id="6" name="Shape 4"/>
          <p:cNvSpPr/>
          <p:nvPr/>
        </p:nvSpPr>
        <p:spPr>
          <a:xfrm>
            <a:off x="761970" y="6229350"/>
            <a:ext cx="10668030" cy="19020"/>
          </a:xfrm>
          <a:prstGeom prst="rect">
            <a:avLst/>
          </a:prstGeom>
          <a:solidFill>
            <a:srgbClr val="141414"/>
          </a:solidFill>
          <a:ln/>
        </p:spPr>
      </p:sp>
      <p:sp>
        <p:nvSpPr>
          <p:cNvPr id="7" name="Text 5"/>
          <p:cNvSpPr/>
          <p:nvPr/>
        </p:nvSpPr>
        <p:spPr>
          <a:xfrm>
            <a:off x="761970" y="6324630"/>
            <a:ext cx="7619970" cy="2095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300" dirty="0">
                <a:solidFill>
                  <a:srgbClr val="141414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某某集团信息中心（示例）</a:t>
            </a:r>
            <a:endParaRPr lang="en-US" sz="13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13</Slides>
  <Notes>13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6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2026年数字化转型工作汇报</dc:title>
  <dc:subject>PptxGenJS Presentation</dc:subject>
  <dc:creator>汇报人：张三</dc:creator>
  <cp:lastModifiedBy>汇报人：张三</cp:lastModifiedBy>
  <cp:revision>1</cp:revision>
  <dcterms:created xsi:type="dcterms:W3CDTF">2026-10-14T15:27:48Z</dcterms:created>
  <dcterms:modified xsi:type="dcterms:W3CDTF">2026-10-14T15:27:48Z</dcterms:modified>
</cp:coreProperties>
</file>